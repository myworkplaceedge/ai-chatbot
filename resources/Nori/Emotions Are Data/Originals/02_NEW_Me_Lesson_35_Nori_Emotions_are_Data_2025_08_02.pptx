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8229600" cx="14630400"/>
  <p:notesSz cx="8229600" cy="14630400"/>
  <p:embeddedFontLst>
    <p:embeddedFont>
      <p:font typeface="Lora"/>
      <p:regular r:id="rId44"/>
      <p:bold r:id="rId45"/>
      <p:italic r:id="rId46"/>
      <p:boldItalic r:id="rId47"/>
    </p:embeddedFont>
    <p:embeddedFont>
      <p:font typeface="Quattrocento Sans"/>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2" roundtripDataSignature="AMtx7mhw8gb04r3HIsV1DHdyxomzWMfP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8E5E96C-47DB-4E8C-8881-DDB6A22421CA}">
  <a:tblStyle styleId="{18E5E96C-47DB-4E8C-8881-DDB6A22421CA}"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Lora-regular.fntdata"/><Relationship Id="rId43" Type="http://schemas.openxmlformats.org/officeDocument/2006/relationships/slide" Target="slides/slide38.xml"/><Relationship Id="rId46" Type="http://schemas.openxmlformats.org/officeDocument/2006/relationships/font" Target="fonts/Lora-italic.fntdata"/><Relationship Id="rId45" Type="http://schemas.openxmlformats.org/officeDocument/2006/relationships/font" Target="fonts/Lora-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QuattrocentoSans-regular.fntdata"/><Relationship Id="rId47" Type="http://schemas.openxmlformats.org/officeDocument/2006/relationships/font" Target="fonts/Lora-boldItalic.fntdata"/><Relationship Id="rId49" Type="http://schemas.openxmlformats.org/officeDocument/2006/relationships/font" Target="fonts/Quattrocento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QuattrocentoSans-boldItalic.fntdata"/><Relationship Id="rId50" Type="http://schemas.openxmlformats.org/officeDocument/2006/relationships/font" Target="fonts/QuattrocentoSans-italic.fntdata"/><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mc.ncbi.nlm.nih.gov/articles/PMC3859704/" TargetMode="External"/><Relationship Id="rId3" Type="http://schemas.openxmlformats.org/officeDocument/2006/relationships/hyperlink" Target="https://web.stanford.edu/~hazelm/publications/1991%20Markus%20Kitayama%20Culture%20and%20the%20self.pdf" TargetMode="External"/><Relationship Id="rId4" Type="http://schemas.openxmlformats.org/officeDocument/2006/relationships/hyperlink" Target="https://www.bbc.com/travel/article/20201209-what-can-different-cultures-teach-about-boredom"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 name="Google Shape;3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40" name="Google Shape;40;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 name="Google Shape;4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sz="1200"/>
              <a:t>Shawna and Courtney - maybe use a Question Bank Block  or </a:t>
            </a:r>
            <a:r>
              <a:rPr b="1" i="1" lang="en-US" sz="1200" u="none" cap="none" strike="noStrike">
                <a:solidFill>
                  <a:schemeClr val="dk1"/>
                </a:solidFill>
                <a:latin typeface="Calibri"/>
                <a:ea typeface="Calibri"/>
                <a:cs typeface="Calibri"/>
                <a:sym typeface="Calibri"/>
              </a:rPr>
              <a:t>Sorting Activity Block</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t/>
            </a:r>
            <a:endParaRPr sz="1200"/>
          </a:p>
          <a:p>
            <a:pPr indent="-228600" lvl="0" marL="457200" marR="0" rtl="0" algn="l">
              <a:lnSpc>
                <a:spcPct val="100000"/>
              </a:lnSpc>
              <a:spcBef>
                <a:spcPts val="0"/>
              </a:spcBef>
              <a:spcAft>
                <a:spcPts val="0"/>
              </a:spcAft>
              <a:buSzPts val="1400"/>
              <a:buNone/>
            </a:pPr>
            <a:r>
              <a:rPr lang="en-US" sz="1200"/>
              <a:t>Facilitator uses this slide as Key to guide discussion</a:t>
            </a:r>
            <a:endParaRPr/>
          </a:p>
          <a:p>
            <a:pPr indent="-228600" lvl="0" marL="457200" marR="0" rtl="0" algn="l">
              <a:lnSpc>
                <a:spcPct val="100000"/>
              </a:lnSpc>
              <a:spcBef>
                <a:spcPts val="0"/>
              </a:spcBef>
              <a:spcAft>
                <a:spcPts val="0"/>
              </a:spcAft>
              <a:buSzPts val="1400"/>
              <a:buNone/>
            </a:pPr>
            <a:r>
              <a:rPr lang="en-US" sz="1200"/>
              <a:t>Then, Ask learner to complete this simple task: </a:t>
            </a:r>
            <a:endParaRPr/>
          </a:p>
          <a:p>
            <a:pPr indent="-228600" lvl="0" marL="457200" marR="0" rtl="0" algn="l">
              <a:lnSpc>
                <a:spcPct val="100000"/>
              </a:lnSpc>
              <a:spcBef>
                <a:spcPts val="0"/>
              </a:spcBef>
              <a:spcAft>
                <a:spcPts val="0"/>
              </a:spcAft>
              <a:buSzPts val="1400"/>
              <a:buNone/>
            </a:pPr>
            <a:r>
              <a:t/>
            </a:r>
            <a:endParaRPr sz="1200"/>
          </a:p>
          <a:p>
            <a:pPr indent="-228600" lvl="0" marL="457200" marR="0" rtl="0" algn="l">
              <a:lnSpc>
                <a:spcPct val="100000"/>
              </a:lnSpc>
              <a:spcBef>
                <a:spcPts val="0"/>
              </a:spcBef>
              <a:spcAft>
                <a:spcPts val="0"/>
              </a:spcAft>
              <a:buSzPts val="1400"/>
              <a:buNone/>
            </a:pPr>
            <a:r>
              <a:rPr lang="en-US" sz="1200"/>
              <a:t>“For you, was this information:</a:t>
            </a:r>
            <a:endParaRPr/>
          </a:p>
          <a:p>
            <a:pPr indent="-228600" lvl="0" marL="457200" marR="0" rtl="0" algn="l">
              <a:lnSpc>
                <a:spcPct val="100000"/>
              </a:lnSpc>
              <a:spcBef>
                <a:spcPts val="0"/>
              </a:spcBef>
              <a:spcAft>
                <a:spcPts val="0"/>
              </a:spcAft>
              <a:buSzPts val="1400"/>
              <a:buNone/>
            </a:pPr>
            <a:r>
              <a:t/>
            </a:r>
            <a:endParaRPr sz="1200"/>
          </a:p>
          <a:p>
            <a:pPr indent="-228600" lvl="0" marL="457200" marR="0" rtl="0" algn="l">
              <a:lnSpc>
                <a:spcPct val="100000"/>
              </a:lnSpc>
              <a:spcBef>
                <a:spcPts val="0"/>
              </a:spcBef>
              <a:spcAft>
                <a:spcPts val="0"/>
              </a:spcAft>
              <a:buSzPts val="1400"/>
              <a:buNone/>
            </a:pPr>
            <a:r>
              <a:rPr lang="en-US" sz="1200"/>
              <a:t>1 New?</a:t>
            </a:r>
            <a:endParaRPr/>
          </a:p>
          <a:p>
            <a:pPr indent="-228600" lvl="0" marL="457200" marR="0" rtl="0" algn="l">
              <a:lnSpc>
                <a:spcPct val="100000"/>
              </a:lnSpc>
              <a:spcBef>
                <a:spcPts val="0"/>
              </a:spcBef>
              <a:spcAft>
                <a:spcPts val="0"/>
              </a:spcAft>
              <a:buSzPts val="1400"/>
              <a:buNone/>
            </a:pPr>
            <a:r>
              <a:rPr lang="en-US" sz="1200"/>
              <a:t>2 Old, but presented in a new way?</a:t>
            </a:r>
            <a:endParaRPr/>
          </a:p>
          <a:p>
            <a:pPr indent="-228600" lvl="0" marL="457200" marR="0" rtl="0" algn="l">
              <a:lnSpc>
                <a:spcPct val="100000"/>
              </a:lnSpc>
              <a:spcBef>
                <a:spcPts val="0"/>
              </a:spcBef>
              <a:spcAft>
                <a:spcPts val="0"/>
              </a:spcAft>
              <a:buSzPts val="1400"/>
              <a:buNone/>
            </a:pPr>
            <a:r>
              <a:rPr lang="en-US" sz="1200"/>
              <a:t>3 A good reminder?”</a:t>
            </a:r>
            <a:endParaRPr/>
          </a:p>
          <a:p>
            <a:pPr indent="-368300" lvl="0" marL="457200" rtl="0" algn="l">
              <a:lnSpc>
                <a:spcPct val="110000"/>
              </a:lnSpc>
              <a:spcBef>
                <a:spcPts val="0"/>
              </a:spcBef>
              <a:spcAft>
                <a:spcPts val="0"/>
              </a:spcAft>
              <a:buClr>
                <a:srgbClr val="B2BB1E"/>
              </a:buClr>
              <a:buSzPts val="1400"/>
              <a:buFont typeface="Arial"/>
              <a:buNone/>
            </a:pPr>
            <a:r>
              <a:t/>
            </a:r>
            <a:endParaRPr sz="1200">
              <a:latin typeface="Quattrocento Sans"/>
              <a:ea typeface="Quattrocento Sans"/>
              <a:cs typeface="Quattrocento Sans"/>
              <a:sym typeface="Quattrocento Sans"/>
            </a:endParaRPr>
          </a:p>
          <a:p>
            <a:pPr indent="-457200" lvl="0" marL="457200" rtl="0" algn="l">
              <a:lnSpc>
                <a:spcPct val="110000"/>
              </a:lnSpc>
              <a:spcBef>
                <a:spcPts val="0"/>
              </a:spcBef>
              <a:spcAft>
                <a:spcPts val="0"/>
              </a:spcAft>
              <a:buClr>
                <a:srgbClr val="B2BB1E"/>
              </a:buClr>
              <a:buSzPts val="1400"/>
              <a:buFont typeface="Arial"/>
              <a:buChar char="•"/>
            </a:pPr>
            <a:r>
              <a:rPr lang="en-US" sz="1200"/>
              <a:t>Can be used for learner’s self-tracking progress.</a:t>
            </a:r>
            <a:endParaRPr/>
          </a:p>
          <a:p>
            <a:pPr indent="0" lvl="0" marL="0" marR="0" rtl="0" algn="l">
              <a:lnSpc>
                <a:spcPct val="100000"/>
              </a:lnSpc>
              <a:spcBef>
                <a:spcPts val="0"/>
              </a:spcBef>
              <a:spcAft>
                <a:spcPts val="0"/>
              </a:spcAft>
              <a:buClr>
                <a:schemeClr val="dk1"/>
              </a:buClr>
              <a:buSzPts val="1200"/>
              <a:buFont typeface="Calibri"/>
              <a:buNone/>
            </a:pPr>
            <a:r>
              <a:t/>
            </a:r>
            <a:endParaRPr/>
          </a:p>
        </p:txBody>
      </p:sp>
      <p:sp>
        <p:nvSpPr>
          <p:cNvPr id="62" name="Google Shape;62;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71" name="Google Shape;71;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Perhaps use a Quote Block here.</a:t>
            </a:r>
            <a:endParaRPr/>
          </a:p>
        </p:txBody>
      </p:sp>
      <p:sp>
        <p:nvSpPr>
          <p:cNvPr id="80" name="Google Shape;80;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Shawna and Courtney, please use a sorting block for the following: Emotional Expressions - Visual and Verbal by Geography.xls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87" name="Google Shape;87;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Shawna and Courtney, please use a sorting block for the following: Emotional Expressions - Visual and Verbal by Geography.xls</a:t>
            </a:r>
            <a:endParaRPr/>
          </a:p>
          <a:p>
            <a:pPr indent="0" lvl="0" marL="0" rtl="0" algn="l">
              <a:lnSpc>
                <a:spcPct val="100000"/>
              </a:lnSpc>
              <a:spcBef>
                <a:spcPts val="0"/>
              </a:spcBef>
              <a:spcAft>
                <a:spcPts val="0"/>
              </a:spcAft>
              <a:buSzPts val="1400"/>
              <a:buNone/>
            </a:pPr>
            <a:r>
              <a:rPr lang="en-US"/>
              <a:t>The two physical and verbal features can be kept together in the same row to cerate the simples form of mix and match activity.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94" name="Google Shape;94;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 </a:t>
            </a:r>
            <a:r>
              <a:rPr b="1" lang="en-US" u="sng"/>
              <a:t>SPARK 1:</a:t>
            </a:r>
            <a:endParaRPr/>
          </a:p>
          <a:p>
            <a:pPr indent="0" lvl="0" marL="0" marR="0" rtl="0" algn="l">
              <a:lnSpc>
                <a:spcPct val="100000"/>
              </a:lnSpc>
              <a:spcBef>
                <a:spcPts val="0"/>
              </a:spcBef>
              <a:spcAft>
                <a:spcPts val="0"/>
              </a:spcAft>
              <a:buClr>
                <a:schemeClr val="dk1"/>
              </a:buClr>
              <a:buSzPts val="1200"/>
              <a:buFont typeface="Calibri"/>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US" sz="1200">
                <a:latin typeface="Cambria"/>
                <a:ea typeface="Cambria"/>
                <a:cs typeface="Cambria"/>
                <a:sym typeface="Cambria"/>
              </a:rPr>
              <a:t>Reflection Activity: Have you ever felt uncomfortable at work because of what you thought other people might be saying about you or doing to prevent you from reaching a goal? </a:t>
            </a:r>
            <a:endParaRPr/>
          </a:p>
          <a:p>
            <a:pPr indent="-228600" lvl="0" marL="457200" marR="0" rtl="0" algn="l">
              <a:lnSpc>
                <a:spcPct val="100000"/>
              </a:lnSpc>
              <a:spcBef>
                <a:spcPts val="0"/>
              </a:spcBef>
              <a:spcAft>
                <a:spcPts val="0"/>
              </a:spcAft>
              <a:buClr>
                <a:srgbClr val="000000"/>
              </a:buClr>
              <a:buSzPts val="1400"/>
              <a:buFont typeface="Arial"/>
              <a:buNone/>
            </a:pPr>
            <a:r>
              <a:rPr lang="en-US" sz="1200">
                <a:latin typeface="Cambria"/>
                <a:ea typeface="Cambria"/>
                <a:cs typeface="Cambria"/>
                <a:sym typeface="Cambria"/>
              </a:rPr>
              <a:t>Maybe you were being, judged, rejected, or felt inadequate</a:t>
            </a:r>
            <a:endParaRPr/>
          </a:p>
          <a:p>
            <a:pPr indent="-228600" lvl="0" marL="457200" marR="0" rtl="0" algn="l">
              <a:lnSpc>
                <a:spcPct val="100000"/>
              </a:lnSpc>
              <a:spcBef>
                <a:spcPts val="0"/>
              </a:spcBef>
              <a:spcAft>
                <a:spcPts val="0"/>
              </a:spcAft>
              <a:buClr>
                <a:srgbClr val="000000"/>
              </a:buClr>
              <a:buSzPts val="1400"/>
              <a:buFont typeface="Arial"/>
              <a:buNone/>
            </a:pPr>
            <a:r>
              <a:rPr lang="en-US" sz="1200">
                <a:latin typeface="Cambria"/>
                <a:ea typeface="Cambria"/>
                <a:cs typeface="Cambria"/>
                <a:sym typeface="Cambria"/>
              </a:rPr>
              <a:t>Note the situation down.</a:t>
            </a:r>
            <a:endParaRPr/>
          </a:p>
          <a:p>
            <a:pPr indent="-228600" lvl="0" marL="457200" marR="0" rtl="0" algn="l">
              <a:lnSpc>
                <a:spcPct val="100000"/>
              </a:lnSpc>
              <a:spcBef>
                <a:spcPts val="0"/>
              </a:spcBef>
              <a:spcAft>
                <a:spcPts val="0"/>
              </a:spcAft>
              <a:buClr>
                <a:srgbClr val="000000"/>
              </a:buClr>
              <a:buSzPts val="1400"/>
              <a:buFont typeface="Arial"/>
              <a:buNone/>
            </a:pPr>
            <a:r>
              <a:rPr lang="en-US" sz="1200">
                <a:latin typeface="Cambria"/>
                <a:ea typeface="Cambria"/>
                <a:cs typeface="Cambria"/>
                <a:sym typeface="Cambria"/>
              </a:rPr>
              <a:t>Now </a:t>
            </a:r>
            <a:endParaRPr/>
          </a:p>
          <a:p>
            <a:pPr indent="-228600" lvl="0" marL="457200" marR="0" rtl="0" algn="l">
              <a:lnSpc>
                <a:spcPct val="100000"/>
              </a:lnSpc>
              <a:spcBef>
                <a:spcPts val="0"/>
              </a:spcBef>
              <a:spcAft>
                <a:spcPts val="0"/>
              </a:spcAft>
              <a:buClr>
                <a:srgbClr val="000000"/>
              </a:buClr>
              <a:buSzPts val="1400"/>
              <a:buFont typeface="Arial"/>
              <a:buNone/>
            </a:pPr>
            <a:r>
              <a:t/>
            </a:r>
            <a:endParaRPr sz="1200">
              <a:latin typeface="Cambria"/>
              <a:ea typeface="Cambria"/>
              <a:cs typeface="Cambria"/>
              <a:sym typeface="Cambria"/>
            </a:endParaRPr>
          </a:p>
          <a:p>
            <a:pPr indent="-228600" lvl="0" marL="457200" marR="0" rtl="0" algn="l">
              <a:lnSpc>
                <a:spcPct val="100000"/>
              </a:lnSpc>
              <a:spcBef>
                <a:spcPts val="0"/>
              </a:spcBef>
              <a:spcAft>
                <a:spcPts val="0"/>
              </a:spcAft>
              <a:buClr>
                <a:srgbClr val="000000"/>
              </a:buClr>
              <a:buSzPts val="1400"/>
              <a:buFont typeface="Arial"/>
              <a:buNone/>
            </a:pPr>
            <a:r>
              <a:rPr lang="en-US" sz="1200">
                <a:latin typeface="Cambria"/>
                <a:ea typeface="Cambria"/>
                <a:cs typeface="Cambria"/>
                <a:sym typeface="Cambria"/>
              </a:rPr>
              <a:t>Note your ideas down and a couple of examples of what makes you feel pressure and stress before advancing the slide.</a:t>
            </a:r>
            <a:endParaRPr/>
          </a:p>
          <a:p>
            <a:pPr indent="-228600" lvl="0" marL="457200" marR="0" rtl="0" algn="l">
              <a:lnSpc>
                <a:spcPct val="100000"/>
              </a:lnSpc>
              <a:spcBef>
                <a:spcPts val="0"/>
              </a:spcBef>
              <a:spcAft>
                <a:spcPts val="0"/>
              </a:spcAft>
              <a:buSzPts val="1400"/>
              <a:buNone/>
            </a:pPr>
            <a:r>
              <a:t/>
            </a:r>
            <a:endParaRPr sz="1200">
              <a:latin typeface="Cambria"/>
              <a:ea typeface="Cambria"/>
              <a:cs typeface="Cambria"/>
              <a:sym typeface="Cambria"/>
            </a:endParaRPr>
          </a:p>
          <a:p>
            <a:pPr indent="-228600" lvl="0" marL="457200" marR="0" rtl="0" algn="l">
              <a:lnSpc>
                <a:spcPct val="100000"/>
              </a:lnSpc>
              <a:spcBef>
                <a:spcPts val="0"/>
              </a:spcBef>
              <a:spcAft>
                <a:spcPts val="0"/>
              </a:spcAft>
              <a:buSzPts val="1400"/>
              <a:buNone/>
            </a:pPr>
            <a:r>
              <a:t/>
            </a:r>
            <a:endParaRPr sz="1200">
              <a:latin typeface="Cambria"/>
              <a:ea typeface="Cambria"/>
              <a:cs typeface="Cambria"/>
              <a:sym typeface="Cambria"/>
            </a:endParaRPr>
          </a:p>
          <a:p>
            <a:pPr indent="-228600" lvl="0" marL="457200" marR="0" rtl="0" algn="l">
              <a:lnSpc>
                <a:spcPct val="100000"/>
              </a:lnSpc>
              <a:spcBef>
                <a:spcPts val="0"/>
              </a:spcBef>
              <a:spcAft>
                <a:spcPts val="0"/>
              </a:spcAft>
              <a:buSzPts val="1400"/>
              <a:buNone/>
            </a:pPr>
            <a:r>
              <a:rPr lang="en-US" sz="1200">
                <a:latin typeface="Cambria"/>
                <a:ea typeface="Cambria"/>
                <a:cs typeface="Cambria"/>
                <a:sym typeface="Cambria"/>
              </a:rPr>
              <a:t>If in a group setting, please discuss with other learners and your facilitator </a:t>
            </a:r>
            <a:endParaRPr/>
          </a:p>
        </p:txBody>
      </p:sp>
      <p:sp>
        <p:nvSpPr>
          <p:cNvPr id="102" name="Google Shape;102;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 </a:t>
            </a:r>
            <a:r>
              <a:rPr b="1" lang="en-US" u="sng"/>
              <a:t>SPARK 1:</a:t>
            </a:r>
            <a:endParaRPr/>
          </a:p>
          <a:p>
            <a:pPr indent="0" lvl="0" marL="0" marR="0" rtl="0" algn="l">
              <a:lnSpc>
                <a:spcPct val="100000"/>
              </a:lnSpc>
              <a:spcBef>
                <a:spcPts val="0"/>
              </a:spcBef>
              <a:spcAft>
                <a:spcPts val="0"/>
              </a:spcAft>
              <a:buClr>
                <a:schemeClr val="dk1"/>
              </a:buClr>
              <a:buSzPts val="1200"/>
              <a:buFont typeface="Calibri"/>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US" sz="1200">
                <a:latin typeface="Cambria"/>
                <a:ea typeface="Cambria"/>
                <a:cs typeface="Cambria"/>
                <a:sym typeface="Cambria"/>
              </a:rPr>
              <a:t>Reflection Activity: Have you ever felt uncomfortable at work because of what you thought other people might be saying about you or doing to prevent you from reaching a goal? </a:t>
            </a:r>
            <a:endParaRPr/>
          </a:p>
          <a:p>
            <a:pPr indent="-228600" lvl="0" marL="457200" marR="0" rtl="0" algn="l">
              <a:lnSpc>
                <a:spcPct val="100000"/>
              </a:lnSpc>
              <a:spcBef>
                <a:spcPts val="0"/>
              </a:spcBef>
              <a:spcAft>
                <a:spcPts val="0"/>
              </a:spcAft>
              <a:buClr>
                <a:srgbClr val="000000"/>
              </a:buClr>
              <a:buSzPts val="1400"/>
              <a:buFont typeface="Arial"/>
              <a:buNone/>
            </a:pPr>
            <a:r>
              <a:rPr lang="en-US" sz="1200">
                <a:latin typeface="Cambria"/>
                <a:ea typeface="Cambria"/>
                <a:cs typeface="Cambria"/>
                <a:sym typeface="Cambria"/>
              </a:rPr>
              <a:t>Maybe you were being, judged, rejected, or felt inadequate</a:t>
            </a:r>
            <a:endParaRPr/>
          </a:p>
          <a:p>
            <a:pPr indent="-228600" lvl="0" marL="457200" marR="0" rtl="0" algn="l">
              <a:lnSpc>
                <a:spcPct val="100000"/>
              </a:lnSpc>
              <a:spcBef>
                <a:spcPts val="0"/>
              </a:spcBef>
              <a:spcAft>
                <a:spcPts val="0"/>
              </a:spcAft>
              <a:buClr>
                <a:srgbClr val="000000"/>
              </a:buClr>
              <a:buSzPts val="1400"/>
              <a:buFont typeface="Arial"/>
              <a:buNone/>
            </a:pPr>
            <a:r>
              <a:rPr lang="en-US" sz="1200">
                <a:latin typeface="Cambria"/>
                <a:ea typeface="Cambria"/>
                <a:cs typeface="Cambria"/>
                <a:sym typeface="Cambria"/>
              </a:rPr>
              <a:t>Note the situation down.</a:t>
            </a:r>
            <a:endParaRPr/>
          </a:p>
          <a:p>
            <a:pPr indent="-228600" lvl="0" marL="457200" marR="0" rtl="0" algn="l">
              <a:lnSpc>
                <a:spcPct val="100000"/>
              </a:lnSpc>
              <a:spcBef>
                <a:spcPts val="0"/>
              </a:spcBef>
              <a:spcAft>
                <a:spcPts val="0"/>
              </a:spcAft>
              <a:buClr>
                <a:srgbClr val="000000"/>
              </a:buClr>
              <a:buSzPts val="1400"/>
              <a:buFont typeface="Arial"/>
              <a:buNone/>
            </a:pPr>
            <a:r>
              <a:rPr lang="en-US" sz="1200">
                <a:latin typeface="Cambria"/>
                <a:ea typeface="Cambria"/>
                <a:cs typeface="Cambria"/>
                <a:sym typeface="Cambria"/>
              </a:rPr>
              <a:t>Now </a:t>
            </a:r>
            <a:endParaRPr/>
          </a:p>
          <a:p>
            <a:pPr indent="-228600" lvl="0" marL="457200" marR="0" rtl="0" algn="l">
              <a:lnSpc>
                <a:spcPct val="100000"/>
              </a:lnSpc>
              <a:spcBef>
                <a:spcPts val="0"/>
              </a:spcBef>
              <a:spcAft>
                <a:spcPts val="0"/>
              </a:spcAft>
              <a:buClr>
                <a:srgbClr val="000000"/>
              </a:buClr>
              <a:buSzPts val="1400"/>
              <a:buFont typeface="Arial"/>
              <a:buNone/>
            </a:pPr>
            <a:r>
              <a:t/>
            </a:r>
            <a:endParaRPr sz="1200">
              <a:latin typeface="Cambria"/>
              <a:ea typeface="Cambria"/>
              <a:cs typeface="Cambria"/>
              <a:sym typeface="Cambria"/>
            </a:endParaRPr>
          </a:p>
          <a:p>
            <a:pPr indent="-228600" lvl="0" marL="457200" marR="0" rtl="0" algn="l">
              <a:lnSpc>
                <a:spcPct val="100000"/>
              </a:lnSpc>
              <a:spcBef>
                <a:spcPts val="0"/>
              </a:spcBef>
              <a:spcAft>
                <a:spcPts val="0"/>
              </a:spcAft>
              <a:buClr>
                <a:srgbClr val="000000"/>
              </a:buClr>
              <a:buSzPts val="1400"/>
              <a:buFont typeface="Arial"/>
              <a:buNone/>
            </a:pPr>
            <a:r>
              <a:rPr lang="en-US" sz="1200">
                <a:latin typeface="Cambria"/>
                <a:ea typeface="Cambria"/>
                <a:cs typeface="Cambria"/>
                <a:sym typeface="Cambria"/>
              </a:rPr>
              <a:t>Note your ideas down and a couple of examples of what makes you feel pressure and stress before advancing the slide.</a:t>
            </a:r>
            <a:endParaRPr/>
          </a:p>
          <a:p>
            <a:pPr indent="-228600" lvl="0" marL="457200" marR="0" rtl="0" algn="l">
              <a:lnSpc>
                <a:spcPct val="100000"/>
              </a:lnSpc>
              <a:spcBef>
                <a:spcPts val="0"/>
              </a:spcBef>
              <a:spcAft>
                <a:spcPts val="0"/>
              </a:spcAft>
              <a:buSzPts val="1400"/>
              <a:buNone/>
            </a:pPr>
            <a:r>
              <a:t/>
            </a:r>
            <a:endParaRPr sz="1200">
              <a:latin typeface="Cambria"/>
              <a:ea typeface="Cambria"/>
              <a:cs typeface="Cambria"/>
              <a:sym typeface="Cambria"/>
            </a:endParaRPr>
          </a:p>
          <a:p>
            <a:pPr indent="-228600" lvl="0" marL="457200" marR="0" rtl="0" algn="l">
              <a:lnSpc>
                <a:spcPct val="100000"/>
              </a:lnSpc>
              <a:spcBef>
                <a:spcPts val="0"/>
              </a:spcBef>
              <a:spcAft>
                <a:spcPts val="0"/>
              </a:spcAft>
              <a:buSzPts val="1400"/>
              <a:buNone/>
            </a:pPr>
            <a:r>
              <a:t/>
            </a:r>
            <a:endParaRPr sz="1200">
              <a:latin typeface="Cambria"/>
              <a:ea typeface="Cambria"/>
              <a:cs typeface="Cambria"/>
              <a:sym typeface="Cambria"/>
            </a:endParaRPr>
          </a:p>
          <a:p>
            <a:pPr indent="-228600" lvl="0" marL="457200" marR="0" rtl="0" algn="l">
              <a:lnSpc>
                <a:spcPct val="100000"/>
              </a:lnSpc>
              <a:spcBef>
                <a:spcPts val="0"/>
              </a:spcBef>
              <a:spcAft>
                <a:spcPts val="0"/>
              </a:spcAft>
              <a:buSzPts val="1400"/>
              <a:buNone/>
            </a:pPr>
            <a:r>
              <a:rPr lang="en-US" sz="1200">
                <a:latin typeface="Cambria"/>
                <a:ea typeface="Cambria"/>
                <a:cs typeface="Cambria"/>
                <a:sym typeface="Cambria"/>
              </a:rPr>
              <a:t>If in a group setting, please discuss with other learners and your facilitator </a:t>
            </a:r>
            <a:endParaRPr/>
          </a:p>
        </p:txBody>
      </p:sp>
      <p:sp>
        <p:nvSpPr>
          <p:cNvPr id="109" name="Google Shape;109;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1" lang="en-US">
                <a:solidFill>
                  <a:srgbClr val="0070C0"/>
                </a:solidFill>
                <a:latin typeface="Quattrocento Sans"/>
                <a:ea typeface="Quattrocento Sans"/>
                <a:cs typeface="Quattrocento Sans"/>
                <a:sym typeface="Quattrocento Sans"/>
              </a:rPr>
              <a:t>https://www.youtube.com/watch?v=kv6HkipQcfA</a:t>
            </a:r>
            <a:endParaRPr/>
          </a:p>
          <a:p>
            <a:pPr indent="-228600" lvl="0" marL="457200" marR="0" rtl="0" algn="l">
              <a:lnSpc>
                <a:spcPct val="100000"/>
              </a:lnSpc>
              <a:spcBef>
                <a:spcPts val="0"/>
              </a:spcBef>
              <a:spcAft>
                <a:spcPts val="0"/>
              </a:spcAft>
              <a:buSzPts val="1400"/>
              <a:buNone/>
            </a:pPr>
            <a:r>
              <a:t/>
            </a:r>
            <a:endParaRPr u="none"/>
          </a:p>
        </p:txBody>
      </p:sp>
      <p:sp>
        <p:nvSpPr>
          <p:cNvPr id="116" name="Google Shape;116;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t>‹#›</a:t>
            </a:fld>
            <a:endParaRPr b="0" i="0" sz="1200" u="none" cap="none" strike="noStrike"/>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22" name="Google Shape;122;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t>‹#›</a:t>
            </a:fld>
            <a:endParaRPr b="0" i="0" sz="1200" u="none" cap="none" strike="noStrike"/>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1" i="1" lang="en-US" sz="1200" u="none" cap="none" strike="noStrike">
                <a:solidFill>
                  <a:schemeClr val="dk1"/>
                </a:solidFill>
                <a:latin typeface="Calibri"/>
                <a:ea typeface="Calibri"/>
                <a:cs typeface="Calibri"/>
                <a:sym typeface="Calibri"/>
              </a:rPr>
              <a:t>Labelled Graphic BLock</a:t>
            </a:r>
            <a:endParaRPr u="none"/>
          </a:p>
        </p:txBody>
      </p:sp>
      <p:sp>
        <p:nvSpPr>
          <p:cNvPr id="129" name="Google Shape;129;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t>‹#›</a:t>
            </a:fld>
            <a:endParaRPr b="0" i="0" sz="1200" u="none" cap="none" strike="noStrike"/>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Shawna and Courtney, please see the updated Glossary for new info,  thanks. -nm</a:t>
            </a:r>
            <a:endParaRPr/>
          </a:p>
        </p:txBody>
      </p:sp>
      <p:sp>
        <p:nvSpPr>
          <p:cNvPr id="154" name="Google Shape;154;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t>‹#›</a:t>
            </a:fld>
            <a:endParaRPr b="0" i="0" sz="1200" u="none" cap="none" strike="noStrike"/>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62" name="Google Shape;162;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t>‹#›</a:t>
            </a:fld>
            <a:endParaRPr b="0" i="0" sz="1200" u="none" cap="none" strike="noStrike"/>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70" name="Google Shape;170;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t>‹#›</a:t>
            </a:fld>
            <a:endParaRPr b="0" i="0" sz="1200" u="none" cap="none" strike="noStrike"/>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sz="1800"/>
          </a:p>
        </p:txBody>
      </p:sp>
      <p:sp>
        <p:nvSpPr>
          <p:cNvPr id="185" name="Google Shape;185;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Facilitator invites reflection and then discussion with other learners. Could offer the following utterances to prompt discussion, “How might using these phrases help defuse some situations?</a:t>
            </a:r>
            <a:endParaRPr b="0" i="0" sz="1200" u="none" cap="none" strike="noStrike">
              <a:solidFill>
                <a:schemeClr val="dk1"/>
              </a:solidFill>
              <a:latin typeface="Calibri"/>
              <a:ea typeface="Calibri"/>
              <a:cs typeface="Calibri"/>
              <a:sym typeface="Calibri"/>
            </a:endParaRPr>
          </a:p>
          <a:p>
            <a:pPr indent="-228600" lvl="1" marL="91440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“I want to check my assumptions before reacting.”</a:t>
            </a:r>
            <a:endParaRPr b="0" i="0" sz="1200" u="none" cap="none" strike="noStrike">
              <a:solidFill>
                <a:schemeClr val="dk1"/>
              </a:solidFill>
              <a:latin typeface="Calibri"/>
              <a:ea typeface="Calibri"/>
              <a:cs typeface="Calibri"/>
              <a:sym typeface="Calibri"/>
            </a:endParaRPr>
          </a:p>
          <a:p>
            <a:pPr indent="-228600" lvl="1" marL="91440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“Let’s talk again once I’ve had time to reflect.”</a:t>
            </a:r>
            <a:endParaRPr b="0" i="0" sz="1200" u="none" cap="none" strike="noStrike">
              <a:solidFill>
                <a:schemeClr val="dk1"/>
              </a:solidFill>
              <a:latin typeface="Calibri"/>
              <a:ea typeface="Calibri"/>
              <a:cs typeface="Calibri"/>
              <a:sym typeface="Calibri"/>
            </a:endParaRPr>
          </a:p>
          <a:p>
            <a:pPr indent="-228600" lvl="1" marL="91440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a:p>
            <a:pPr indent="-228600" lvl="1" marL="91440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Questions to ask yourself”:</a:t>
            </a:r>
            <a:endParaRPr/>
          </a:p>
          <a:p>
            <a:pPr indent="-228600" lvl="1" marL="91440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a:p>
            <a:pPr indent="-228600" lvl="1" marL="91440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Am I catastrophizing? What are the facts?</a:t>
            </a:r>
            <a:endParaRPr b="0" i="0" sz="1200" u="none" cap="none" strike="noStrike">
              <a:solidFill>
                <a:schemeClr val="dk1"/>
              </a:solidFill>
              <a:latin typeface="Calibri"/>
              <a:ea typeface="Calibri"/>
              <a:cs typeface="Calibri"/>
              <a:sym typeface="Calibri"/>
            </a:endParaRPr>
          </a:p>
          <a:p>
            <a:pPr indent="-228600" lvl="1" marL="91440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Am I catastrophizing? What emotions am I feeling now?</a:t>
            </a:r>
            <a:endParaRPr b="0" i="0" sz="1200" u="none" cap="none" strike="noStrike">
              <a:solidFill>
                <a:schemeClr val="dk1"/>
              </a:solidFill>
              <a:latin typeface="Calibri"/>
              <a:ea typeface="Calibri"/>
              <a:cs typeface="Calibri"/>
              <a:sym typeface="Calibri"/>
            </a:endParaRPr>
          </a:p>
          <a:p>
            <a:pPr indent="-228600" lvl="1" marL="91440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Am I catastrophizing? What </a:t>
            </a:r>
            <a:r>
              <a:rPr b="1" i="0" lang="en-US" sz="1200" u="none" cap="none" strike="noStrike">
                <a:solidFill>
                  <a:schemeClr val="dk1"/>
                </a:solidFill>
                <a:latin typeface="Calibri"/>
                <a:ea typeface="Calibri"/>
                <a:cs typeface="Calibri"/>
                <a:sym typeface="Calibri"/>
              </a:rPr>
              <a:t>can</a:t>
            </a:r>
            <a:r>
              <a:rPr b="0" i="0" lang="en-US" sz="1200" u="none" cap="none" strike="noStrike">
                <a:solidFill>
                  <a:schemeClr val="dk1"/>
                </a:solidFill>
                <a:latin typeface="Calibri"/>
                <a:ea typeface="Calibri"/>
                <a:cs typeface="Calibri"/>
                <a:sym typeface="Calibri"/>
              </a:rPr>
              <a:t> I </a:t>
            </a:r>
            <a:r>
              <a:rPr b="0" i="1" lang="en-US" sz="1200" u="none" cap="none" strike="noStrike">
                <a:solidFill>
                  <a:schemeClr val="dk1"/>
                </a:solidFill>
                <a:latin typeface="Calibri"/>
                <a:ea typeface="Calibri"/>
                <a:cs typeface="Calibri"/>
                <a:sym typeface="Calibri"/>
              </a:rPr>
              <a:t>actually control</a:t>
            </a:r>
            <a:r>
              <a:rPr b="0" i="0" lang="en-US" sz="1200" u="none" cap="none" strike="noStrike">
                <a:solidFill>
                  <a:schemeClr val="dk1"/>
                </a:solidFill>
                <a:latin typeface="Calibri"/>
                <a:ea typeface="Calibri"/>
                <a:cs typeface="Calibri"/>
                <a:sym typeface="Calibri"/>
              </a:rPr>
              <a:t> here?</a:t>
            </a:r>
            <a:endParaRPr b="0" i="0" sz="1200" u="none" cap="none" strike="noStrike">
              <a:solidFill>
                <a:schemeClr val="dk1"/>
              </a:solidFill>
              <a:latin typeface="Calibri"/>
              <a:ea typeface="Calibri"/>
              <a:cs typeface="Calibri"/>
              <a:sym typeface="Calibri"/>
            </a:endParaRPr>
          </a:p>
          <a:p>
            <a:pPr indent="-228600" lvl="1" marL="91440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Is this an amygdala hijack? Do I need to practice deep breathing?</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t/>
            </a:r>
            <a:endParaRPr sz="1800"/>
          </a:p>
        </p:txBody>
      </p:sp>
      <p:sp>
        <p:nvSpPr>
          <p:cNvPr id="194" name="Google Shape;194;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Facilitator invites reflection and then discussion with other learners. Could offer the following utterances to prompt discussion, “How might using these phrases help defuse some situations?</a:t>
            </a:r>
            <a:endParaRPr b="0" i="0" sz="1200" u="none" cap="none" strike="noStrike">
              <a:solidFill>
                <a:schemeClr val="dk1"/>
              </a:solidFill>
              <a:latin typeface="Calibri"/>
              <a:ea typeface="Calibri"/>
              <a:cs typeface="Calibri"/>
              <a:sym typeface="Calibri"/>
            </a:endParaRPr>
          </a:p>
          <a:p>
            <a:pPr indent="-228600" lvl="1" marL="91440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“I want to check my assumptions before reacting.”</a:t>
            </a:r>
            <a:endParaRPr b="0" i="0" sz="1200" u="none" cap="none" strike="noStrike">
              <a:solidFill>
                <a:schemeClr val="dk1"/>
              </a:solidFill>
              <a:latin typeface="Calibri"/>
              <a:ea typeface="Calibri"/>
              <a:cs typeface="Calibri"/>
              <a:sym typeface="Calibri"/>
            </a:endParaRPr>
          </a:p>
          <a:p>
            <a:pPr indent="-228600" lvl="1" marL="91440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“Let’s talk again once I’ve had time to reflect.”</a:t>
            </a:r>
            <a:endParaRPr b="0" i="0" sz="1200" u="none" cap="none" strike="noStrike">
              <a:solidFill>
                <a:schemeClr val="dk1"/>
              </a:solidFill>
              <a:latin typeface="Calibri"/>
              <a:ea typeface="Calibri"/>
              <a:cs typeface="Calibri"/>
              <a:sym typeface="Calibri"/>
            </a:endParaRPr>
          </a:p>
          <a:p>
            <a:pPr indent="-228600" lvl="1" marL="91440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a:p>
            <a:pPr indent="-228600" lvl="1" marL="91440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Questions to ask yourself”:</a:t>
            </a:r>
            <a:endParaRPr/>
          </a:p>
          <a:p>
            <a:pPr indent="-228600" lvl="1" marL="91440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a:p>
            <a:pPr indent="-228600" lvl="1" marL="91440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Am I catastrophizing? What are the facts?</a:t>
            </a:r>
            <a:endParaRPr b="0" i="0" sz="1200" u="none" cap="none" strike="noStrike">
              <a:solidFill>
                <a:schemeClr val="dk1"/>
              </a:solidFill>
              <a:latin typeface="Calibri"/>
              <a:ea typeface="Calibri"/>
              <a:cs typeface="Calibri"/>
              <a:sym typeface="Calibri"/>
            </a:endParaRPr>
          </a:p>
          <a:p>
            <a:pPr indent="-228600" lvl="1" marL="91440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Am I catastrophizing? What emotions am I feeling now?</a:t>
            </a:r>
            <a:endParaRPr b="0" i="0" sz="1200" u="none" cap="none" strike="noStrike">
              <a:solidFill>
                <a:schemeClr val="dk1"/>
              </a:solidFill>
              <a:latin typeface="Calibri"/>
              <a:ea typeface="Calibri"/>
              <a:cs typeface="Calibri"/>
              <a:sym typeface="Calibri"/>
            </a:endParaRPr>
          </a:p>
          <a:p>
            <a:pPr indent="-228600" lvl="1" marL="91440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Am I catastrophizing? What </a:t>
            </a:r>
            <a:r>
              <a:rPr b="1" i="0" lang="en-US" sz="1200" u="none" cap="none" strike="noStrike">
                <a:solidFill>
                  <a:schemeClr val="dk1"/>
                </a:solidFill>
                <a:latin typeface="Calibri"/>
                <a:ea typeface="Calibri"/>
                <a:cs typeface="Calibri"/>
                <a:sym typeface="Calibri"/>
              </a:rPr>
              <a:t>can</a:t>
            </a:r>
            <a:r>
              <a:rPr b="0" i="0" lang="en-US" sz="1200" u="none" cap="none" strike="noStrike">
                <a:solidFill>
                  <a:schemeClr val="dk1"/>
                </a:solidFill>
                <a:latin typeface="Calibri"/>
                <a:ea typeface="Calibri"/>
                <a:cs typeface="Calibri"/>
                <a:sym typeface="Calibri"/>
              </a:rPr>
              <a:t> I </a:t>
            </a:r>
            <a:r>
              <a:rPr b="0" i="1" lang="en-US" sz="1200" u="none" cap="none" strike="noStrike">
                <a:solidFill>
                  <a:schemeClr val="dk1"/>
                </a:solidFill>
                <a:latin typeface="Calibri"/>
                <a:ea typeface="Calibri"/>
                <a:cs typeface="Calibri"/>
                <a:sym typeface="Calibri"/>
              </a:rPr>
              <a:t>actually control</a:t>
            </a:r>
            <a:r>
              <a:rPr b="0" i="0" lang="en-US" sz="1200" u="none" cap="none" strike="noStrike">
                <a:solidFill>
                  <a:schemeClr val="dk1"/>
                </a:solidFill>
                <a:latin typeface="Calibri"/>
                <a:ea typeface="Calibri"/>
                <a:cs typeface="Calibri"/>
                <a:sym typeface="Calibri"/>
              </a:rPr>
              <a:t> here?</a:t>
            </a:r>
            <a:endParaRPr b="0" i="0" sz="1200" u="none" cap="none" strike="noStrike">
              <a:solidFill>
                <a:schemeClr val="dk1"/>
              </a:solidFill>
              <a:latin typeface="Calibri"/>
              <a:ea typeface="Calibri"/>
              <a:cs typeface="Calibri"/>
              <a:sym typeface="Calibri"/>
            </a:endParaRPr>
          </a:p>
          <a:p>
            <a:pPr indent="-228600" lvl="1" marL="91440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Is this an amygdala hijack? Do I need to practice deep breathing?</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t/>
            </a:r>
            <a:endParaRPr sz="1800"/>
          </a:p>
        </p:txBody>
      </p:sp>
      <p:sp>
        <p:nvSpPr>
          <p:cNvPr id="203" name="Google Shape;203;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Use a sorting activity block to match the characteristics under Responsibility or Accountability</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RESPOSNIBILITY</a:t>
            </a:r>
            <a:endParaRPr/>
          </a:p>
          <a:p>
            <a:pPr indent="-171450" lvl="0" marL="171450" marR="0" rtl="0" algn="l">
              <a:lnSpc>
                <a:spcPct val="100000"/>
              </a:lnSpc>
              <a:spcBef>
                <a:spcPts val="0"/>
              </a:spcBef>
              <a:spcAft>
                <a:spcPts val="0"/>
              </a:spcAft>
              <a:buClr>
                <a:schemeClr val="dk1"/>
              </a:buClr>
              <a:buSzPts val="1200"/>
              <a:buFont typeface="Arial"/>
              <a:buChar char="•"/>
            </a:pPr>
            <a:r>
              <a:rPr lang="en-US" sz="1200">
                <a:latin typeface="Quattrocento Sans"/>
                <a:ea typeface="Quattrocento Sans"/>
                <a:cs typeface="Quattrocento Sans"/>
                <a:sym typeface="Quattrocento Sans"/>
              </a:rPr>
              <a:t>Is voluntary</a:t>
            </a:r>
            <a:endParaRPr/>
          </a:p>
          <a:p>
            <a:pPr indent="-171450" lvl="0" marL="171450" marR="0" rtl="0" algn="l">
              <a:lnSpc>
                <a:spcPct val="100000"/>
              </a:lnSpc>
              <a:spcBef>
                <a:spcPts val="0"/>
              </a:spcBef>
              <a:spcAft>
                <a:spcPts val="0"/>
              </a:spcAft>
              <a:buClr>
                <a:schemeClr val="dk1"/>
              </a:buClr>
              <a:buSzPts val="1200"/>
              <a:buFont typeface="Arial"/>
              <a:buChar char="•"/>
            </a:pPr>
            <a:r>
              <a:rPr lang="en-US" sz="1200">
                <a:latin typeface="Quattrocento Sans"/>
                <a:ea typeface="Quattrocento Sans"/>
                <a:cs typeface="Quattrocento Sans"/>
                <a:sym typeface="Quattrocento Sans"/>
              </a:rPr>
              <a:t>Is not usually linked to emotions</a:t>
            </a:r>
            <a:endParaRPr/>
          </a:p>
          <a:p>
            <a:pPr indent="-171450" lvl="0" marL="171450" marR="0" rtl="0" algn="l">
              <a:lnSpc>
                <a:spcPct val="100000"/>
              </a:lnSpc>
              <a:spcBef>
                <a:spcPts val="0"/>
              </a:spcBef>
              <a:spcAft>
                <a:spcPts val="0"/>
              </a:spcAft>
              <a:buClr>
                <a:schemeClr val="dk1"/>
              </a:buClr>
              <a:buSzPts val="1200"/>
              <a:buFont typeface="Arial"/>
              <a:buChar char="•"/>
            </a:pPr>
            <a:r>
              <a:rPr lang="en-US" sz="1200">
                <a:latin typeface="Quattrocento Sans"/>
                <a:ea typeface="Quattrocento Sans"/>
                <a:cs typeface="Quattrocento Sans"/>
                <a:sym typeface="Quattrocento Sans"/>
              </a:rPr>
              <a:t>Can be delegated</a:t>
            </a:r>
            <a:endParaRPr/>
          </a:p>
          <a:p>
            <a:pPr indent="-171450" lvl="0" marL="171450" marR="0" rtl="0" algn="l">
              <a:lnSpc>
                <a:spcPct val="100000"/>
              </a:lnSpc>
              <a:spcBef>
                <a:spcPts val="0"/>
              </a:spcBef>
              <a:spcAft>
                <a:spcPts val="0"/>
              </a:spcAft>
              <a:buClr>
                <a:schemeClr val="dk1"/>
              </a:buClr>
              <a:buSzPts val="1200"/>
              <a:buFont typeface="Arial"/>
              <a:buChar char="•"/>
            </a:pPr>
            <a:r>
              <a:rPr lang="en-US" sz="1200">
                <a:latin typeface="Quattrocento Sans"/>
                <a:ea typeface="Quattrocento Sans"/>
                <a:cs typeface="Quattrocento Sans"/>
                <a:sym typeface="Quattrocento Sans"/>
              </a:rPr>
              <a:t>Happens before actions or events (usually)</a:t>
            </a:r>
            <a:endParaRPr/>
          </a:p>
          <a:p>
            <a:pPr indent="-171450" lvl="0" marL="171450" marR="0" rtl="0" algn="l">
              <a:lnSpc>
                <a:spcPct val="100000"/>
              </a:lnSpc>
              <a:spcBef>
                <a:spcPts val="0"/>
              </a:spcBef>
              <a:spcAft>
                <a:spcPts val="0"/>
              </a:spcAft>
              <a:buClr>
                <a:schemeClr val="dk1"/>
              </a:buClr>
              <a:buSzPts val="1200"/>
              <a:buFont typeface="Arial"/>
              <a:buChar char="•"/>
            </a:pPr>
            <a:r>
              <a:rPr lang="en-US" sz="1200">
                <a:latin typeface="Quattrocento Sans"/>
                <a:ea typeface="Quattrocento Sans"/>
                <a:cs typeface="Quattrocento Sans"/>
                <a:sym typeface="Quattrocento Sans"/>
              </a:rPr>
              <a:t>Appears in job descriptions</a:t>
            </a:r>
            <a:endParaRPr/>
          </a:p>
          <a:p>
            <a:pPr indent="-171450" lvl="0" marL="171450" marR="0" rtl="0" algn="l">
              <a:lnSpc>
                <a:spcPct val="100000"/>
              </a:lnSpc>
              <a:spcBef>
                <a:spcPts val="0"/>
              </a:spcBef>
              <a:spcAft>
                <a:spcPts val="0"/>
              </a:spcAft>
              <a:buClr>
                <a:schemeClr val="dk1"/>
              </a:buClr>
              <a:buSzPts val="1200"/>
              <a:buFont typeface="Arial"/>
              <a:buChar char="•"/>
            </a:pPr>
            <a:r>
              <a:rPr lang="en-US" sz="1200">
                <a:latin typeface="Quattrocento Sans"/>
                <a:ea typeface="Quattrocento Sans"/>
                <a:cs typeface="Quattrocento Sans"/>
                <a:sym typeface="Quattrocento Sans"/>
              </a:rPr>
              <a:t>Is not usually difficult to assume</a:t>
            </a:r>
            <a:endParaRPr/>
          </a:p>
          <a:p>
            <a:pPr indent="-171450" lvl="0" marL="171450" marR="0" rtl="0" algn="l">
              <a:lnSpc>
                <a:spcPct val="100000"/>
              </a:lnSpc>
              <a:spcBef>
                <a:spcPts val="0"/>
              </a:spcBef>
              <a:spcAft>
                <a:spcPts val="0"/>
              </a:spcAft>
              <a:buClr>
                <a:schemeClr val="dk1"/>
              </a:buClr>
              <a:buSzPts val="1200"/>
              <a:buFont typeface="Arial"/>
              <a:buChar char="•"/>
            </a:pPr>
            <a:r>
              <a:rPr lang="en-US" sz="1200">
                <a:latin typeface="Quattrocento Sans"/>
                <a:ea typeface="Quattrocento Sans"/>
                <a:cs typeface="Quattrocento Sans"/>
                <a:sym typeface="Quattrocento Sans"/>
              </a:rPr>
              <a:t>Experienced by almost everyone</a:t>
            </a:r>
            <a:endParaRPr/>
          </a:p>
          <a:p>
            <a:pPr indent="-95250" lvl="0" marL="171450" marR="0" rtl="0" algn="l">
              <a:lnSpc>
                <a:spcPct val="100000"/>
              </a:lnSpc>
              <a:spcBef>
                <a:spcPts val="0"/>
              </a:spcBef>
              <a:spcAft>
                <a:spcPts val="0"/>
              </a:spcAft>
              <a:buClr>
                <a:schemeClr val="dk1"/>
              </a:buClr>
              <a:buSzPts val="1200"/>
              <a:buFont typeface="Arial"/>
              <a:buNone/>
            </a:pPr>
            <a:r>
              <a:t/>
            </a:r>
            <a:endParaRPr sz="1200">
              <a:latin typeface="Quattrocento Sans"/>
              <a:ea typeface="Quattrocento Sans"/>
              <a:cs typeface="Quattrocento Sans"/>
              <a:sym typeface="Quattrocento Sans"/>
            </a:endParaRPr>
          </a:p>
          <a:p>
            <a:pPr indent="-95250" lvl="0" marL="171450" marR="0" rtl="0" algn="l">
              <a:lnSpc>
                <a:spcPct val="100000"/>
              </a:lnSpc>
              <a:spcBef>
                <a:spcPts val="0"/>
              </a:spcBef>
              <a:spcAft>
                <a:spcPts val="0"/>
              </a:spcAft>
              <a:buClr>
                <a:schemeClr val="dk1"/>
              </a:buClr>
              <a:buSzPts val="1200"/>
              <a:buFont typeface="Arial"/>
              <a:buNone/>
            </a:pPr>
            <a:r>
              <a:t/>
            </a:r>
            <a:endParaRPr/>
          </a:p>
          <a:p>
            <a:pPr indent="-228600" lvl="0" marL="457200" marR="0" rtl="0" algn="l">
              <a:lnSpc>
                <a:spcPct val="100000"/>
              </a:lnSpc>
              <a:spcBef>
                <a:spcPts val="0"/>
              </a:spcBef>
              <a:spcAft>
                <a:spcPts val="0"/>
              </a:spcAft>
              <a:buSzPts val="1400"/>
              <a:buNone/>
            </a:pPr>
            <a:r>
              <a:rPr lang="en-US"/>
              <a:t>ACCOUNTABILITY </a:t>
            </a:r>
            <a:endParaRPr/>
          </a:p>
          <a:p>
            <a:pPr indent="-171450" lvl="0" marL="171450" marR="0" rtl="0" algn="l">
              <a:lnSpc>
                <a:spcPct val="100000"/>
              </a:lnSpc>
              <a:spcBef>
                <a:spcPts val="0"/>
              </a:spcBef>
              <a:spcAft>
                <a:spcPts val="0"/>
              </a:spcAft>
              <a:buClr>
                <a:schemeClr val="dk1"/>
              </a:buClr>
              <a:buSzPts val="1200"/>
              <a:buFont typeface="Arial"/>
              <a:buChar char="•"/>
            </a:pPr>
            <a:r>
              <a:rPr lang="en-US" sz="1200">
                <a:latin typeface="Quattrocento Sans"/>
                <a:ea typeface="Quattrocento Sans"/>
                <a:cs typeface="Quattrocento Sans"/>
                <a:sym typeface="Quattrocento Sans"/>
              </a:rPr>
              <a:t>Is voluntary</a:t>
            </a:r>
            <a:endParaRPr/>
          </a:p>
          <a:p>
            <a:pPr indent="-171450" lvl="0" marL="171450" marR="0" rtl="0" algn="l">
              <a:lnSpc>
                <a:spcPct val="100000"/>
              </a:lnSpc>
              <a:spcBef>
                <a:spcPts val="0"/>
              </a:spcBef>
              <a:spcAft>
                <a:spcPts val="0"/>
              </a:spcAft>
              <a:buClr>
                <a:schemeClr val="dk1"/>
              </a:buClr>
              <a:buSzPts val="1200"/>
              <a:buFont typeface="Arial"/>
              <a:buChar char="•"/>
            </a:pPr>
            <a:r>
              <a:rPr lang="en-US" sz="1200">
                <a:latin typeface="Quattrocento Sans"/>
                <a:ea typeface="Quattrocento Sans"/>
                <a:cs typeface="Quattrocento Sans"/>
                <a:sym typeface="Quattrocento Sans"/>
              </a:rPr>
              <a:t>Is not sometimes/often? linked to emotions</a:t>
            </a:r>
            <a:endParaRPr/>
          </a:p>
          <a:p>
            <a:pPr indent="-171450" lvl="0" marL="171450" marR="0" rtl="0" algn="l">
              <a:lnSpc>
                <a:spcPct val="100000"/>
              </a:lnSpc>
              <a:spcBef>
                <a:spcPts val="0"/>
              </a:spcBef>
              <a:spcAft>
                <a:spcPts val="0"/>
              </a:spcAft>
              <a:buClr>
                <a:schemeClr val="dk1"/>
              </a:buClr>
              <a:buSzPts val="1200"/>
              <a:buFont typeface="Arial"/>
              <a:buChar char="•"/>
            </a:pPr>
            <a:r>
              <a:rPr lang="en-US" sz="1200">
                <a:latin typeface="Quattrocento Sans"/>
                <a:ea typeface="Quattrocento Sans"/>
                <a:cs typeface="Quattrocento Sans"/>
                <a:sym typeface="Quattrocento Sans"/>
              </a:rPr>
              <a:t>Cannot be delegated</a:t>
            </a:r>
            <a:endParaRPr/>
          </a:p>
          <a:p>
            <a:pPr indent="-171450" lvl="0" marL="171450" marR="0" rtl="0" algn="l">
              <a:lnSpc>
                <a:spcPct val="100000"/>
              </a:lnSpc>
              <a:spcBef>
                <a:spcPts val="0"/>
              </a:spcBef>
              <a:spcAft>
                <a:spcPts val="0"/>
              </a:spcAft>
              <a:buClr>
                <a:schemeClr val="dk1"/>
              </a:buClr>
              <a:buSzPts val="1200"/>
              <a:buFont typeface="Arial"/>
              <a:buChar char="•"/>
            </a:pPr>
            <a:r>
              <a:rPr lang="en-US" sz="1200">
                <a:latin typeface="Quattrocento Sans"/>
                <a:ea typeface="Quattrocento Sans"/>
                <a:cs typeface="Quattrocento Sans"/>
                <a:sym typeface="Quattrocento Sans"/>
              </a:rPr>
              <a:t>Happens after actions or events (usually)</a:t>
            </a:r>
            <a:endParaRPr/>
          </a:p>
          <a:p>
            <a:pPr indent="-171450" lvl="0" marL="171450" marR="0" rtl="0" algn="l">
              <a:lnSpc>
                <a:spcPct val="100000"/>
              </a:lnSpc>
              <a:spcBef>
                <a:spcPts val="0"/>
              </a:spcBef>
              <a:spcAft>
                <a:spcPts val="0"/>
              </a:spcAft>
              <a:buClr>
                <a:schemeClr val="dk1"/>
              </a:buClr>
              <a:buSzPts val="1200"/>
              <a:buFont typeface="Arial"/>
              <a:buChar char="•"/>
            </a:pPr>
            <a:r>
              <a:rPr lang="en-US" sz="1200">
                <a:latin typeface="Quattrocento Sans"/>
                <a:ea typeface="Quattrocento Sans"/>
                <a:cs typeface="Quattrocento Sans"/>
                <a:sym typeface="Quattrocento Sans"/>
              </a:rPr>
              <a:t>Does not appear in job descriptions</a:t>
            </a:r>
            <a:endParaRPr/>
          </a:p>
          <a:p>
            <a:pPr indent="-171450" lvl="0" marL="171450" marR="0" rtl="0" algn="l">
              <a:lnSpc>
                <a:spcPct val="100000"/>
              </a:lnSpc>
              <a:spcBef>
                <a:spcPts val="0"/>
              </a:spcBef>
              <a:spcAft>
                <a:spcPts val="0"/>
              </a:spcAft>
              <a:buClr>
                <a:schemeClr val="dk1"/>
              </a:buClr>
              <a:buSzPts val="1200"/>
              <a:buFont typeface="Arial"/>
              <a:buChar char="•"/>
            </a:pPr>
            <a:r>
              <a:rPr lang="en-US" sz="1200">
                <a:latin typeface="Quattrocento Sans"/>
                <a:ea typeface="Quattrocento Sans"/>
                <a:cs typeface="Quattrocento Sans"/>
                <a:sym typeface="Quattrocento Sans"/>
              </a:rPr>
              <a:t>Can be difficult to admit</a:t>
            </a:r>
            <a:endParaRPr/>
          </a:p>
          <a:p>
            <a:pPr indent="-171450" lvl="0" marL="171450" marR="0" rtl="0" algn="l">
              <a:lnSpc>
                <a:spcPct val="100000"/>
              </a:lnSpc>
              <a:spcBef>
                <a:spcPts val="0"/>
              </a:spcBef>
              <a:spcAft>
                <a:spcPts val="0"/>
              </a:spcAft>
              <a:buClr>
                <a:schemeClr val="dk1"/>
              </a:buClr>
              <a:buSzPts val="1200"/>
              <a:buFont typeface="Arial"/>
              <a:buChar char="•"/>
            </a:pPr>
            <a:r>
              <a:rPr lang="en-US" sz="1200">
                <a:latin typeface="Quattrocento Sans"/>
                <a:ea typeface="Quattrocento Sans"/>
                <a:cs typeface="Quattrocento Sans"/>
                <a:sym typeface="Quattrocento Sans"/>
              </a:rPr>
              <a:t>Not necessarily experienced by everyone</a:t>
            </a:r>
            <a:endParaRPr/>
          </a:p>
          <a:p>
            <a:pPr indent="0" lvl="0" marL="0" rtl="0" algn="l">
              <a:lnSpc>
                <a:spcPct val="100000"/>
              </a:lnSpc>
              <a:spcBef>
                <a:spcPts val="0"/>
              </a:spcBef>
              <a:spcAft>
                <a:spcPts val="0"/>
              </a:spcAft>
              <a:buSzPts val="1400"/>
              <a:buNone/>
            </a:pPr>
            <a:r>
              <a:t/>
            </a:r>
            <a:endParaRPr/>
          </a:p>
        </p:txBody>
      </p:sp>
      <p:sp>
        <p:nvSpPr>
          <p:cNvPr id="220" name="Google Shape;220;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Shawna and Courtney, please add a divider block or a timeline block where the learner can add their thoughts and refer back to them along their future learning path in the LMS, thank you</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Also, please add an Attachment Block for the following further reading suggestions: </a:t>
            </a:r>
            <a:endParaRPr/>
          </a:p>
          <a:p>
            <a:pPr indent="0" lvl="0" marL="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Park, J., Kitayama, S., Markus, H. R., Coe, C. L., Miyamoto, Y., Karasawa, M., Curhan, K. B., Love, G. D., Kawakami, N., Morozink Boylan, J., &amp; Ryff, C. D. (2014). Social status and anger expression: The cultural moderation hypothesis. </a:t>
            </a:r>
            <a:r>
              <a:rPr b="0" i="1" lang="en-US" sz="1200" u="none" cap="none" strike="noStrike">
                <a:solidFill>
                  <a:schemeClr val="dk1"/>
                </a:solidFill>
                <a:latin typeface="Calibri"/>
                <a:ea typeface="Calibri"/>
                <a:cs typeface="Calibri"/>
                <a:sym typeface="Calibri"/>
              </a:rPr>
              <a:t>Emotion</a:t>
            </a:r>
            <a:r>
              <a:rPr b="0" i="0" lang="en-US" sz="1200" u="none" cap="none" strike="noStrike">
                <a:solidFill>
                  <a:schemeClr val="dk1"/>
                </a:solidFill>
                <a:latin typeface="Calibri"/>
                <a:ea typeface="Calibri"/>
                <a:cs typeface="Calibri"/>
                <a:sym typeface="Calibri"/>
              </a:rPr>
              <a:t>, </a:t>
            </a:r>
            <a:r>
              <a:rPr b="0" i="1" lang="en-US" sz="1200" u="none" cap="none" strike="noStrike">
                <a:solidFill>
                  <a:schemeClr val="dk1"/>
                </a:solidFill>
                <a:latin typeface="Calibri"/>
                <a:ea typeface="Calibri"/>
                <a:cs typeface="Calibri"/>
                <a:sym typeface="Calibri"/>
              </a:rPr>
              <a:t>14</a:t>
            </a:r>
            <a:r>
              <a:rPr b="0" i="0" lang="en-US" sz="1200" u="none" cap="none" strike="noStrike">
                <a:solidFill>
                  <a:schemeClr val="dk1"/>
                </a:solidFill>
                <a:latin typeface="Calibri"/>
                <a:ea typeface="Calibri"/>
                <a:cs typeface="Calibri"/>
                <a:sym typeface="Calibri"/>
              </a:rPr>
              <a:t>(1), 19–32. </a:t>
            </a:r>
            <a:r>
              <a:rPr b="0" i="0" lang="en-US" sz="1200" u="sng" cap="none" strike="noStrike">
                <a:solidFill>
                  <a:schemeClr val="dk1"/>
                </a:solidFill>
                <a:latin typeface="Calibri"/>
                <a:ea typeface="Calibri"/>
                <a:cs typeface="Calibri"/>
                <a:sym typeface="Calibri"/>
                <a:hlinkClick r:id="rId2">
                  <a:extLst>
                    <a:ext uri="{A12FA001-AC4F-418D-AE19-62706E023703}">
                      <ahyp:hlinkClr val="tx"/>
                    </a:ext>
                  </a:extLst>
                </a:hlinkClick>
              </a:rPr>
              <a:t>https://pmc.ncbi.nlm.nih.gov/articles/PMC3859704/</a:t>
            </a:r>
            <a:r>
              <a:rPr b="0" i="0" lang="en-US" sz="1200" u="none" cap="none" strike="noStrike">
                <a:solidFill>
                  <a:schemeClr val="dk1"/>
                </a:solidFill>
                <a:latin typeface="Calibri"/>
                <a:ea typeface="Calibri"/>
                <a:cs typeface="Calibri"/>
                <a:sym typeface="Calibri"/>
              </a:rPr>
              <a:t> </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Markus, H. R., &amp; Kitayama, S. (1991). Culture and the self: Implications for cognition, emotion, and motivation. </a:t>
            </a:r>
            <a:r>
              <a:rPr b="0" i="1" lang="en-US" sz="1200" u="none" cap="none" strike="noStrike">
                <a:solidFill>
                  <a:schemeClr val="dk1"/>
                </a:solidFill>
                <a:latin typeface="Calibri"/>
                <a:ea typeface="Calibri"/>
                <a:cs typeface="Calibri"/>
                <a:sym typeface="Calibri"/>
              </a:rPr>
              <a:t>Psychological Review</a:t>
            </a:r>
            <a:r>
              <a:rPr b="0" i="0" lang="en-US" sz="1200" u="none" cap="none" strike="noStrike">
                <a:solidFill>
                  <a:schemeClr val="dk1"/>
                </a:solidFill>
                <a:latin typeface="Calibri"/>
                <a:ea typeface="Calibri"/>
                <a:cs typeface="Calibri"/>
                <a:sym typeface="Calibri"/>
              </a:rPr>
              <a:t>, </a:t>
            </a:r>
            <a:r>
              <a:rPr b="0" i="1" lang="en-US" sz="1200" u="none" cap="none" strike="noStrike">
                <a:solidFill>
                  <a:schemeClr val="dk1"/>
                </a:solidFill>
                <a:latin typeface="Calibri"/>
                <a:ea typeface="Calibri"/>
                <a:cs typeface="Calibri"/>
                <a:sym typeface="Calibri"/>
              </a:rPr>
              <a:t>98</a:t>
            </a:r>
            <a:r>
              <a:rPr b="0" i="0" lang="en-US" sz="1200" u="none" cap="none" strike="noStrike">
                <a:solidFill>
                  <a:schemeClr val="dk1"/>
                </a:solidFill>
                <a:latin typeface="Calibri"/>
                <a:ea typeface="Calibri"/>
                <a:cs typeface="Calibri"/>
                <a:sym typeface="Calibri"/>
              </a:rPr>
              <a:t>(2), 224–253. </a:t>
            </a:r>
            <a:r>
              <a:rPr b="0" i="0" lang="en-US" sz="12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https://web.stanford.edu/~hazelm/publications/1991%20Markus%20Kitayama%20Culture%20and%20the%20self.pdf</a:t>
            </a:r>
            <a:r>
              <a:rPr b="0" i="0" lang="en-US" sz="1200" u="none" cap="none" strike="noStrike">
                <a:solidFill>
                  <a:schemeClr val="dk1"/>
                </a:solidFill>
                <a:latin typeface="Calibri"/>
                <a:ea typeface="Calibri"/>
                <a:cs typeface="Calibri"/>
                <a:sym typeface="Calibri"/>
              </a:rPr>
              <a:t> </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Park, W. (2020, December 10). </a:t>
            </a:r>
            <a:r>
              <a:rPr b="0" i="1" lang="en-US" sz="1200" u="none" cap="none" strike="noStrike">
                <a:solidFill>
                  <a:schemeClr val="dk1"/>
                </a:solidFill>
                <a:latin typeface="Calibri"/>
                <a:ea typeface="Calibri"/>
                <a:cs typeface="Calibri"/>
                <a:sym typeface="Calibri"/>
              </a:rPr>
              <a:t>What can different cultures teach about boredom?</a:t>
            </a:r>
            <a:r>
              <a:rPr b="0" i="0" lang="en-US" sz="1200" u="none" cap="none" strike="noStrike">
                <a:solidFill>
                  <a:schemeClr val="dk1"/>
                </a:solidFill>
                <a:latin typeface="Calibri"/>
                <a:ea typeface="Calibri"/>
                <a:cs typeface="Calibri"/>
                <a:sym typeface="Calibri"/>
              </a:rPr>
              <a:t> BBC Travel. </a:t>
            </a:r>
            <a:r>
              <a:rPr b="0" i="0" lang="en-US" sz="1200" u="sng" cap="none" strike="noStrike">
                <a:solidFill>
                  <a:schemeClr val="dk1"/>
                </a:solidFill>
                <a:latin typeface="Calibri"/>
                <a:ea typeface="Calibri"/>
                <a:cs typeface="Calibri"/>
                <a:sym typeface="Calibri"/>
                <a:hlinkClick r:id="rId4">
                  <a:extLst>
                    <a:ext uri="{A12FA001-AC4F-418D-AE19-62706E023703}">
                      <ahyp:hlinkClr val="tx"/>
                    </a:ext>
                  </a:extLst>
                </a:hlinkClick>
              </a:rPr>
              <a:t>https://www.bbc.com/travel/article/20201209-what-can-different-cultures-teach-about-boredom</a:t>
            </a:r>
            <a:endParaRPr b="0" i="0" sz="1200" u="none" cap="none" strike="noStrike">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251" name="Google Shape;251;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https://www.youtube.com/watch?v=ObDwK5rezHM&amp;ab_channel=LearnFree</a:t>
            </a:r>
            <a:endParaRPr/>
          </a:p>
        </p:txBody>
      </p:sp>
      <p:sp>
        <p:nvSpPr>
          <p:cNvPr id="260" name="Google Shape;260;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t>‹#›</a:t>
            </a:fld>
            <a:endParaRPr b="0" i="0" sz="1200" u="none" cap="none" strike="noStrike"/>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 name="Google Shape;297;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Shawna and Courtney, please use a sorting block for the following: Emotional Expressions - Visual and Verbal by Geography.xls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305" name="Google Shape;305;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Shawna and Courtney, please use a sorting block for the following: Emotional Expressions - Visual and Verbal by Geography.xls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312" name="Google Shape;312;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320" name="Google Shape;320;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Shawna and Courtney, similar to Liz’s request in her From Listener to Ally lesson, if there’s a way for the learner to share their pledge (and other commitments or thoughts) with the wider learning circle, please add that avenue to this page in the LMS.</a:t>
            </a:r>
            <a:endParaRPr/>
          </a:p>
        </p:txBody>
      </p:sp>
      <p:sp>
        <p:nvSpPr>
          <p:cNvPr id="329" name="Google Shape;329;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Shawna and Coutney, please add a way to allow learner to fill in the blanks with appropriate terms and strategies so they can track their progress. Also, ‘left unchecked’ is now in the glossary.</a:t>
            </a:r>
            <a:endParaRPr/>
          </a:p>
          <a:p>
            <a:pPr indent="-228600" lvl="0" marL="457200" marR="0" rtl="0" algn="l">
              <a:lnSpc>
                <a:spcPct val="100000"/>
              </a:lnSpc>
              <a:spcBef>
                <a:spcPts val="0"/>
              </a:spcBef>
              <a:spcAft>
                <a:spcPts val="0"/>
              </a:spcAft>
              <a:buSzPts val="1400"/>
              <a:buNone/>
            </a:pPr>
            <a:r>
              <a:rPr lang="en-US"/>
              <a:t>Thanks -n</a:t>
            </a:r>
            <a:endParaRPr/>
          </a:p>
        </p:txBody>
      </p:sp>
      <p:sp>
        <p:nvSpPr>
          <p:cNvPr id="337" name="Google Shape;337;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5" name="Google Shape;34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2"/>
          <p:cNvSpPr/>
          <p:nvPr/>
        </p:nvSpPr>
        <p:spPr>
          <a:xfrm>
            <a:off x="0" y="0"/>
            <a:ext cx="14630400" cy="8229600"/>
          </a:xfrm>
          <a:prstGeom prst="rect">
            <a:avLst/>
          </a:prstGeom>
          <a:solidFill>
            <a:srgbClr val="181A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2"/>
          <p:cNvSpPr/>
          <p:nvPr/>
        </p:nvSpPr>
        <p:spPr>
          <a:xfrm>
            <a:off x="0" y="0"/>
            <a:ext cx="14630400" cy="8229600"/>
          </a:xfrm>
          <a:prstGeom prst="rect">
            <a:avLst/>
          </a:prstGeom>
          <a:solidFill>
            <a:srgbClr val="2528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sp>
        <p:nvSpPr>
          <p:cNvPr id="14" name="Google Shape;14;p23"/>
          <p:cNvSpPr/>
          <p:nvPr/>
        </p:nvSpPr>
        <p:spPr>
          <a:xfrm>
            <a:off x="0" y="0"/>
            <a:ext cx="14630400" cy="8229600"/>
          </a:xfrm>
          <a:prstGeom prst="rect">
            <a:avLst/>
          </a:prstGeom>
          <a:solidFill>
            <a:srgbClr val="181A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3"/>
          <p:cNvSpPr/>
          <p:nvPr/>
        </p:nvSpPr>
        <p:spPr>
          <a:xfrm>
            <a:off x="0" y="0"/>
            <a:ext cx="14630400" cy="8229600"/>
          </a:xfrm>
          <a:prstGeom prst="rect">
            <a:avLst/>
          </a:prstGeom>
          <a:solidFill>
            <a:srgbClr val="2528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master">
  <p:cSld name="Slide 20 master">
    <p:spTree>
      <p:nvGrpSpPr>
        <p:cNvPr id="16" name="Shape 16"/>
        <p:cNvGrpSpPr/>
        <p:nvPr/>
      </p:nvGrpSpPr>
      <p:grpSpPr>
        <a:xfrm>
          <a:off x="0" y="0"/>
          <a:ext cx="0" cy="0"/>
          <a:chOff x="0" y="0"/>
          <a:chExt cx="0" cy="0"/>
        </a:xfrm>
      </p:grpSpPr>
      <p:sp>
        <p:nvSpPr>
          <p:cNvPr id="17" name="Google Shape;17;p41"/>
          <p:cNvSpPr/>
          <p:nvPr/>
        </p:nvSpPr>
        <p:spPr>
          <a:xfrm>
            <a:off x="0" y="0"/>
            <a:ext cx="14630400" cy="8229600"/>
          </a:xfrm>
          <a:prstGeom prst="rect">
            <a:avLst/>
          </a:prstGeom>
          <a:solidFill>
            <a:srgbClr val="181A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41"/>
          <p:cNvSpPr/>
          <p:nvPr/>
        </p:nvSpPr>
        <p:spPr>
          <a:xfrm>
            <a:off x="0" y="0"/>
            <a:ext cx="14630400" cy="8229600"/>
          </a:xfrm>
          <a:prstGeom prst="rect">
            <a:avLst/>
          </a:prstGeom>
          <a:solidFill>
            <a:srgbClr val="2528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9" name="Shape 19"/>
        <p:cNvGrpSpPr/>
        <p:nvPr/>
      </p:nvGrpSpPr>
      <p:grpSpPr>
        <a:xfrm>
          <a:off x="0" y="0"/>
          <a:ext cx="0" cy="0"/>
          <a:chOff x="0" y="0"/>
          <a:chExt cx="0" cy="0"/>
        </a:xfrm>
      </p:grpSpPr>
      <p:sp>
        <p:nvSpPr>
          <p:cNvPr id="20" name="Google Shape;20;p24"/>
          <p:cNvSpPr/>
          <p:nvPr/>
        </p:nvSpPr>
        <p:spPr>
          <a:xfrm>
            <a:off x="0" y="0"/>
            <a:ext cx="14630400" cy="8229600"/>
          </a:xfrm>
          <a:prstGeom prst="rect">
            <a:avLst/>
          </a:prstGeom>
          <a:solidFill>
            <a:srgbClr val="181A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4"/>
          <p:cNvSpPr/>
          <p:nvPr/>
        </p:nvSpPr>
        <p:spPr>
          <a:xfrm>
            <a:off x="0" y="0"/>
            <a:ext cx="14630400" cy="8229600"/>
          </a:xfrm>
          <a:prstGeom prst="rect">
            <a:avLst/>
          </a:prstGeom>
          <a:solidFill>
            <a:srgbClr val="2528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22" name="Shape 22"/>
        <p:cNvGrpSpPr/>
        <p:nvPr/>
      </p:nvGrpSpPr>
      <p:grpSpPr>
        <a:xfrm>
          <a:off x="0" y="0"/>
          <a:ext cx="0" cy="0"/>
          <a:chOff x="0" y="0"/>
          <a:chExt cx="0" cy="0"/>
        </a:xfrm>
      </p:grpSpPr>
      <p:sp>
        <p:nvSpPr>
          <p:cNvPr id="23" name="Google Shape;23;p31"/>
          <p:cNvSpPr/>
          <p:nvPr/>
        </p:nvSpPr>
        <p:spPr>
          <a:xfrm>
            <a:off x="0" y="0"/>
            <a:ext cx="14630400" cy="8229600"/>
          </a:xfrm>
          <a:prstGeom prst="rect">
            <a:avLst/>
          </a:prstGeom>
          <a:solidFill>
            <a:srgbClr val="181A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31"/>
          <p:cNvSpPr/>
          <p:nvPr/>
        </p:nvSpPr>
        <p:spPr>
          <a:xfrm>
            <a:off x="0" y="0"/>
            <a:ext cx="14630400" cy="8229600"/>
          </a:xfrm>
          <a:prstGeom prst="rect">
            <a:avLst/>
          </a:prstGeom>
          <a:solidFill>
            <a:srgbClr val="2528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5" name="Shape 25"/>
        <p:cNvGrpSpPr/>
        <p:nvPr/>
      </p:nvGrpSpPr>
      <p:grpSpPr>
        <a:xfrm>
          <a:off x="0" y="0"/>
          <a:ext cx="0" cy="0"/>
          <a:chOff x="0" y="0"/>
          <a:chExt cx="0" cy="0"/>
        </a:xfrm>
      </p:grpSpPr>
      <p:sp>
        <p:nvSpPr>
          <p:cNvPr id="26" name="Google Shape;26;p25"/>
          <p:cNvSpPr/>
          <p:nvPr/>
        </p:nvSpPr>
        <p:spPr>
          <a:xfrm>
            <a:off x="0" y="0"/>
            <a:ext cx="14630400" cy="8229600"/>
          </a:xfrm>
          <a:prstGeom prst="rect">
            <a:avLst/>
          </a:prstGeom>
          <a:solidFill>
            <a:srgbClr val="181A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5"/>
          <p:cNvSpPr/>
          <p:nvPr/>
        </p:nvSpPr>
        <p:spPr>
          <a:xfrm>
            <a:off x="0" y="0"/>
            <a:ext cx="14630400" cy="8229600"/>
          </a:xfrm>
          <a:prstGeom prst="rect">
            <a:avLst/>
          </a:prstGeom>
          <a:solidFill>
            <a:srgbClr val="2528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8"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my.clevelandclinic.org/canada/staff/duke-natacha" TargetMode="Externa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2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18.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18.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13.png"/><Relationship Id="rId4" Type="http://schemas.openxmlformats.org/officeDocument/2006/relationships/image" Target="../media/image19.png"/><Relationship Id="rId9" Type="http://schemas.openxmlformats.org/officeDocument/2006/relationships/image" Target="../media/image25.png"/><Relationship Id="rId5" Type="http://schemas.openxmlformats.org/officeDocument/2006/relationships/image" Target="../media/image14.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pic>
        <p:nvPicPr>
          <p:cNvPr id="34" name="Google Shape;34;p1"/>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35" name="Google Shape;35;p1"/>
          <p:cNvSpPr/>
          <p:nvPr/>
        </p:nvSpPr>
        <p:spPr>
          <a:xfrm>
            <a:off x="6324124" y="2121218"/>
            <a:ext cx="7468553" cy="140803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4400" u="none" cap="none" strike="noStrike">
                <a:solidFill>
                  <a:srgbClr val="F888D2"/>
                </a:solidFill>
                <a:latin typeface="Lora"/>
                <a:ea typeface="Lora"/>
                <a:cs typeface="Lora"/>
                <a:sym typeface="Lora"/>
              </a:rPr>
              <a:t>Emotions are Data</a:t>
            </a:r>
            <a:endParaRPr/>
          </a:p>
          <a:p>
            <a:pPr indent="0" lvl="0" marL="0" marR="0" rtl="0" algn="l">
              <a:lnSpc>
                <a:spcPct val="125000"/>
              </a:lnSpc>
              <a:spcBef>
                <a:spcPts val="0"/>
              </a:spcBef>
              <a:spcAft>
                <a:spcPts val="0"/>
              </a:spcAft>
              <a:buNone/>
            </a:pPr>
            <a:r>
              <a:t/>
            </a:r>
            <a:endParaRPr b="0" i="0" sz="4400" u="none" cap="none" strike="noStrike">
              <a:solidFill>
                <a:srgbClr val="F888D2"/>
              </a:solidFill>
              <a:latin typeface="Lora"/>
              <a:ea typeface="Lora"/>
              <a:cs typeface="Lora"/>
              <a:sym typeface="Lora"/>
            </a:endParaRPr>
          </a:p>
          <a:p>
            <a:pPr indent="0" lvl="0" marL="0" marR="0" rtl="0" algn="l">
              <a:lnSpc>
                <a:spcPct val="125000"/>
              </a:lnSpc>
              <a:spcBef>
                <a:spcPts val="0"/>
              </a:spcBef>
              <a:spcAft>
                <a:spcPts val="0"/>
              </a:spcAft>
              <a:buNone/>
            </a:pPr>
            <a:r>
              <a:rPr b="0" i="0" lang="en-US" sz="3200" u="none" cap="none" strike="noStrike">
                <a:solidFill>
                  <a:srgbClr val="F888D2"/>
                </a:solidFill>
                <a:latin typeface="Lora"/>
                <a:ea typeface="Lora"/>
                <a:cs typeface="Lora"/>
                <a:sym typeface="Lora"/>
              </a:rPr>
              <a:t>Understanding and Harnessing </a:t>
            </a:r>
            <a:endParaRPr/>
          </a:p>
          <a:p>
            <a:pPr indent="0" lvl="0" marL="0" marR="0" rtl="0" algn="l">
              <a:lnSpc>
                <a:spcPct val="125000"/>
              </a:lnSpc>
              <a:spcBef>
                <a:spcPts val="0"/>
              </a:spcBef>
              <a:spcAft>
                <a:spcPts val="0"/>
              </a:spcAft>
              <a:buNone/>
            </a:pPr>
            <a:r>
              <a:rPr b="0" i="0" lang="en-US" sz="3200" u="none" cap="none" strike="noStrike">
                <a:solidFill>
                  <a:srgbClr val="F888D2"/>
                </a:solidFill>
                <a:latin typeface="Lora"/>
                <a:ea typeface="Lora"/>
                <a:cs typeface="Lora"/>
                <a:sym typeface="Lora"/>
              </a:rPr>
              <a:t>our Emotional Signals</a:t>
            </a:r>
            <a:endParaRPr/>
          </a:p>
          <a:p>
            <a:pPr indent="0" lvl="0" marL="0" marR="0" rtl="0" algn="l">
              <a:lnSpc>
                <a:spcPct val="125000"/>
              </a:lnSpc>
              <a:spcBef>
                <a:spcPts val="0"/>
              </a:spcBef>
              <a:spcAft>
                <a:spcPts val="0"/>
              </a:spcAft>
              <a:buNone/>
            </a:pPr>
            <a:r>
              <a:t/>
            </a:r>
            <a:endParaRPr b="0" i="0" sz="4400" u="none" cap="none" strike="noStrike">
              <a:solidFill>
                <a:srgbClr val="F888D2"/>
              </a:solidFill>
              <a:latin typeface="Arial"/>
              <a:ea typeface="Arial"/>
              <a:cs typeface="Arial"/>
              <a:sym typeface="Arial"/>
            </a:endParaRPr>
          </a:p>
        </p:txBody>
      </p:sp>
      <p:sp>
        <p:nvSpPr>
          <p:cNvPr id="36" name="Google Shape;36;p1"/>
          <p:cNvSpPr/>
          <p:nvPr/>
        </p:nvSpPr>
        <p:spPr>
          <a:xfrm>
            <a:off x="6324123" y="6588995"/>
            <a:ext cx="7468553" cy="140803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8AC7"/>
              </a:buClr>
              <a:buSzPts val="4400"/>
              <a:buFont typeface="Lora"/>
              <a:buNone/>
            </a:pPr>
            <a:r>
              <a:rPr b="0" i="0" lang="en-US" sz="2400" u="none" cap="none" strike="noStrike">
                <a:solidFill>
                  <a:srgbClr val="6EB9FC"/>
                </a:solidFill>
                <a:latin typeface="Lora"/>
                <a:ea typeface="Lora"/>
                <a:cs typeface="Lora"/>
                <a:sym typeface="Lora"/>
              </a:rPr>
              <a:t>Nori Morita </a:t>
            </a:r>
            <a:endParaRPr/>
          </a:p>
          <a:p>
            <a:pPr indent="0" lvl="0" marL="0" marR="0" rtl="0" algn="l">
              <a:lnSpc>
                <a:spcPct val="125000"/>
              </a:lnSpc>
              <a:spcBef>
                <a:spcPts val="0"/>
              </a:spcBef>
              <a:spcAft>
                <a:spcPts val="0"/>
              </a:spcAft>
              <a:buClr>
                <a:srgbClr val="F98AC7"/>
              </a:buClr>
              <a:buSzPts val="4400"/>
              <a:buFont typeface="Lora"/>
              <a:buNone/>
            </a:pPr>
            <a:r>
              <a:rPr b="0" i="0" lang="en-US" sz="2400" u="none" cap="none" strike="noStrike">
                <a:solidFill>
                  <a:srgbClr val="6EB9FC"/>
                </a:solidFill>
                <a:latin typeface="Lora"/>
                <a:ea typeface="Lora"/>
                <a:cs typeface="Lora"/>
                <a:sym typeface="Lora"/>
              </a:rPr>
              <a:t>July, 2025</a:t>
            </a:r>
            <a:endParaRPr b="0" i="0" sz="2400" u="none" cap="none" strike="noStrike">
              <a:solidFill>
                <a:srgbClr val="6EB9FC"/>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pic>
        <p:nvPicPr>
          <p:cNvPr descr="preencoded.png" id="42" name="Google Shape;42;p43"/>
          <p:cNvPicPr preferRelativeResize="0"/>
          <p:nvPr/>
        </p:nvPicPr>
        <p:blipFill rotWithShape="1">
          <a:blip r:embed="rId3">
            <a:alphaModFix/>
          </a:blip>
          <a:srcRect b="0" l="0" r="0" t="0"/>
          <a:stretch/>
        </p:blipFill>
        <p:spPr>
          <a:xfrm>
            <a:off x="0" y="0"/>
            <a:ext cx="3657600" cy="8230791"/>
          </a:xfrm>
          <a:prstGeom prst="rect">
            <a:avLst/>
          </a:prstGeom>
          <a:noFill/>
          <a:ln>
            <a:noFill/>
          </a:ln>
        </p:spPr>
      </p:pic>
      <p:sp>
        <p:nvSpPr>
          <p:cNvPr id="43" name="Google Shape;43;p43"/>
          <p:cNvSpPr/>
          <p:nvPr/>
        </p:nvSpPr>
        <p:spPr>
          <a:xfrm>
            <a:off x="4392573" y="577453"/>
            <a:ext cx="9502854" cy="1235154"/>
          </a:xfrm>
          <a:prstGeom prst="rect">
            <a:avLst/>
          </a:prstGeom>
          <a:noFill/>
          <a:ln>
            <a:noFill/>
          </a:ln>
        </p:spPr>
        <p:txBody>
          <a:bodyPr anchorCtr="0" anchor="t" bIns="0" lIns="0" spcFirstLastPara="1" rIns="0" wrap="square" tIns="0">
            <a:noAutofit/>
          </a:bodyPr>
          <a:lstStyle/>
          <a:p>
            <a:pPr indent="0" lvl="0" marL="0" marR="0" rtl="0" algn="l">
              <a:lnSpc>
                <a:spcPct val="121250"/>
              </a:lnSpc>
              <a:spcBef>
                <a:spcPts val="0"/>
              </a:spcBef>
              <a:spcAft>
                <a:spcPts val="0"/>
              </a:spcAft>
              <a:buNone/>
            </a:pPr>
            <a:r>
              <a:rPr b="0" i="0" lang="en-US" sz="4000" u="none" cap="none" strike="noStrike">
                <a:solidFill>
                  <a:srgbClr val="6EB9FC"/>
                </a:solidFill>
                <a:latin typeface="Lora"/>
                <a:ea typeface="Lora"/>
                <a:cs typeface="Lora"/>
                <a:sym typeface="Lora"/>
              </a:rPr>
              <a:t>In this Lesson You’ll:</a:t>
            </a:r>
            <a:endParaRPr b="0" i="0" sz="4000" u="none" cap="none" strike="noStrike">
              <a:solidFill>
                <a:srgbClr val="6EB9FC"/>
              </a:solidFill>
              <a:latin typeface="Lora"/>
              <a:ea typeface="Lora"/>
              <a:cs typeface="Lora"/>
              <a:sym typeface="Lora"/>
            </a:endParaRPr>
          </a:p>
          <a:p>
            <a:pPr indent="0" lvl="0" marL="0" marR="0" rtl="0" algn="l">
              <a:lnSpc>
                <a:spcPct val="125974"/>
              </a:lnSpc>
              <a:spcBef>
                <a:spcPts val="0"/>
              </a:spcBef>
              <a:spcAft>
                <a:spcPts val="0"/>
              </a:spcAft>
              <a:buClr>
                <a:srgbClr val="000000"/>
              </a:buClr>
              <a:buSzPts val="3850"/>
              <a:buFont typeface="Arial"/>
              <a:buNone/>
            </a:pPr>
            <a:r>
              <a:t/>
            </a:r>
            <a:endParaRPr b="0" i="0" sz="3850" u="none" cap="none" strike="noStrike">
              <a:solidFill>
                <a:srgbClr val="6EB9FC"/>
              </a:solidFill>
              <a:latin typeface="Arial"/>
              <a:ea typeface="Arial"/>
              <a:cs typeface="Arial"/>
              <a:sym typeface="Arial"/>
            </a:endParaRPr>
          </a:p>
        </p:txBody>
      </p:sp>
      <p:sp>
        <p:nvSpPr>
          <p:cNvPr id="44" name="Google Shape;44;p43"/>
          <p:cNvSpPr/>
          <p:nvPr/>
        </p:nvSpPr>
        <p:spPr>
          <a:xfrm>
            <a:off x="4274194" y="2178218"/>
            <a:ext cx="9502854" cy="51163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800" u="none" cap="none" strike="noStrike">
                <a:solidFill>
                  <a:srgbClr val="6EB9FC"/>
                </a:solidFill>
                <a:latin typeface="Lora"/>
                <a:ea typeface="Lora"/>
                <a:cs typeface="Lora"/>
                <a:sym typeface="Lora"/>
              </a:rPr>
              <a:t>1.  Appraise three of the human brain’s layers</a:t>
            </a:r>
            <a:endParaRPr b="0" i="0" sz="28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800" u="none" cap="none" strike="noStrike">
                <a:solidFill>
                  <a:srgbClr val="6EB9FC"/>
                </a:solidFill>
                <a:latin typeface="Lora"/>
                <a:ea typeface="Lora"/>
                <a:cs typeface="Lora"/>
                <a:sym typeface="Lora"/>
              </a:rPr>
              <a:t>2. Weigh how emotions affect us in our daily lives</a:t>
            </a:r>
            <a:endParaRPr b="0" i="0" sz="28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800" u="none" cap="none" strike="noStrike">
                <a:solidFill>
                  <a:srgbClr val="6EB9FC"/>
                </a:solidFill>
                <a:latin typeface="Lora"/>
                <a:ea typeface="Lora"/>
                <a:cs typeface="Lora"/>
                <a:sym typeface="Lora"/>
              </a:rPr>
              <a:t>3. Investigate emotional signals</a:t>
            </a:r>
            <a:endParaRPr b="0" i="0" sz="28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800" u="none" cap="none" strike="noStrike">
                <a:solidFill>
                  <a:srgbClr val="6EB9FC"/>
                </a:solidFill>
                <a:latin typeface="Lora"/>
                <a:ea typeface="Lora"/>
                <a:cs typeface="Lora"/>
                <a:sym typeface="Lora"/>
              </a:rPr>
              <a:t>4. Design responses rather than allowing reactions </a:t>
            </a:r>
            <a:endParaRPr/>
          </a:p>
          <a:p>
            <a:pPr indent="0" lvl="0" marL="0" marR="0" rtl="0" algn="l">
              <a:lnSpc>
                <a:spcPct val="100000"/>
              </a:lnSpc>
              <a:spcBef>
                <a:spcPts val="0"/>
              </a:spcBef>
              <a:spcAft>
                <a:spcPts val="0"/>
              </a:spcAft>
              <a:buNone/>
            </a:pPr>
            <a:r>
              <a:rPr b="0" i="0" lang="en-US" sz="2800" u="none" cap="none" strike="noStrike">
                <a:solidFill>
                  <a:srgbClr val="6EB9FC"/>
                </a:solidFill>
                <a:latin typeface="Lora"/>
                <a:ea typeface="Lora"/>
                <a:cs typeface="Lora"/>
                <a:sym typeface="Lora"/>
              </a:rPr>
              <a:t>	to make personal accountability easier</a:t>
            </a:r>
            <a:endParaRPr b="0" i="0" sz="2800" u="none" cap="none" strike="noStrike">
              <a:solidFill>
                <a:srgbClr val="6EB9FC"/>
              </a:solidFill>
              <a:latin typeface="Lora"/>
              <a:ea typeface="Lora"/>
              <a:cs typeface="Lora"/>
              <a:sym typeface="Lora"/>
            </a:endParaRPr>
          </a:p>
          <a:p>
            <a:pPr indent="0" lvl="0" marL="0" marR="0" rtl="0" algn="l">
              <a:lnSpc>
                <a:spcPct val="115000"/>
              </a:lnSpc>
              <a:spcBef>
                <a:spcPts val="0"/>
              </a:spcBef>
              <a:spcAft>
                <a:spcPts val="0"/>
              </a:spcAft>
              <a:buNone/>
            </a:pPr>
            <a:r>
              <a:t/>
            </a:r>
            <a:endParaRPr b="0" i="0" sz="2800" u="none" cap="none" strike="noStrike">
              <a:solidFill>
                <a:srgbClr val="F888D2"/>
              </a:solidFill>
              <a:latin typeface="Lora"/>
              <a:ea typeface="Lora"/>
              <a:cs typeface="Lora"/>
              <a:sym typeface="L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pic>
        <p:nvPicPr>
          <p:cNvPr descr="preencoded.png" id="50" name="Google Shape;50;p20"/>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51" name="Google Shape;51;p20"/>
          <p:cNvSpPr/>
          <p:nvPr/>
        </p:nvSpPr>
        <p:spPr>
          <a:xfrm>
            <a:off x="6523997" y="3522345"/>
            <a:ext cx="7733824"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F98AC7"/>
              </a:buClr>
              <a:buSzPts val="3700"/>
              <a:buFont typeface="Lora"/>
              <a:buNone/>
            </a:pPr>
            <a:r>
              <a:rPr b="0" i="0" lang="en-US" sz="4400" u="none" cap="none" strike="noStrike">
                <a:solidFill>
                  <a:srgbClr val="6EB9FC"/>
                </a:solidFill>
                <a:latin typeface="Lora"/>
                <a:ea typeface="Lora"/>
                <a:cs typeface="Lora"/>
                <a:sym typeface="Lora"/>
              </a:rPr>
              <a:t>Spark </a:t>
            </a:r>
            <a:endParaRPr b="0" i="0" sz="4400" u="none" cap="none" strike="noStrike">
              <a:solidFill>
                <a:srgbClr val="6EB9FC"/>
              </a:solidFill>
              <a:latin typeface="Lora"/>
              <a:ea typeface="Lora"/>
              <a:cs typeface="Lora"/>
              <a:sym typeface="L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44"/>
          <p:cNvSpPr txBox="1"/>
          <p:nvPr/>
        </p:nvSpPr>
        <p:spPr>
          <a:xfrm>
            <a:off x="781878" y="4844058"/>
            <a:ext cx="13543722" cy="3477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Do any of these events resonate with you?</a:t>
            </a:r>
            <a:endParaRPr/>
          </a:p>
          <a:p>
            <a:pPr indent="0" lvl="0" marL="0" marR="0" rtl="0" algn="l">
              <a:lnSpc>
                <a:spcPct val="100000"/>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According to vault.com, experiencing any of these events might cause you to fight the boss, fly away home, freeze in your cubicle or even appease the threat to avoid harm. It all depends on who you are, your past experiences and what’s at stake. </a:t>
            </a:r>
            <a:endParaRPr/>
          </a:p>
          <a:p>
            <a:pPr indent="0" lvl="0" marL="0" marR="0" rtl="0" algn="l">
              <a:lnSpc>
                <a:spcPct val="100000"/>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In this lesson, registered psychotherapist </a:t>
            </a:r>
            <a:r>
              <a:rPr b="0" i="0" lang="en-US" sz="1400" u="sng" cap="none" strike="noStrike">
                <a:solidFill>
                  <a:srgbClr val="000000"/>
                </a:solidFill>
                <a:latin typeface="Arial"/>
                <a:ea typeface="Arial"/>
                <a:cs typeface="Arial"/>
                <a:sym typeface="Arial"/>
                <a:hlinkClick r:id="rId3">
                  <a:extLst>
                    <a:ext uri="{A12FA001-AC4F-418D-AE19-62706E023703}">
                      <ahyp:hlinkClr val="tx"/>
                    </a:ext>
                  </a:extLst>
                </a:hlinkClick>
              </a:rPr>
              <a:t>Natacha Duke, MA, RP</a:t>
            </a:r>
            <a:r>
              <a:rPr b="0" i="0" lang="en-US" sz="2000" u="none" cap="none" strike="noStrike">
                <a:solidFill>
                  <a:srgbClr val="6EB9FC"/>
                </a:solidFill>
                <a:latin typeface="Lora"/>
                <a:ea typeface="Lora"/>
                <a:cs typeface="Lora"/>
                <a:sym typeface="Lora"/>
              </a:rPr>
              <a:t>, and others help us understand how different stress responses manifest and how you can best manage them.</a:t>
            </a:r>
            <a:endParaRPr b="0" i="0" sz="20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t/>
            </a:r>
            <a:endParaRPr b="0" i="0" sz="2000" u="none" cap="none" strike="noStrike">
              <a:solidFill>
                <a:srgbClr val="6EB9FC"/>
              </a:solidFill>
              <a:latin typeface="Lora"/>
              <a:ea typeface="Lora"/>
              <a:cs typeface="Lora"/>
              <a:sym typeface="Lora"/>
            </a:endParaRPr>
          </a:p>
        </p:txBody>
      </p:sp>
      <p:pic>
        <p:nvPicPr>
          <p:cNvPr descr="A black and white chart with white text&#10;&#10;AI-generated content may be incorrect." id="57" name="Google Shape;57;p44"/>
          <p:cNvPicPr preferRelativeResize="0"/>
          <p:nvPr/>
        </p:nvPicPr>
        <p:blipFill rotWithShape="1">
          <a:blip r:embed="rId4">
            <a:alphaModFix/>
          </a:blip>
          <a:srcRect b="0" l="0" r="0" t="0"/>
          <a:stretch/>
        </p:blipFill>
        <p:spPr>
          <a:xfrm>
            <a:off x="3567836" y="1108481"/>
            <a:ext cx="7971805" cy="3617550"/>
          </a:xfrm>
          <a:prstGeom prst="rect">
            <a:avLst/>
          </a:prstGeom>
          <a:noFill/>
          <a:ln>
            <a:noFill/>
          </a:ln>
        </p:spPr>
      </p:pic>
      <p:sp>
        <p:nvSpPr>
          <p:cNvPr id="58" name="Google Shape;58;p44"/>
          <p:cNvSpPr txBox="1"/>
          <p:nvPr/>
        </p:nvSpPr>
        <p:spPr>
          <a:xfrm>
            <a:off x="2299251" y="405679"/>
            <a:ext cx="1003189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200" u="none" cap="none" strike="noStrike">
                <a:solidFill>
                  <a:srgbClr val="6EB9FC"/>
                </a:solidFill>
                <a:latin typeface="Lora"/>
                <a:ea typeface="Lora"/>
                <a:cs typeface="Lora"/>
                <a:sym typeface="Lora"/>
              </a:rPr>
              <a:t>Top Five Scariest Things that can Happen at Work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45"/>
          <p:cNvSpPr/>
          <p:nvPr/>
        </p:nvSpPr>
        <p:spPr>
          <a:xfrm>
            <a:off x="2025480" y="633671"/>
            <a:ext cx="10579439"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F98AC7"/>
              </a:buClr>
              <a:buSzPts val="3700"/>
              <a:buFont typeface="Lora"/>
              <a:buNone/>
            </a:pPr>
            <a:r>
              <a:rPr b="0" i="0" lang="en-US" sz="4400" u="none" cap="none" strike="noStrike">
                <a:solidFill>
                  <a:srgbClr val="6EB9FC"/>
                </a:solidFill>
                <a:latin typeface="Lora"/>
                <a:ea typeface="Lora"/>
                <a:cs typeface="Lora"/>
                <a:sym typeface="Lora"/>
              </a:rPr>
              <a:t>Spark 1 (Review): Stress &amp; Pressure</a:t>
            </a:r>
            <a:endParaRPr b="0" i="0" sz="4400" u="none" cap="none" strike="noStrike">
              <a:solidFill>
                <a:srgbClr val="6EB9FC"/>
              </a:solidFill>
              <a:latin typeface="Lora"/>
              <a:ea typeface="Lora"/>
              <a:cs typeface="Lora"/>
              <a:sym typeface="Lora"/>
            </a:endParaRPr>
          </a:p>
        </p:txBody>
      </p:sp>
      <p:sp>
        <p:nvSpPr>
          <p:cNvPr id="65" name="Google Shape;65;p45"/>
          <p:cNvSpPr/>
          <p:nvPr/>
        </p:nvSpPr>
        <p:spPr>
          <a:xfrm>
            <a:off x="6342441" y="1818581"/>
            <a:ext cx="7045499" cy="538626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None/>
            </a:pPr>
            <a:r>
              <a:rPr b="0" i="0" lang="en-US" sz="2000" u="none" cap="none" strike="noStrike">
                <a:solidFill>
                  <a:srgbClr val="6EB9FC"/>
                </a:solidFill>
                <a:latin typeface="Lora"/>
                <a:ea typeface="Lora"/>
                <a:cs typeface="Lora"/>
                <a:sym typeface="Lora"/>
              </a:rPr>
              <a:t>Try this Sorting Activity to group these statements into the correct category.</a:t>
            </a:r>
            <a:endParaRPr/>
          </a:p>
          <a:p>
            <a:pPr indent="0" lvl="0" marL="0" marR="0" rtl="0" algn="l">
              <a:lnSpc>
                <a:spcPct val="125675"/>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PRESSURE</a:t>
            </a:r>
            <a:endParaRPr/>
          </a:p>
          <a:p>
            <a:pPr indent="-342900" lvl="0" marL="342900" marR="0" rtl="0" algn="l">
              <a:lnSpc>
                <a:spcPct val="110000"/>
              </a:lnSpc>
              <a:spcBef>
                <a:spcPts val="0"/>
              </a:spcBef>
              <a:spcAft>
                <a:spcPts val="0"/>
              </a:spcAft>
              <a:buClr>
                <a:srgbClr val="B2BB1E"/>
              </a:buClr>
              <a:buSzPts val="2000"/>
              <a:buFont typeface="Arial"/>
              <a:buChar char="•"/>
            </a:pPr>
            <a:r>
              <a:rPr b="0" i="0" lang="en-US" sz="2000" u="none" cap="none" strike="noStrike">
                <a:solidFill>
                  <a:srgbClr val="6EB9FC"/>
                </a:solidFill>
                <a:latin typeface="Lora"/>
                <a:ea typeface="Lora"/>
                <a:cs typeface="Lora"/>
                <a:sym typeface="Lora"/>
              </a:rPr>
              <a:t>Is external</a:t>
            </a:r>
            <a:endParaRPr/>
          </a:p>
          <a:p>
            <a:pPr indent="-342900" lvl="0" marL="342900" marR="0" rtl="0" algn="l">
              <a:lnSpc>
                <a:spcPct val="110000"/>
              </a:lnSpc>
              <a:spcBef>
                <a:spcPts val="0"/>
              </a:spcBef>
              <a:spcAft>
                <a:spcPts val="0"/>
              </a:spcAft>
              <a:buClr>
                <a:srgbClr val="B2BB1E"/>
              </a:buClr>
              <a:buSzPts val="2000"/>
              <a:buFont typeface="Arial"/>
              <a:buChar char="•"/>
            </a:pPr>
            <a:r>
              <a:rPr b="0" i="0" lang="en-US" sz="2000" u="none" cap="none" strike="noStrike">
                <a:solidFill>
                  <a:srgbClr val="6EB9FC"/>
                </a:solidFill>
                <a:latin typeface="Lora"/>
                <a:ea typeface="Lora"/>
                <a:cs typeface="Lora"/>
                <a:sym typeface="Lora"/>
              </a:rPr>
              <a:t>Includes demands and expectations</a:t>
            </a:r>
            <a:endParaRPr/>
          </a:p>
          <a:p>
            <a:pPr indent="-342900" lvl="0" marL="342900" marR="0" rtl="0" algn="l">
              <a:lnSpc>
                <a:spcPct val="110000"/>
              </a:lnSpc>
              <a:spcBef>
                <a:spcPts val="0"/>
              </a:spcBef>
              <a:spcAft>
                <a:spcPts val="0"/>
              </a:spcAft>
              <a:buClr>
                <a:srgbClr val="B2BB1E"/>
              </a:buClr>
              <a:buSzPts val="2000"/>
              <a:buFont typeface="Arial"/>
              <a:buChar char="•"/>
            </a:pPr>
            <a:r>
              <a:rPr b="0" i="0" lang="en-US" sz="2000" u="none" cap="none" strike="noStrike">
                <a:solidFill>
                  <a:srgbClr val="6EB9FC"/>
                </a:solidFill>
                <a:latin typeface="Lora"/>
                <a:ea typeface="Lora"/>
                <a:cs typeface="Lora"/>
                <a:sym typeface="Lora"/>
              </a:rPr>
              <a:t>Considers levels of risk &amp; reward.</a:t>
            </a:r>
            <a:endParaRPr/>
          </a:p>
          <a:p>
            <a:pPr indent="-342900" lvl="0" marL="342900" marR="0" rtl="0" algn="l">
              <a:lnSpc>
                <a:spcPct val="110000"/>
              </a:lnSpc>
              <a:spcBef>
                <a:spcPts val="0"/>
              </a:spcBef>
              <a:spcAft>
                <a:spcPts val="0"/>
              </a:spcAft>
              <a:buClr>
                <a:srgbClr val="B2BB1E"/>
              </a:buClr>
              <a:buSzPts val="2000"/>
              <a:buFont typeface="Arial"/>
              <a:buChar char="•"/>
            </a:pPr>
            <a:r>
              <a:rPr b="0" i="0" lang="en-US" sz="2000" u="none" cap="none" strike="noStrike">
                <a:solidFill>
                  <a:srgbClr val="6EB9FC"/>
                </a:solidFill>
                <a:latin typeface="Lora"/>
                <a:ea typeface="Lora"/>
                <a:cs typeface="Lora"/>
                <a:sym typeface="Lora"/>
              </a:rPr>
              <a:t>Is experienced by most of us in general situations</a:t>
            </a:r>
            <a:endParaRPr/>
          </a:p>
          <a:p>
            <a:pPr indent="0" lvl="0" marL="0" marR="0" rtl="0" algn="l">
              <a:lnSpc>
                <a:spcPct val="110000"/>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0" lvl="0" marL="0" marR="0" rtl="0" algn="l">
              <a:lnSpc>
                <a:spcPct val="110000"/>
              </a:lnSpc>
              <a:spcBef>
                <a:spcPts val="0"/>
              </a:spcBef>
              <a:spcAft>
                <a:spcPts val="0"/>
              </a:spcAft>
              <a:buClr>
                <a:srgbClr val="B2BB1E"/>
              </a:buClr>
              <a:buSzPts val="2000"/>
              <a:buFont typeface="Arial"/>
              <a:buNone/>
            </a:pPr>
            <a:r>
              <a:rPr b="0" i="0" lang="en-US" sz="2000" u="none" cap="none" strike="noStrike">
                <a:solidFill>
                  <a:srgbClr val="6EB9FC"/>
                </a:solidFill>
                <a:latin typeface="Lora"/>
                <a:ea typeface="Lora"/>
                <a:cs typeface="Lora"/>
                <a:sym typeface="Lora"/>
              </a:rPr>
              <a:t>STRESS</a:t>
            </a:r>
            <a:endParaRPr/>
          </a:p>
          <a:p>
            <a:pPr indent="-457200" lvl="0" marL="457200" marR="0" rtl="0" algn="l">
              <a:lnSpc>
                <a:spcPct val="110000"/>
              </a:lnSpc>
              <a:spcBef>
                <a:spcPts val="0"/>
              </a:spcBef>
              <a:spcAft>
                <a:spcPts val="0"/>
              </a:spcAft>
              <a:buClr>
                <a:srgbClr val="B2BB1E"/>
              </a:buClr>
              <a:buSzPts val="2000"/>
              <a:buFont typeface="Arial"/>
              <a:buChar char="•"/>
            </a:pPr>
            <a:r>
              <a:rPr b="0" i="0" lang="en-US" sz="2000" u="none" cap="none" strike="noStrike">
                <a:solidFill>
                  <a:srgbClr val="6EB9FC"/>
                </a:solidFill>
                <a:latin typeface="Lora"/>
                <a:ea typeface="Lora"/>
                <a:cs typeface="Lora"/>
                <a:sym typeface="Lora"/>
              </a:rPr>
              <a:t>Is internal</a:t>
            </a:r>
            <a:endParaRPr/>
          </a:p>
          <a:p>
            <a:pPr indent="-457200" lvl="0" marL="457200" marR="0" rtl="0" algn="l">
              <a:lnSpc>
                <a:spcPct val="110000"/>
              </a:lnSpc>
              <a:spcBef>
                <a:spcPts val="0"/>
              </a:spcBef>
              <a:spcAft>
                <a:spcPts val="0"/>
              </a:spcAft>
              <a:buClr>
                <a:srgbClr val="B2BB1E"/>
              </a:buClr>
              <a:buSzPts val="2000"/>
              <a:buFont typeface="Arial"/>
              <a:buChar char="•"/>
            </a:pPr>
            <a:r>
              <a:rPr b="0" i="0" lang="en-US" sz="2000" u="none" cap="none" strike="noStrike">
                <a:solidFill>
                  <a:srgbClr val="6EB9FC"/>
                </a:solidFill>
                <a:latin typeface="Lora"/>
                <a:ea typeface="Lora"/>
                <a:cs typeface="Lora"/>
                <a:sym typeface="Lora"/>
              </a:rPr>
              <a:t>Includes personal fears, anxiety and doubts</a:t>
            </a:r>
            <a:endParaRPr/>
          </a:p>
          <a:p>
            <a:pPr indent="-457200" lvl="0" marL="457200" marR="0" rtl="0" algn="l">
              <a:lnSpc>
                <a:spcPct val="110000"/>
              </a:lnSpc>
              <a:spcBef>
                <a:spcPts val="0"/>
              </a:spcBef>
              <a:spcAft>
                <a:spcPts val="0"/>
              </a:spcAft>
              <a:buClr>
                <a:srgbClr val="B2BB1E"/>
              </a:buClr>
              <a:buSzPts val="2000"/>
              <a:buFont typeface="Arial"/>
              <a:buChar char="•"/>
            </a:pPr>
            <a:r>
              <a:rPr b="0" i="0" lang="en-US" sz="2000" u="none" cap="none" strike="noStrike">
                <a:solidFill>
                  <a:srgbClr val="6EB9FC"/>
                </a:solidFill>
                <a:latin typeface="Lora"/>
                <a:ea typeface="Lora"/>
                <a:cs typeface="Lora"/>
                <a:sym typeface="Lora"/>
              </a:rPr>
              <a:t>Is increased by lack of security</a:t>
            </a:r>
            <a:endParaRPr/>
          </a:p>
          <a:p>
            <a:pPr indent="-457200" lvl="0" marL="457200" marR="0" rtl="0" algn="l">
              <a:lnSpc>
                <a:spcPct val="110000"/>
              </a:lnSpc>
              <a:spcBef>
                <a:spcPts val="0"/>
              </a:spcBef>
              <a:spcAft>
                <a:spcPts val="0"/>
              </a:spcAft>
              <a:buClr>
                <a:srgbClr val="B2BB1E"/>
              </a:buClr>
              <a:buSzPts val="2000"/>
              <a:buFont typeface="Arial"/>
              <a:buChar char="•"/>
            </a:pPr>
            <a:r>
              <a:rPr b="0" i="0" lang="en-US" sz="2000" u="none" cap="none" strike="noStrike">
                <a:solidFill>
                  <a:srgbClr val="6EB9FC"/>
                </a:solidFill>
                <a:latin typeface="Lora"/>
                <a:ea typeface="Lora"/>
                <a:cs typeface="Lora"/>
                <a:sym typeface="Lora"/>
              </a:rPr>
              <a:t>Makes us feel overwhelmed.</a:t>
            </a:r>
            <a:endParaRPr/>
          </a:p>
          <a:p>
            <a:pPr indent="-457200" lvl="0" marL="457200" marR="0" rtl="0" algn="l">
              <a:lnSpc>
                <a:spcPct val="110000"/>
              </a:lnSpc>
              <a:spcBef>
                <a:spcPts val="0"/>
              </a:spcBef>
              <a:spcAft>
                <a:spcPts val="0"/>
              </a:spcAft>
              <a:buClr>
                <a:srgbClr val="B2BB1E"/>
              </a:buClr>
              <a:buSzPts val="2000"/>
              <a:buFont typeface="Arial"/>
              <a:buChar char="•"/>
            </a:pPr>
            <a:r>
              <a:rPr b="0" i="0" lang="en-US" sz="2000" u="none" cap="none" strike="noStrike">
                <a:solidFill>
                  <a:srgbClr val="6EB9FC"/>
                </a:solidFill>
                <a:latin typeface="Lora"/>
                <a:ea typeface="Lora"/>
                <a:cs typeface="Lora"/>
                <a:sym typeface="Lora"/>
              </a:rPr>
              <a:t>Is experienced in uniquely personal situations</a:t>
            </a:r>
            <a:endParaRPr/>
          </a:p>
          <a:p>
            <a:pPr indent="0" lvl="0" marL="0" marR="0" rtl="0" algn="l">
              <a:lnSpc>
                <a:spcPct val="110000"/>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t/>
            </a:r>
            <a:endParaRPr b="0" i="0" sz="2000" u="none" cap="none" strike="noStrike">
              <a:solidFill>
                <a:srgbClr val="6EB9FC"/>
              </a:solidFill>
              <a:latin typeface="Lora"/>
              <a:ea typeface="Lora"/>
              <a:cs typeface="Lora"/>
              <a:sym typeface="Lora"/>
            </a:endParaRPr>
          </a:p>
        </p:txBody>
      </p:sp>
      <p:pic>
        <p:nvPicPr>
          <p:cNvPr descr="Water coming out of shower" id="66" name="Google Shape;66;p45"/>
          <p:cNvPicPr preferRelativeResize="0"/>
          <p:nvPr/>
        </p:nvPicPr>
        <p:blipFill rotWithShape="1">
          <a:blip r:embed="rId3">
            <a:alphaModFix/>
          </a:blip>
          <a:srcRect b="0" l="0" r="0" t="0"/>
          <a:stretch/>
        </p:blipFill>
        <p:spPr>
          <a:xfrm>
            <a:off x="416105" y="2380592"/>
            <a:ext cx="5452196" cy="4083270"/>
          </a:xfrm>
          <a:prstGeom prst="rect">
            <a:avLst/>
          </a:prstGeom>
          <a:noFill/>
          <a:ln>
            <a:noFill/>
          </a:ln>
        </p:spPr>
      </p:pic>
      <p:sp>
        <p:nvSpPr>
          <p:cNvPr id="67" name="Google Shape;67;p45"/>
          <p:cNvSpPr/>
          <p:nvPr/>
        </p:nvSpPr>
        <p:spPr>
          <a:xfrm>
            <a:off x="578581" y="6612386"/>
            <a:ext cx="5289720" cy="41348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600" u="none" cap="none" strike="noStrike">
                <a:solidFill>
                  <a:srgbClr val="6EB9FC"/>
                </a:solidFill>
                <a:latin typeface="Lora"/>
                <a:ea typeface="Lora"/>
                <a:cs typeface="Lora"/>
                <a:sym typeface="Lora"/>
              </a:rPr>
              <a:t>Refer to lesson 32 for a more detailed explanation.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46"/>
          <p:cNvSpPr/>
          <p:nvPr/>
        </p:nvSpPr>
        <p:spPr>
          <a:xfrm>
            <a:off x="416105" y="432304"/>
            <a:ext cx="10579439"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F98AC7"/>
              </a:buClr>
              <a:buSzPts val="3700"/>
              <a:buFont typeface="Lora"/>
              <a:buNone/>
            </a:pPr>
            <a:r>
              <a:rPr b="0" i="0" lang="en-US" sz="4400" u="none" cap="none" strike="noStrike">
                <a:solidFill>
                  <a:srgbClr val="6EB9FC"/>
                </a:solidFill>
                <a:latin typeface="Lora"/>
                <a:ea typeface="Lora"/>
                <a:cs typeface="Lora"/>
                <a:sym typeface="Lora"/>
              </a:rPr>
              <a:t>Spark 1: Lived Experience </a:t>
            </a:r>
            <a:endParaRPr b="0" i="0" sz="4400" u="none" cap="none" strike="noStrike">
              <a:solidFill>
                <a:srgbClr val="6EB9FC"/>
              </a:solidFill>
              <a:latin typeface="Lora"/>
              <a:ea typeface="Lora"/>
              <a:cs typeface="Lora"/>
              <a:sym typeface="Lora"/>
            </a:endParaRPr>
          </a:p>
        </p:txBody>
      </p:sp>
      <p:sp>
        <p:nvSpPr>
          <p:cNvPr id="74" name="Google Shape;74;p46"/>
          <p:cNvSpPr/>
          <p:nvPr/>
        </p:nvSpPr>
        <p:spPr>
          <a:xfrm>
            <a:off x="6342441" y="1432869"/>
            <a:ext cx="7045499" cy="53862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The author of this lesson once worked in a Japanese oil refinery with a team of international advisors. After an Australian colleague had an unexpected issue with his work permit and had to suddenly leave/re-enter Japan to obtain a working visa to which the permit could be applied, he scolded his Japanese colleague, shouting, “This is all your fault! Don’t you want me to work here?!” The Japanese staffer had merely – and correctly -  followed permit  protocol. While the Australian was red in the face and held an intense stare, his Japanese counterpart (who had completed his task correctly) avoided eye contact, maintained a calm voice and apologized, saying “ I am very sorry – it won’t happen again.”</a:t>
            </a:r>
            <a:endParaRPr/>
          </a:p>
          <a:p>
            <a:pPr indent="0" lvl="0" marL="0" marR="0" rtl="0" algn="l">
              <a:lnSpc>
                <a:spcPct val="100000"/>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342900" lvl="0" marL="342900" marR="0" rtl="0" algn="l">
              <a:lnSpc>
                <a:spcPct val="110000"/>
              </a:lnSpc>
              <a:spcBef>
                <a:spcPts val="0"/>
              </a:spcBef>
              <a:spcAft>
                <a:spcPts val="0"/>
              </a:spcAft>
              <a:buClr>
                <a:srgbClr val="B2BB1E"/>
              </a:buClr>
              <a:buSzPts val="2000"/>
              <a:buFont typeface="Arial"/>
              <a:buChar char="•"/>
            </a:pPr>
            <a:r>
              <a:rPr b="0" i="0" lang="en-US" sz="2000" u="none" cap="none" strike="noStrike">
                <a:solidFill>
                  <a:srgbClr val="6EB9FC"/>
                </a:solidFill>
                <a:latin typeface="Lora"/>
                <a:ea typeface="Lora"/>
                <a:cs typeface="Lora"/>
                <a:sym typeface="Lora"/>
              </a:rPr>
              <a:t>What emotions can you identify from this exchange? What emotions may be present but not observable? List them in your notes or discuss with a partner.</a:t>
            </a:r>
            <a:endParaRPr/>
          </a:p>
          <a:p>
            <a:pPr indent="-342900" lvl="0" marL="342900" marR="0" rtl="0" algn="l">
              <a:lnSpc>
                <a:spcPct val="110000"/>
              </a:lnSpc>
              <a:spcBef>
                <a:spcPts val="0"/>
              </a:spcBef>
              <a:spcAft>
                <a:spcPts val="0"/>
              </a:spcAft>
              <a:buClr>
                <a:srgbClr val="B2BB1E"/>
              </a:buClr>
              <a:buSzPts val="2000"/>
              <a:buFont typeface="Arial"/>
              <a:buChar char="•"/>
            </a:pPr>
            <a:r>
              <a:rPr b="0" i="0" lang="en-US" sz="2000" u="none" cap="none" strike="noStrike">
                <a:solidFill>
                  <a:srgbClr val="6EB9FC"/>
                </a:solidFill>
                <a:latin typeface="Lora"/>
                <a:ea typeface="Lora"/>
                <a:cs typeface="Lora"/>
                <a:sym typeface="Lora"/>
              </a:rPr>
              <a:t>How do you think the relationship between these colleagues has changed because of this outburst?</a:t>
            </a:r>
            <a:endParaRPr/>
          </a:p>
          <a:p>
            <a:pPr indent="-342900" lvl="0" marL="342900" marR="0" rtl="0" algn="l">
              <a:lnSpc>
                <a:spcPct val="110000"/>
              </a:lnSpc>
              <a:spcBef>
                <a:spcPts val="0"/>
              </a:spcBef>
              <a:spcAft>
                <a:spcPts val="0"/>
              </a:spcAft>
              <a:buClr>
                <a:srgbClr val="B2BB1E"/>
              </a:buClr>
              <a:buSzPts val="2000"/>
              <a:buFont typeface="Arial"/>
              <a:buChar char="•"/>
            </a:pPr>
            <a:r>
              <a:rPr b="0" i="0" lang="en-US" sz="2000" u="none" cap="none" strike="noStrike">
                <a:solidFill>
                  <a:srgbClr val="6EB9FC"/>
                </a:solidFill>
                <a:latin typeface="Lora"/>
                <a:ea typeface="Lora"/>
                <a:cs typeface="Lora"/>
                <a:sym typeface="Lora"/>
              </a:rPr>
              <a:t>If in a group, please share your experiences and show how emotions can charge situations</a:t>
            </a:r>
            <a:endParaRPr/>
          </a:p>
          <a:p>
            <a:pPr indent="0" lvl="0" marL="0" marR="0" rtl="0" algn="l">
              <a:lnSpc>
                <a:spcPct val="125675"/>
              </a:lnSpc>
              <a:spcBef>
                <a:spcPts val="0"/>
              </a:spcBef>
              <a:spcAft>
                <a:spcPts val="0"/>
              </a:spcAft>
              <a:buNone/>
            </a:pPr>
            <a:r>
              <a:t/>
            </a:r>
            <a:endParaRPr b="0" i="0" sz="2000" u="none" cap="none" strike="noStrike">
              <a:solidFill>
                <a:srgbClr val="6EB9FC"/>
              </a:solidFill>
              <a:latin typeface="Lora"/>
              <a:ea typeface="Lora"/>
              <a:cs typeface="Lora"/>
              <a:sym typeface="Lora"/>
            </a:endParaRPr>
          </a:p>
        </p:txBody>
      </p:sp>
      <p:pic>
        <p:nvPicPr>
          <p:cNvPr descr="Water coming out of shower" id="75" name="Google Shape;75;p46"/>
          <p:cNvPicPr preferRelativeResize="0"/>
          <p:nvPr/>
        </p:nvPicPr>
        <p:blipFill rotWithShape="1">
          <a:blip r:embed="rId3">
            <a:alphaModFix/>
          </a:blip>
          <a:srcRect b="0" l="0" r="0" t="0"/>
          <a:stretch/>
        </p:blipFill>
        <p:spPr>
          <a:xfrm>
            <a:off x="416105" y="2380592"/>
            <a:ext cx="5452196" cy="4083270"/>
          </a:xfrm>
          <a:prstGeom prst="rect">
            <a:avLst/>
          </a:prstGeom>
          <a:noFill/>
          <a:ln>
            <a:noFill/>
          </a:ln>
        </p:spPr>
      </p:pic>
      <p:sp>
        <p:nvSpPr>
          <p:cNvPr id="76" name="Google Shape;76;p46"/>
          <p:cNvSpPr/>
          <p:nvPr/>
        </p:nvSpPr>
        <p:spPr>
          <a:xfrm>
            <a:off x="578581" y="6612386"/>
            <a:ext cx="5289720" cy="41348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600" u="none" cap="none" strike="noStrike">
              <a:solidFill>
                <a:srgbClr val="6EB9FC"/>
              </a:solidFill>
              <a:latin typeface="Lora"/>
              <a:ea typeface="Lora"/>
              <a:cs typeface="Lora"/>
              <a:sym typeface="Lo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descr="preencoded.png" id="82" name="Google Shape;82;p47"/>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83" name="Google Shape;83;p47"/>
          <p:cNvSpPr/>
          <p:nvPr/>
        </p:nvSpPr>
        <p:spPr>
          <a:xfrm>
            <a:off x="5987621" y="2314395"/>
            <a:ext cx="7733824" cy="36008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None/>
            </a:pPr>
            <a:r>
              <a:rPr b="0" i="0" lang="en-US" sz="4000" u="none" cap="none" strike="noStrike">
                <a:solidFill>
                  <a:srgbClr val="6EB9FC"/>
                </a:solidFill>
                <a:latin typeface="Lora"/>
                <a:ea typeface="Lora"/>
                <a:cs typeface="Lora"/>
                <a:sym typeface="Lora"/>
              </a:rPr>
              <a:t>“Emotions are not the problem—they're information. </a:t>
            </a:r>
            <a:endParaRPr/>
          </a:p>
          <a:p>
            <a:pPr indent="0" lvl="0" marL="0" marR="0" rtl="0" algn="l">
              <a:lnSpc>
                <a:spcPct val="125675"/>
              </a:lnSpc>
              <a:spcBef>
                <a:spcPts val="0"/>
              </a:spcBef>
              <a:spcAft>
                <a:spcPts val="0"/>
              </a:spcAft>
              <a:buNone/>
            </a:pPr>
            <a:r>
              <a:rPr b="0" i="0" lang="en-US" sz="4000" u="none" cap="none" strike="noStrike">
                <a:solidFill>
                  <a:srgbClr val="6EB9FC"/>
                </a:solidFill>
                <a:latin typeface="Lora"/>
                <a:ea typeface="Lora"/>
                <a:cs typeface="Lora"/>
                <a:sym typeface="Lora"/>
              </a:rPr>
              <a:t>Learning to use them leads to better decisions.” </a:t>
            </a:r>
            <a:endParaRPr b="0" i="0" sz="40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t/>
            </a:r>
            <a:endParaRPr b="0" i="0" sz="40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4000" u="none" cap="none" strike="noStrike">
                <a:solidFill>
                  <a:srgbClr val="6EB9FC"/>
                </a:solidFill>
                <a:latin typeface="Lora"/>
                <a:ea typeface="Lora"/>
                <a:cs typeface="Lora"/>
                <a:sym typeface="Lora"/>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preencoded.png" id="89" name="Google Shape;89;p48"/>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90" name="Google Shape;90;p48"/>
          <p:cNvSpPr/>
          <p:nvPr/>
        </p:nvSpPr>
        <p:spPr>
          <a:xfrm>
            <a:off x="5828595" y="286812"/>
            <a:ext cx="7733824" cy="36008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None/>
            </a:pPr>
            <a:r>
              <a:rPr b="0" i="0" lang="en-US" sz="4000" u="none" cap="none" strike="noStrike">
                <a:solidFill>
                  <a:srgbClr val="6EB9FC"/>
                </a:solidFill>
                <a:latin typeface="Lora"/>
                <a:ea typeface="Lora"/>
                <a:cs typeface="Lora"/>
                <a:sym typeface="Lora"/>
              </a:rPr>
              <a:t>Emotional Data Checklist (Pre)</a:t>
            </a:r>
            <a:endParaRPr/>
          </a:p>
          <a:p>
            <a:pPr indent="0" lvl="0" marL="0" marR="0" rtl="0" algn="l">
              <a:lnSpc>
                <a:spcPct val="125675"/>
              </a:lnSpc>
              <a:spcBef>
                <a:spcPts val="0"/>
              </a:spcBef>
              <a:spcAft>
                <a:spcPts val="0"/>
              </a:spcAft>
              <a:buNone/>
            </a:pPr>
            <a:r>
              <a:t/>
            </a:r>
            <a:endParaRPr b="0" i="0" sz="40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2800" u="none" cap="none" strike="noStrike">
                <a:solidFill>
                  <a:srgbClr val="6EB9FC"/>
                </a:solidFill>
                <a:latin typeface="Lora"/>
                <a:ea typeface="Lora"/>
                <a:cs typeface="Lora"/>
                <a:sym typeface="Lora"/>
              </a:rPr>
              <a:t>How adept are you at recognizing your colleagues’ emotional signals? Try the quiz on the next slide to match emotions with observable visual and spoken expressions to see how well you can perceive ‘feeling data.’ </a:t>
            </a:r>
            <a:endParaRPr/>
          </a:p>
          <a:p>
            <a:pPr indent="0" lvl="0" marL="0" marR="0" rtl="0" algn="l">
              <a:lnSpc>
                <a:spcPct val="125675"/>
              </a:lnSpc>
              <a:spcBef>
                <a:spcPts val="0"/>
              </a:spcBef>
              <a:spcAft>
                <a:spcPts val="0"/>
              </a:spcAft>
              <a:buNone/>
            </a:pPr>
            <a:r>
              <a:t/>
            </a:r>
            <a:endParaRPr b="0" i="0" sz="28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2800" u="none" cap="none" strike="noStrike">
                <a:solidFill>
                  <a:srgbClr val="6EB9FC"/>
                </a:solidFill>
                <a:latin typeface="Lora"/>
                <a:ea typeface="Lora"/>
                <a:cs typeface="Lora"/>
                <a:sym typeface="Lora"/>
              </a:rPr>
              <a:t>This is not a ‘pass or fail’ type of quiz.</a:t>
            </a:r>
            <a:endParaRPr b="0" i="0" sz="28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t/>
            </a:r>
            <a:endParaRPr b="0" i="0" sz="28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2800" u="none" cap="none" strike="noStrike">
                <a:solidFill>
                  <a:srgbClr val="6EB9FC"/>
                </a:solidFill>
                <a:latin typeface="Lora"/>
                <a:ea typeface="Lora"/>
                <a:cs typeface="Lora"/>
                <a:sym typeface="Lora"/>
              </a:rPr>
              <a:t>At the end of this lesson, you’ll have a chance to retake this quiz to compare your progress.</a:t>
            </a:r>
            <a:endParaRPr/>
          </a:p>
          <a:p>
            <a:pPr indent="0" lvl="0" marL="0" marR="0" rtl="0" algn="l">
              <a:lnSpc>
                <a:spcPct val="125675"/>
              </a:lnSpc>
              <a:spcBef>
                <a:spcPts val="0"/>
              </a:spcBef>
              <a:spcAft>
                <a:spcPts val="0"/>
              </a:spcAft>
              <a:buNone/>
            </a:pPr>
            <a:r>
              <a:t/>
            </a:r>
            <a:endParaRPr b="0" i="0" sz="40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4000" u="none" cap="none" strike="noStrike">
                <a:solidFill>
                  <a:srgbClr val="6EB9FC"/>
                </a:solidFill>
                <a:latin typeface="Lora"/>
                <a:ea typeface="Lora"/>
                <a:cs typeface="Lora"/>
                <a:sym typeface="Lora"/>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descr="preencoded.png" id="96" name="Google Shape;96;p49"/>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97" name="Google Shape;97;p49"/>
          <p:cNvSpPr/>
          <p:nvPr/>
        </p:nvSpPr>
        <p:spPr>
          <a:xfrm>
            <a:off x="5828595" y="286812"/>
            <a:ext cx="7733824" cy="36008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None/>
            </a:pPr>
            <a:r>
              <a:rPr b="0" i="0" lang="en-US" sz="4000" u="none" cap="none" strike="noStrike">
                <a:solidFill>
                  <a:srgbClr val="6EB9FC"/>
                </a:solidFill>
                <a:latin typeface="Lora"/>
                <a:ea typeface="Lora"/>
                <a:cs typeface="Lora"/>
                <a:sym typeface="Lora"/>
              </a:rPr>
              <a:t>Emotional Data Checklist (Pre) KEY</a:t>
            </a:r>
            <a:endParaRPr/>
          </a:p>
          <a:p>
            <a:pPr indent="0" lvl="0" marL="0" marR="0" rtl="0" algn="l">
              <a:lnSpc>
                <a:spcPct val="125675"/>
              </a:lnSpc>
              <a:spcBef>
                <a:spcPts val="0"/>
              </a:spcBef>
              <a:spcAft>
                <a:spcPts val="0"/>
              </a:spcAft>
              <a:buNone/>
            </a:pPr>
            <a:r>
              <a:t/>
            </a:r>
            <a:endParaRPr b="0" i="0" sz="40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t/>
            </a:r>
            <a:endParaRPr b="0" i="0" sz="40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4000" u="none" cap="none" strike="noStrike">
                <a:solidFill>
                  <a:srgbClr val="6EB9FC"/>
                </a:solidFill>
                <a:latin typeface="Lora"/>
                <a:ea typeface="Lora"/>
                <a:cs typeface="Lora"/>
                <a:sym typeface="Lora"/>
              </a:rPr>
              <a:t> </a:t>
            </a:r>
            <a:endParaRPr/>
          </a:p>
        </p:txBody>
      </p:sp>
      <p:graphicFrame>
        <p:nvGraphicFramePr>
          <p:cNvPr id="98" name="Google Shape;98;p49"/>
          <p:cNvGraphicFramePr/>
          <p:nvPr/>
        </p:nvGraphicFramePr>
        <p:xfrm>
          <a:off x="3591339" y="1718270"/>
          <a:ext cx="3000000" cy="3000000"/>
        </p:xfrm>
        <a:graphic>
          <a:graphicData uri="http://schemas.openxmlformats.org/drawingml/2006/table">
            <a:tbl>
              <a:tblPr bandRow="1" firstCol="1" firstRow="1">
                <a:noFill/>
                <a:tableStyleId>{18E5E96C-47DB-4E8C-8881-DDB6A22421CA}</a:tableStyleId>
              </a:tblPr>
              <a:tblGrid>
                <a:gridCol w="2362825"/>
                <a:gridCol w="4406900"/>
                <a:gridCol w="2717800"/>
              </a:tblGrid>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Identity</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Physical Features</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Vocal Features</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Angry Brazilian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Frowning; direct eye contact; tense jaw, hand gestures</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Raised, loud, passionate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Angry Chinese</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Face neutral or slightly tight mouth</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Quiet and firm, cold, clipped cadence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Confused Japanese</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Nods politely, may ask questions later</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Polite and respectful, pausing before speaking</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Confused West African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Subtle gesture or questioning look, hesitant to interrupt</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Quiet, polite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Disappointed Phillipino</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Sad eyes, polite smile</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Quiet and resigned</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Disappointed Western European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Frown and/or downcast eyes</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Serious, somber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Disappointed South Asian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Sad expression, and a solemn look</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Quiet and somber; a sigh</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Loyal Israeli</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Serious</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Strong, maybe aggressive, very direct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Loyal Chinese</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Unchanging expression, serious</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Firm, respectful, and serious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Mentally Fatigued Mexican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Slumped posture, rubbing the eyes or temples</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Sighs, a slow and tired voice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Mentally Fatigued South Korean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Tired smile, slightly slumped posture</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Quiet and tired voice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Menatally Fatigued West African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Yawns, rubbing eyes, or a deep sigh.</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Tired, slow, slightly slurred speech</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Proud Brazillian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Open, beaming smile; posture is upright and confident, may 'high-five' people</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Loud, enthusiastic, and confident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Proud Muslim Middle Easterner or Iranian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Broad smile, confident posture; can be very expressive</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Warm, but not very assertive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Proud North American (East Coast)</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Open, confident smile, upright posture; direct eye contact</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Confident, assertive, enthusiastic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Stressed Colombian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Frowning;  tense posture, quickened pace</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Quick, sometimes shaky or frustrated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Stressed South Korean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Hunched back, hurried pace, serious expression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Hurried, often quiet, serious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Stressed Western European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Fidgeting, sighing, or a tired, strained look</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Sighing, tense, maybe frustrated tone</a:t>
                      </a:r>
                      <a:endParaRPr sz="1100" u="none" cap="none" strike="noStrike">
                        <a:latin typeface="Arial"/>
                        <a:ea typeface="Arial"/>
                        <a:cs typeface="Arial"/>
                        <a:sym typeface="Arial"/>
                      </a:endParaRPr>
                    </a:p>
                  </a:txBody>
                  <a:tcPr marT="0" marB="0" marR="68575" marL="6857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50"/>
          <p:cNvSpPr/>
          <p:nvPr/>
        </p:nvSpPr>
        <p:spPr>
          <a:xfrm>
            <a:off x="1656523" y="633671"/>
            <a:ext cx="10579439"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F98AC7"/>
              </a:buClr>
              <a:buSzPts val="3700"/>
              <a:buFont typeface="Lora"/>
              <a:buNone/>
            </a:pPr>
            <a:r>
              <a:rPr b="0" i="0" lang="en-US" sz="4400" u="none" cap="none" strike="noStrike">
                <a:solidFill>
                  <a:srgbClr val="6EB9FC"/>
                </a:solidFill>
                <a:latin typeface="Lora"/>
                <a:ea typeface="Lora"/>
                <a:cs typeface="Lora"/>
                <a:sym typeface="Lora"/>
              </a:rPr>
              <a:t>Spark 2: Meet the Brain</a:t>
            </a:r>
            <a:endParaRPr b="0" i="0" sz="4400" u="none" cap="none" strike="noStrike">
              <a:solidFill>
                <a:srgbClr val="6EB9FC"/>
              </a:solidFill>
              <a:latin typeface="Lora"/>
              <a:ea typeface="Lora"/>
              <a:cs typeface="Lora"/>
              <a:sym typeface="Lora"/>
            </a:endParaRPr>
          </a:p>
        </p:txBody>
      </p:sp>
      <p:sp>
        <p:nvSpPr>
          <p:cNvPr id="105" name="Google Shape;105;p50"/>
          <p:cNvSpPr/>
          <p:nvPr/>
        </p:nvSpPr>
        <p:spPr>
          <a:xfrm>
            <a:off x="1656523" y="1818581"/>
            <a:ext cx="11731418" cy="538626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None/>
            </a:pPr>
            <a:r>
              <a:rPr b="0" i="0" lang="en-US" sz="2800" u="none" cap="none" strike="noStrike">
                <a:solidFill>
                  <a:srgbClr val="6EB9FC"/>
                </a:solidFill>
                <a:latin typeface="Lora"/>
                <a:ea typeface="Lora"/>
                <a:cs typeface="Lora"/>
                <a:sym typeface="Lora"/>
              </a:rPr>
              <a:t>Reflection Activity:</a:t>
            </a:r>
            <a:endParaRPr/>
          </a:p>
          <a:p>
            <a:pPr indent="0" lvl="0" marL="0" marR="0" rtl="0" algn="l">
              <a:lnSpc>
                <a:spcPct val="125675"/>
              </a:lnSpc>
              <a:spcBef>
                <a:spcPts val="0"/>
              </a:spcBef>
              <a:spcAft>
                <a:spcPts val="0"/>
              </a:spcAft>
              <a:buNone/>
            </a:pPr>
            <a:r>
              <a:t/>
            </a:r>
            <a:endParaRPr b="0" i="0" sz="28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2800" u="none" cap="none" strike="noStrike">
                <a:solidFill>
                  <a:srgbClr val="6EB9FC"/>
                </a:solidFill>
                <a:latin typeface="Lora"/>
                <a:ea typeface="Lora"/>
                <a:cs typeface="Lora"/>
                <a:sym typeface="Lora"/>
              </a:rPr>
              <a:t>Have you ever felt uncomfortable at work because of what you thought other people might be saying about you or doing something to prevent you from reaching a goal? Note the situation down.</a:t>
            </a:r>
            <a:endParaRPr/>
          </a:p>
          <a:p>
            <a:pPr indent="0" lvl="0" marL="0" marR="0" rtl="0" algn="l">
              <a:lnSpc>
                <a:spcPct val="125675"/>
              </a:lnSpc>
              <a:spcBef>
                <a:spcPts val="0"/>
              </a:spcBef>
              <a:spcAft>
                <a:spcPts val="0"/>
              </a:spcAft>
              <a:buNone/>
            </a:pPr>
            <a:r>
              <a:t/>
            </a:r>
            <a:endParaRPr b="0" i="0" sz="28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2800" u="none" cap="none" strike="noStrike">
                <a:solidFill>
                  <a:srgbClr val="6EB9FC"/>
                </a:solidFill>
                <a:latin typeface="Lora"/>
                <a:ea typeface="Lora"/>
                <a:cs typeface="Lora"/>
                <a:sym typeface="Lora"/>
              </a:rPr>
              <a:t>Maybe you were being, judged, rejected, or felt inadequate.</a:t>
            </a:r>
            <a:endParaRPr/>
          </a:p>
          <a:p>
            <a:pPr indent="0" lvl="0" marL="0" marR="0" rtl="0" algn="l">
              <a:lnSpc>
                <a:spcPct val="125675"/>
              </a:lnSpc>
              <a:spcBef>
                <a:spcPts val="0"/>
              </a:spcBef>
              <a:spcAft>
                <a:spcPts val="0"/>
              </a:spcAft>
              <a:buNone/>
            </a:pPr>
            <a:r>
              <a:t/>
            </a:r>
            <a:endParaRPr b="0" i="0" sz="28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2800" u="none" cap="none" strike="noStrike">
                <a:solidFill>
                  <a:srgbClr val="6EB9FC"/>
                </a:solidFill>
                <a:latin typeface="Lora"/>
                <a:ea typeface="Lora"/>
                <a:cs typeface="Lora"/>
                <a:sym typeface="Lora"/>
              </a:rPr>
              <a:t>Note your feelings down. </a:t>
            </a:r>
            <a:r>
              <a:rPr b="0" i="1" lang="en-US" sz="2800" u="none" cap="none" strike="noStrike">
                <a:solidFill>
                  <a:srgbClr val="6EB9FC"/>
                </a:solidFill>
                <a:latin typeface="Lora"/>
                <a:ea typeface="Lora"/>
                <a:cs typeface="Lora"/>
                <a:sym typeface="Lora"/>
              </a:rPr>
              <a:t>It’s okay if these feelings were unpleasant.</a:t>
            </a:r>
            <a:endParaRPr/>
          </a:p>
          <a:p>
            <a:pPr indent="-228600" lvl="0" marL="457200" marR="0" rtl="0" algn="l">
              <a:lnSpc>
                <a:spcPct val="100000"/>
              </a:lnSpc>
              <a:spcBef>
                <a:spcPts val="0"/>
              </a:spcBef>
              <a:spcAft>
                <a:spcPts val="0"/>
              </a:spcAft>
              <a:buNone/>
            </a:pPr>
            <a:r>
              <a:t/>
            </a:r>
            <a:endParaRPr b="0" i="0" sz="2800" u="none" cap="none" strike="noStrike">
              <a:solidFill>
                <a:srgbClr val="6EB9FC"/>
              </a:solidFill>
              <a:latin typeface="Lora"/>
              <a:ea typeface="Lora"/>
              <a:cs typeface="Lora"/>
              <a:sym typeface="Lora"/>
            </a:endParaRPr>
          </a:p>
          <a:p>
            <a:pPr indent="-228600" lvl="0" marL="457200" marR="0" rtl="0" algn="l">
              <a:lnSpc>
                <a:spcPct val="100000"/>
              </a:lnSpc>
              <a:spcBef>
                <a:spcPts val="0"/>
              </a:spcBef>
              <a:spcAft>
                <a:spcPts val="0"/>
              </a:spcAft>
              <a:buNone/>
            </a:pPr>
            <a:r>
              <a:t/>
            </a:r>
            <a:endParaRPr b="0" i="0" sz="2800" u="none" cap="none" strike="noStrike">
              <a:solidFill>
                <a:srgbClr val="6EB9FC"/>
              </a:solidFill>
              <a:latin typeface="Lora"/>
              <a:ea typeface="Lora"/>
              <a:cs typeface="Lora"/>
              <a:sym typeface="Lora"/>
            </a:endParaRPr>
          </a:p>
          <a:p>
            <a:pPr indent="-228600" lvl="0" marL="457200" marR="0" rtl="0" algn="l">
              <a:lnSpc>
                <a:spcPct val="100000"/>
              </a:lnSpc>
              <a:spcBef>
                <a:spcPts val="0"/>
              </a:spcBef>
              <a:spcAft>
                <a:spcPts val="0"/>
              </a:spcAft>
              <a:buNone/>
            </a:pPr>
            <a:r>
              <a:t/>
            </a:r>
            <a:endParaRPr b="0" i="0" sz="2800" u="none" cap="none" strike="noStrike">
              <a:solidFill>
                <a:srgbClr val="6EB9FC"/>
              </a:solidFill>
              <a:latin typeface="Lora"/>
              <a:ea typeface="Lora"/>
              <a:cs typeface="Lora"/>
              <a:sym typeface="Lora"/>
            </a:endParaRPr>
          </a:p>
          <a:p>
            <a:pPr indent="-228600" lvl="0" marL="457200" marR="0" rtl="0" algn="l">
              <a:lnSpc>
                <a:spcPct val="100000"/>
              </a:lnSpc>
              <a:spcBef>
                <a:spcPts val="0"/>
              </a:spcBef>
              <a:spcAft>
                <a:spcPts val="0"/>
              </a:spcAft>
              <a:buNone/>
            </a:pPr>
            <a:r>
              <a:t/>
            </a:r>
            <a:endParaRPr b="0" i="0" sz="28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2800" u="none" cap="none" strike="noStrike">
                <a:solidFill>
                  <a:srgbClr val="6EB9FC"/>
                </a:solidFill>
                <a:latin typeface="Lora"/>
                <a:ea typeface="Lora"/>
                <a:cs typeface="Lora"/>
                <a:sym typeface="Lora"/>
              </a:rPr>
              <a:t> </a:t>
            </a:r>
            <a:endParaRPr b="0" i="0" sz="2800" u="none" cap="none" strike="noStrike">
              <a:solidFill>
                <a:srgbClr val="6EB9FC"/>
              </a:solidFill>
              <a:latin typeface="Lora"/>
              <a:ea typeface="Lora"/>
              <a:cs typeface="Lora"/>
              <a:sym typeface="Lor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1"/>
          <p:cNvSpPr/>
          <p:nvPr/>
        </p:nvSpPr>
        <p:spPr>
          <a:xfrm>
            <a:off x="1656523" y="633671"/>
            <a:ext cx="10579439"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F98AC7"/>
              </a:buClr>
              <a:buSzPts val="3700"/>
              <a:buFont typeface="Lora"/>
              <a:buNone/>
            </a:pPr>
            <a:r>
              <a:rPr b="0" i="0" lang="en-US" sz="4400" u="none" cap="none" strike="noStrike">
                <a:solidFill>
                  <a:srgbClr val="6EB9FC"/>
                </a:solidFill>
                <a:latin typeface="Lora"/>
                <a:ea typeface="Lora"/>
                <a:cs typeface="Lora"/>
                <a:sym typeface="Lora"/>
              </a:rPr>
              <a:t>Spark 2: Meet the Brain</a:t>
            </a:r>
            <a:endParaRPr b="0" i="0" sz="4400" u="none" cap="none" strike="noStrike">
              <a:solidFill>
                <a:srgbClr val="6EB9FC"/>
              </a:solidFill>
              <a:latin typeface="Lora"/>
              <a:ea typeface="Lora"/>
              <a:cs typeface="Lora"/>
              <a:sym typeface="Lora"/>
            </a:endParaRPr>
          </a:p>
        </p:txBody>
      </p:sp>
      <p:sp>
        <p:nvSpPr>
          <p:cNvPr id="112" name="Google Shape;112;p51"/>
          <p:cNvSpPr/>
          <p:nvPr/>
        </p:nvSpPr>
        <p:spPr>
          <a:xfrm>
            <a:off x="1656523" y="1818581"/>
            <a:ext cx="11731418" cy="538626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None/>
            </a:pPr>
            <a:r>
              <a:rPr b="0" i="0" lang="en-US" sz="2800" u="none" cap="none" strike="noStrike">
                <a:solidFill>
                  <a:srgbClr val="6EB9FC"/>
                </a:solidFill>
                <a:latin typeface="Lora"/>
                <a:ea typeface="Lora"/>
                <a:cs typeface="Lora"/>
                <a:sym typeface="Lora"/>
              </a:rPr>
              <a:t>Reflection Activity:</a:t>
            </a:r>
            <a:endParaRPr/>
          </a:p>
          <a:p>
            <a:pPr indent="0" lvl="0" marL="0" marR="0" rtl="0" algn="l">
              <a:lnSpc>
                <a:spcPct val="125675"/>
              </a:lnSpc>
              <a:spcBef>
                <a:spcPts val="0"/>
              </a:spcBef>
              <a:spcAft>
                <a:spcPts val="0"/>
              </a:spcAft>
              <a:buNone/>
            </a:pPr>
            <a:r>
              <a:t/>
            </a:r>
            <a:endParaRPr b="0" i="0" sz="28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800" u="none" cap="none" strike="noStrike">
                <a:solidFill>
                  <a:srgbClr val="6EB9FC"/>
                </a:solidFill>
                <a:latin typeface="Lora"/>
                <a:ea typeface="Lora"/>
                <a:cs typeface="Lora"/>
                <a:sym typeface="Lora"/>
              </a:rPr>
              <a:t>In the next slide, psychologist Dr. Russ Harris explains why our minds will tend to ‘default’ to negative thinking about some of life’s situations. </a:t>
            </a:r>
            <a:endParaRPr/>
          </a:p>
          <a:p>
            <a:pPr indent="0" lvl="0" marL="0" marR="0" rtl="0" algn="l">
              <a:lnSpc>
                <a:spcPct val="100000"/>
              </a:lnSpc>
              <a:spcBef>
                <a:spcPts val="0"/>
              </a:spcBef>
              <a:spcAft>
                <a:spcPts val="0"/>
              </a:spcAft>
              <a:buNone/>
            </a:pPr>
            <a:r>
              <a:t/>
            </a:r>
            <a:endParaRPr b="0" i="0" sz="2800" u="none" cap="none" strike="noStrike">
              <a:solidFill>
                <a:srgbClr val="6EB9FC"/>
              </a:solidFill>
              <a:latin typeface="Lora"/>
              <a:ea typeface="Lora"/>
              <a:cs typeface="Lora"/>
              <a:sym typeface="Lora"/>
            </a:endParaRPr>
          </a:p>
          <a:p>
            <a:pPr indent="-228600" lvl="0" marL="457200" marR="0" rtl="0" algn="l">
              <a:lnSpc>
                <a:spcPct val="100000"/>
              </a:lnSpc>
              <a:spcBef>
                <a:spcPts val="0"/>
              </a:spcBef>
              <a:spcAft>
                <a:spcPts val="0"/>
              </a:spcAft>
              <a:buNone/>
            </a:pPr>
            <a:r>
              <a:t/>
            </a:r>
            <a:endParaRPr b="0" i="0" sz="2800" u="none" cap="none" strike="noStrike">
              <a:solidFill>
                <a:srgbClr val="6EB9FC"/>
              </a:solidFill>
              <a:latin typeface="Lora"/>
              <a:ea typeface="Lora"/>
              <a:cs typeface="Lora"/>
              <a:sym typeface="Lora"/>
            </a:endParaRPr>
          </a:p>
          <a:p>
            <a:pPr indent="-228600" lvl="0" marL="457200" marR="0" rtl="0" algn="l">
              <a:lnSpc>
                <a:spcPct val="100000"/>
              </a:lnSpc>
              <a:spcBef>
                <a:spcPts val="0"/>
              </a:spcBef>
              <a:spcAft>
                <a:spcPts val="0"/>
              </a:spcAft>
              <a:buNone/>
            </a:pPr>
            <a:r>
              <a:t/>
            </a:r>
            <a:endParaRPr b="0" i="0" sz="2800" u="none" cap="none" strike="noStrike">
              <a:solidFill>
                <a:srgbClr val="6EB9FC"/>
              </a:solidFill>
              <a:latin typeface="Lora"/>
              <a:ea typeface="Lora"/>
              <a:cs typeface="Lora"/>
              <a:sym typeface="Lora"/>
            </a:endParaRPr>
          </a:p>
          <a:p>
            <a:pPr indent="-228600" lvl="0" marL="457200" marR="0" rtl="0" algn="l">
              <a:lnSpc>
                <a:spcPct val="100000"/>
              </a:lnSpc>
              <a:spcBef>
                <a:spcPts val="0"/>
              </a:spcBef>
              <a:spcAft>
                <a:spcPts val="0"/>
              </a:spcAft>
              <a:buNone/>
            </a:pPr>
            <a:r>
              <a:t/>
            </a:r>
            <a:endParaRPr b="0" i="0" sz="28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2800" u="none" cap="none" strike="noStrike">
                <a:solidFill>
                  <a:srgbClr val="6EB9FC"/>
                </a:solidFill>
                <a:latin typeface="Lora"/>
                <a:ea typeface="Lora"/>
                <a:cs typeface="Lora"/>
                <a:sym typeface="Lora"/>
              </a:rPr>
              <a:t> </a:t>
            </a:r>
            <a:endParaRPr b="0" i="0" sz="2800" u="none" cap="none" strike="noStrike">
              <a:solidFill>
                <a:srgbClr val="6EB9FC"/>
              </a:solidFill>
              <a:latin typeface="Lora"/>
              <a:ea typeface="Lora"/>
              <a:cs typeface="Lora"/>
              <a:sym typeface="Lo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52"/>
          <p:cNvPicPr preferRelativeResize="0"/>
          <p:nvPr/>
        </p:nvPicPr>
        <p:blipFill rotWithShape="1">
          <a:blip r:embed="rId3">
            <a:alphaModFix/>
          </a:blip>
          <a:srcRect b="0" l="0" r="0" t="0"/>
          <a:stretch/>
        </p:blipFill>
        <p:spPr>
          <a:xfrm>
            <a:off x="1053548" y="307283"/>
            <a:ext cx="12523304" cy="704435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500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53"/>
          <p:cNvPicPr preferRelativeResize="0"/>
          <p:nvPr/>
        </p:nvPicPr>
        <p:blipFill rotWithShape="1">
          <a:blip r:embed="rId3">
            <a:alphaModFix amt="25000"/>
          </a:blip>
          <a:srcRect b="0" l="0" r="0" t="0"/>
          <a:stretch/>
        </p:blipFill>
        <p:spPr>
          <a:xfrm>
            <a:off x="-159110" y="-567559"/>
            <a:ext cx="14835351" cy="9364717"/>
          </a:xfrm>
          <a:prstGeom prst="rect">
            <a:avLst/>
          </a:prstGeom>
          <a:solidFill>
            <a:schemeClr val="lt1"/>
          </a:solidFill>
          <a:ln>
            <a:noFill/>
          </a:ln>
        </p:spPr>
      </p:pic>
      <p:sp>
        <p:nvSpPr>
          <p:cNvPr id="125" name="Google Shape;125;p53"/>
          <p:cNvSpPr txBox="1"/>
          <p:nvPr/>
        </p:nvSpPr>
        <p:spPr>
          <a:xfrm>
            <a:off x="1726324" y="2412125"/>
            <a:ext cx="11177751" cy="25545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200" u="none" cap="none" strike="noStrike">
                <a:solidFill>
                  <a:srgbClr val="000000"/>
                </a:solidFill>
                <a:latin typeface="Lora"/>
                <a:ea typeface="Lora"/>
                <a:cs typeface="Lora"/>
                <a:sym typeface="Lora"/>
              </a:rPr>
              <a:t>Science can help explain both our </a:t>
            </a:r>
            <a:r>
              <a:rPr b="1" i="0" lang="en-US" sz="3200" u="none" cap="none" strike="noStrike">
                <a:solidFill>
                  <a:srgbClr val="000000"/>
                </a:solidFill>
                <a:latin typeface="Lora"/>
                <a:ea typeface="Lora"/>
                <a:cs typeface="Lora"/>
                <a:sym typeface="Lora"/>
              </a:rPr>
              <a:t>emotional</a:t>
            </a:r>
            <a:r>
              <a:rPr b="0" i="0" lang="en-US" sz="3200" u="none" cap="none" strike="noStrike">
                <a:solidFill>
                  <a:srgbClr val="000000"/>
                </a:solidFill>
                <a:latin typeface="Lora"/>
                <a:ea typeface="Lora"/>
                <a:cs typeface="Lora"/>
                <a:sym typeface="Lora"/>
              </a:rPr>
              <a:t> </a:t>
            </a:r>
            <a:r>
              <a:rPr b="1" i="0" lang="en-US" sz="3200" u="none" cap="none" strike="noStrike">
                <a:solidFill>
                  <a:srgbClr val="000000"/>
                </a:solidFill>
                <a:latin typeface="Lora"/>
                <a:ea typeface="Lora"/>
                <a:cs typeface="Lora"/>
                <a:sym typeface="Lora"/>
              </a:rPr>
              <a:t>and</a:t>
            </a:r>
            <a:r>
              <a:rPr b="0" i="0" lang="en-US" sz="3200" u="none" cap="none" strike="noStrike">
                <a:solidFill>
                  <a:srgbClr val="000000"/>
                </a:solidFill>
                <a:latin typeface="Lora"/>
                <a:ea typeface="Lora"/>
                <a:cs typeface="Lora"/>
                <a:sym typeface="Lora"/>
              </a:rPr>
              <a:t> </a:t>
            </a:r>
            <a:r>
              <a:rPr b="1" i="0" lang="en-US" sz="3200" u="none" cap="none" strike="noStrike">
                <a:solidFill>
                  <a:srgbClr val="000000"/>
                </a:solidFill>
                <a:latin typeface="Lora"/>
                <a:ea typeface="Lora"/>
                <a:cs typeface="Lora"/>
                <a:sym typeface="Lora"/>
              </a:rPr>
              <a:t>physical </a:t>
            </a:r>
            <a:r>
              <a:rPr b="0" i="0" lang="en-US" sz="3200" u="none" cap="none" strike="noStrike">
                <a:solidFill>
                  <a:srgbClr val="000000"/>
                </a:solidFill>
                <a:latin typeface="Lora"/>
                <a:ea typeface="Lora"/>
                <a:cs typeface="Lora"/>
                <a:sym typeface="Lora"/>
              </a:rPr>
              <a:t>reaction to pressure and stress, which is embedded in our genes. As you’ve seen, all animals -including humans- have a built-in survival mechanism that ‘kicks in’ when our brains perceive danger in our environment.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54"/>
          <p:cNvPicPr preferRelativeResize="0"/>
          <p:nvPr/>
        </p:nvPicPr>
        <p:blipFill rotWithShape="1">
          <a:blip r:embed="rId3">
            <a:alphaModFix amt="50000"/>
          </a:blip>
          <a:srcRect b="0" l="0" r="0" t="0"/>
          <a:stretch/>
        </p:blipFill>
        <p:spPr>
          <a:xfrm>
            <a:off x="-159110" y="-567559"/>
            <a:ext cx="14835351" cy="9364717"/>
          </a:xfrm>
          <a:prstGeom prst="rect">
            <a:avLst/>
          </a:prstGeom>
          <a:solidFill>
            <a:schemeClr val="lt1"/>
          </a:solidFill>
          <a:ln>
            <a:noFill/>
          </a:ln>
        </p:spPr>
      </p:pic>
      <p:grpSp>
        <p:nvGrpSpPr>
          <p:cNvPr id="132" name="Google Shape;132;p54"/>
          <p:cNvGrpSpPr/>
          <p:nvPr/>
        </p:nvGrpSpPr>
        <p:grpSpPr>
          <a:xfrm>
            <a:off x="7305075" y="4322917"/>
            <a:ext cx="3873725" cy="2795864"/>
            <a:chOff x="7567591" y="5020485"/>
            <a:chExt cx="3873725" cy="2795864"/>
          </a:xfrm>
        </p:grpSpPr>
        <p:sp>
          <p:nvSpPr>
            <p:cNvPr id="133" name="Google Shape;133;p54"/>
            <p:cNvSpPr txBox="1"/>
            <p:nvPr/>
          </p:nvSpPr>
          <p:spPr>
            <a:xfrm>
              <a:off x="8688013" y="5712731"/>
              <a:ext cx="2753303"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400" u="none" cap="none" strike="noStrike">
                  <a:solidFill>
                    <a:srgbClr val="663300"/>
                  </a:solidFill>
                  <a:latin typeface="Arial"/>
                  <a:ea typeface="Arial"/>
                  <a:cs typeface="Arial"/>
                  <a:sym typeface="Arial"/>
                </a:rPr>
                <a:t>Brain Stem “Reptile Brain”</a:t>
              </a:r>
              <a:endParaRPr b="0" i="0" sz="2400" u="none" cap="none" strike="noStrike">
                <a:solidFill>
                  <a:srgbClr val="002060"/>
                </a:solidFill>
                <a:latin typeface="Lora"/>
                <a:ea typeface="Lora"/>
                <a:cs typeface="Lora"/>
                <a:sym typeface="Lora"/>
              </a:endParaRPr>
            </a:p>
          </p:txBody>
        </p:sp>
        <p:sp>
          <p:nvSpPr>
            <p:cNvPr id="134" name="Google Shape;134;p54"/>
            <p:cNvSpPr/>
            <p:nvPr/>
          </p:nvSpPr>
          <p:spPr>
            <a:xfrm rot="-8931992">
              <a:off x="7897257" y="5466580"/>
              <a:ext cx="2255920" cy="1903673"/>
            </a:xfrm>
            <a:custGeom>
              <a:rect b="b" l="l" r="r" t="t"/>
              <a:pathLst>
                <a:path extrusionOk="0" h="120000" w="120000">
                  <a:moveTo>
                    <a:pt x="15358" y="65571"/>
                  </a:moveTo>
                  <a:cubicBezTo>
                    <a:pt x="12835" y="47764"/>
                    <a:pt x="22581" y="30406"/>
                    <a:pt x="39657" y="22292"/>
                  </a:cubicBezTo>
                  <a:cubicBezTo>
                    <a:pt x="56734" y="14178"/>
                    <a:pt x="77410" y="17080"/>
                    <a:pt x="91209" y="29529"/>
                  </a:cubicBezTo>
                  <a:lnTo>
                    <a:pt x="104490" y="22697"/>
                  </a:lnTo>
                  <a:lnTo>
                    <a:pt x="96526" y="41211"/>
                  </a:lnTo>
                  <a:lnTo>
                    <a:pt x="71193" y="39825"/>
                  </a:lnTo>
                  <a:lnTo>
                    <a:pt x="84372" y="33046"/>
                  </a:lnTo>
                  <a:cubicBezTo>
                    <a:pt x="72041" y="24057"/>
                    <a:pt x="54842" y="22753"/>
                    <a:pt x="41007" y="29758"/>
                  </a:cubicBezTo>
                  <a:cubicBezTo>
                    <a:pt x="27172" y="36764"/>
                    <a:pt x="19515" y="50654"/>
                    <a:pt x="21702" y="64780"/>
                  </a:cubicBezTo>
                  <a:close/>
                </a:path>
              </a:pathLst>
            </a:custGeom>
            <a:solidFill>
              <a:srgbClr val="6633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grpSp>
      <p:grpSp>
        <p:nvGrpSpPr>
          <p:cNvPr id="135" name="Google Shape;135;p54"/>
          <p:cNvGrpSpPr/>
          <p:nvPr/>
        </p:nvGrpSpPr>
        <p:grpSpPr>
          <a:xfrm>
            <a:off x="2814804" y="1888083"/>
            <a:ext cx="5173541" cy="3347766"/>
            <a:chOff x="2814804" y="1888083"/>
            <a:chExt cx="5173541" cy="3347766"/>
          </a:xfrm>
        </p:grpSpPr>
        <p:sp>
          <p:nvSpPr>
            <p:cNvPr id="136" name="Google Shape;136;p54"/>
            <p:cNvSpPr txBox="1"/>
            <p:nvPr/>
          </p:nvSpPr>
          <p:spPr>
            <a:xfrm>
              <a:off x="2814804" y="3722753"/>
              <a:ext cx="3161235"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400" u="none" cap="none" strike="noStrike">
                  <a:solidFill>
                    <a:srgbClr val="548135"/>
                  </a:solidFill>
                  <a:latin typeface="Arial"/>
                  <a:ea typeface="Arial"/>
                  <a:cs typeface="Arial"/>
                  <a:sym typeface="Arial"/>
                </a:rPr>
                <a:t>Limbic System “Mammal Brain”</a:t>
              </a:r>
              <a:endParaRPr/>
            </a:p>
          </p:txBody>
        </p:sp>
        <p:sp>
          <p:nvSpPr>
            <p:cNvPr id="137" name="Google Shape;137;p54"/>
            <p:cNvSpPr/>
            <p:nvPr/>
          </p:nvSpPr>
          <p:spPr>
            <a:xfrm rot="1842920">
              <a:off x="5076340" y="2346982"/>
              <a:ext cx="2464273" cy="2429968"/>
            </a:xfrm>
            <a:custGeom>
              <a:rect b="b" l="l" r="r" t="t"/>
              <a:pathLst>
                <a:path extrusionOk="0" h="120000" w="120000">
                  <a:moveTo>
                    <a:pt x="30538" y="89200"/>
                  </a:moveTo>
                  <a:cubicBezTo>
                    <a:pt x="19146" y="77849"/>
                    <a:pt x="15383" y="60978"/>
                    <a:pt x="20882" y="45907"/>
                  </a:cubicBezTo>
                  <a:cubicBezTo>
                    <a:pt x="26380" y="30836"/>
                    <a:pt x="40148" y="20281"/>
                    <a:pt x="56212" y="18821"/>
                  </a:cubicBezTo>
                  <a:cubicBezTo>
                    <a:pt x="72277" y="17362"/>
                    <a:pt x="87742" y="25262"/>
                    <a:pt x="95899" y="39092"/>
                  </a:cubicBezTo>
                  <a:lnTo>
                    <a:pt x="113875" y="37105"/>
                  </a:lnTo>
                  <a:lnTo>
                    <a:pt x="98553" y="55739"/>
                  </a:lnTo>
                  <a:lnTo>
                    <a:pt x="71709" y="41766"/>
                  </a:lnTo>
                  <a:lnTo>
                    <a:pt x="89626" y="39786"/>
                  </a:lnTo>
                  <a:cubicBezTo>
                    <a:pt x="81890" y="28661"/>
                    <a:pt x="68468" y="22826"/>
                    <a:pt x="54966" y="24716"/>
                  </a:cubicBezTo>
                  <a:cubicBezTo>
                    <a:pt x="41463" y="26607"/>
                    <a:pt x="30200" y="35898"/>
                    <a:pt x="25879" y="48711"/>
                  </a:cubicBezTo>
                  <a:cubicBezTo>
                    <a:pt x="21559" y="61523"/>
                    <a:pt x="24924" y="75654"/>
                    <a:pt x="34569" y="8520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grpSp>
      <p:grpSp>
        <p:nvGrpSpPr>
          <p:cNvPr id="138" name="Google Shape;138;p54"/>
          <p:cNvGrpSpPr/>
          <p:nvPr/>
        </p:nvGrpSpPr>
        <p:grpSpPr>
          <a:xfrm>
            <a:off x="818141" y="369808"/>
            <a:ext cx="7134112" cy="1782038"/>
            <a:chOff x="3885112" y="889301"/>
            <a:chExt cx="7438799" cy="1095602"/>
          </a:xfrm>
        </p:grpSpPr>
        <p:sp>
          <p:nvSpPr>
            <p:cNvPr id="139" name="Google Shape;139;p54"/>
            <p:cNvSpPr txBox="1"/>
            <p:nvPr/>
          </p:nvSpPr>
          <p:spPr>
            <a:xfrm>
              <a:off x="8162677" y="918586"/>
              <a:ext cx="3161234" cy="5108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400" u="none" cap="none" strike="noStrike">
                  <a:solidFill>
                    <a:srgbClr val="2C51EC"/>
                  </a:solidFill>
                  <a:latin typeface="Arial"/>
                  <a:ea typeface="Arial"/>
                  <a:cs typeface="Arial"/>
                  <a:sym typeface="Arial"/>
                </a:rPr>
                <a:t>Neo Cortex “Human Brain” </a:t>
              </a:r>
              <a:endParaRPr/>
            </a:p>
          </p:txBody>
        </p:sp>
        <p:sp>
          <p:nvSpPr>
            <p:cNvPr id="140" name="Google Shape;140;p54"/>
            <p:cNvSpPr/>
            <p:nvPr/>
          </p:nvSpPr>
          <p:spPr>
            <a:xfrm rot="438980">
              <a:off x="3906433" y="1141737"/>
              <a:ext cx="4002301" cy="590729"/>
            </a:xfrm>
            <a:prstGeom prst="curvedRightArrow">
              <a:avLst>
                <a:gd fmla="val 25000" name="adj1"/>
                <a:gd fmla="val 49822" name="adj2"/>
                <a:gd fmla="val 64194"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grpSp>
      <p:sp>
        <p:nvSpPr>
          <p:cNvPr id="141" name="Google Shape;141;p54"/>
          <p:cNvSpPr txBox="1"/>
          <p:nvPr/>
        </p:nvSpPr>
        <p:spPr>
          <a:xfrm>
            <a:off x="7758827" y="781035"/>
            <a:ext cx="6917414"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2F5496"/>
                </a:solidFill>
                <a:latin typeface="Lora"/>
                <a:ea typeface="Lora"/>
                <a:cs typeface="Lora"/>
                <a:sym typeface="Lora"/>
              </a:rPr>
              <a:t>Responsible for memory, learning, conscious thought, decision making, planning, voluntary movement, reasoning, language, higher-level thinking. It’s the most developed part of our brain and is what separates us from other mammals. </a:t>
            </a:r>
            <a:endParaRPr b="0" i="0" sz="2400" u="none" cap="none" strike="noStrike">
              <a:solidFill>
                <a:srgbClr val="2F5496"/>
              </a:solidFill>
              <a:latin typeface="Lora"/>
              <a:ea typeface="Lora"/>
              <a:cs typeface="Lora"/>
              <a:sym typeface="Lora"/>
            </a:endParaRPr>
          </a:p>
        </p:txBody>
      </p:sp>
      <p:sp>
        <p:nvSpPr>
          <p:cNvPr id="142" name="Google Shape;142;p54"/>
          <p:cNvSpPr txBox="1"/>
          <p:nvPr/>
        </p:nvSpPr>
        <p:spPr>
          <a:xfrm>
            <a:off x="5841785" y="6538407"/>
            <a:ext cx="8757084" cy="19389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2400" u="none" cap="none" strike="noStrike">
                <a:solidFill>
                  <a:srgbClr val="582808"/>
                </a:solidFill>
                <a:latin typeface="Lora"/>
                <a:ea typeface="Lora"/>
                <a:cs typeface="Lora"/>
                <a:sym typeface="Lora"/>
              </a:rPr>
              <a:t>Responsible for the regulation of heart rate, breathing, sleeping, and eating. It coordinates the flow of information between the body and other parts of the brain. It triggers the ‘fight, flight or freeze’ response.</a:t>
            </a:r>
            <a:endParaRPr b="0" i="0" sz="2400" u="none" cap="none" strike="noStrike">
              <a:solidFill>
                <a:srgbClr val="582808"/>
              </a:solidFill>
              <a:latin typeface="Lora"/>
              <a:ea typeface="Lora"/>
              <a:cs typeface="Lora"/>
              <a:sym typeface="Lora"/>
            </a:endParaRPr>
          </a:p>
          <a:p>
            <a:pPr indent="0" lvl="0" marL="0" marR="0" rtl="0" algn="ctr">
              <a:lnSpc>
                <a:spcPct val="100000"/>
              </a:lnSpc>
              <a:spcBef>
                <a:spcPts val="0"/>
              </a:spcBef>
              <a:spcAft>
                <a:spcPts val="0"/>
              </a:spcAft>
              <a:buNone/>
            </a:pPr>
            <a:r>
              <a:t/>
            </a:r>
            <a:endParaRPr b="0" i="0" sz="2400" u="none" cap="none" strike="noStrike">
              <a:solidFill>
                <a:srgbClr val="002060"/>
              </a:solidFill>
              <a:latin typeface="Lora"/>
              <a:ea typeface="Lora"/>
              <a:cs typeface="Lora"/>
              <a:sym typeface="Lora"/>
            </a:endParaRPr>
          </a:p>
        </p:txBody>
      </p:sp>
      <p:sp>
        <p:nvSpPr>
          <p:cNvPr id="143" name="Google Shape;143;p54"/>
          <p:cNvSpPr txBox="1"/>
          <p:nvPr/>
        </p:nvSpPr>
        <p:spPr>
          <a:xfrm>
            <a:off x="617179" y="4645831"/>
            <a:ext cx="4953221"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385623"/>
                </a:solidFill>
                <a:latin typeface="Lora"/>
                <a:ea typeface="Lora"/>
                <a:cs typeface="Lora"/>
                <a:sym typeface="Lora"/>
              </a:rPr>
              <a:t>Responsible for emotions and the formation of habits and new memories based on recent experiences.</a:t>
            </a:r>
            <a:endParaRPr b="0" i="0" sz="2400" u="none" cap="none" strike="noStrike">
              <a:solidFill>
                <a:srgbClr val="385623"/>
              </a:solidFill>
              <a:latin typeface="Lora"/>
              <a:ea typeface="Lora"/>
              <a:cs typeface="Lora"/>
              <a:sym typeface="Lor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2000"/>
                                        <p:tgtEl>
                                          <p:spTgt spid="1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gtEl>
                                        <p:attrNameLst>
                                          <p:attrName>style.visibility</p:attrName>
                                        </p:attrNameLst>
                                      </p:cBhvr>
                                      <p:to>
                                        <p:strVal val="visible"/>
                                      </p:to>
                                    </p:set>
                                    <p:anim calcmode="lin" valueType="num">
                                      <p:cBhvr additive="base">
                                        <p:cTn dur="500"/>
                                        <p:tgtEl>
                                          <p:spTgt spid="14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2000"/>
                                        <p:tgtEl>
                                          <p:spTgt spid="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preencoded.png" id="149" name="Google Shape;149;p55"/>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50" name="Google Shape;150;p55"/>
          <p:cNvSpPr/>
          <p:nvPr/>
        </p:nvSpPr>
        <p:spPr>
          <a:xfrm>
            <a:off x="6523997" y="3522345"/>
            <a:ext cx="7733824"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F98AC7"/>
              </a:buClr>
              <a:buSzPts val="3700"/>
              <a:buFont typeface="Lora"/>
              <a:buNone/>
            </a:pPr>
            <a:r>
              <a:rPr b="0" i="0" lang="en-US" sz="4400" u="none" cap="none" strike="noStrike">
                <a:solidFill>
                  <a:srgbClr val="6EB9FC"/>
                </a:solidFill>
                <a:latin typeface="Lora"/>
                <a:ea typeface="Lora"/>
                <a:cs typeface="Lora"/>
                <a:sym typeface="Lora"/>
              </a:rPr>
              <a:t>Shift</a:t>
            </a:r>
            <a:endParaRPr b="0" i="0" sz="4400" u="none" cap="none" strike="noStrike">
              <a:solidFill>
                <a:srgbClr val="6EB9FC"/>
              </a:solidFill>
              <a:latin typeface="Lora"/>
              <a:ea typeface="Lora"/>
              <a:cs typeface="Lora"/>
              <a:sym typeface="Lor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descr="Stressed healthcare worker" id="156" name="Google Shape;156;p56"/>
          <p:cNvPicPr preferRelativeResize="0"/>
          <p:nvPr/>
        </p:nvPicPr>
        <p:blipFill rotWithShape="1">
          <a:blip r:embed="rId3">
            <a:alphaModFix/>
          </a:blip>
          <a:srcRect b="0" l="0" r="0" t="0"/>
          <a:stretch/>
        </p:blipFill>
        <p:spPr>
          <a:xfrm>
            <a:off x="0" y="2218833"/>
            <a:ext cx="5682245" cy="3791933"/>
          </a:xfrm>
          <a:prstGeom prst="rect">
            <a:avLst/>
          </a:prstGeom>
          <a:noFill/>
          <a:ln>
            <a:noFill/>
          </a:ln>
        </p:spPr>
      </p:pic>
      <p:sp>
        <p:nvSpPr>
          <p:cNvPr id="157" name="Google Shape;157;p56"/>
          <p:cNvSpPr/>
          <p:nvPr/>
        </p:nvSpPr>
        <p:spPr>
          <a:xfrm>
            <a:off x="2213113" y="426006"/>
            <a:ext cx="11768102"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8AC7"/>
              </a:buClr>
              <a:buSzPts val="4400"/>
              <a:buFont typeface="Lora"/>
              <a:buNone/>
            </a:pPr>
            <a:r>
              <a:rPr b="0" i="0" lang="en-US" sz="4400" u="none" cap="none" strike="noStrike">
                <a:solidFill>
                  <a:srgbClr val="6EB9FC"/>
                </a:solidFill>
                <a:latin typeface="Lora"/>
                <a:ea typeface="Lora"/>
                <a:cs typeface="Lora"/>
                <a:sym typeface="Lora"/>
              </a:rPr>
              <a:t>Shift 1: What Goes on in Your Mind?</a:t>
            </a:r>
            <a:endParaRPr b="0" i="0" sz="4400" u="none" cap="none" strike="noStrike">
              <a:solidFill>
                <a:srgbClr val="6EB9FC"/>
              </a:solidFill>
              <a:latin typeface="Lora"/>
              <a:ea typeface="Lora"/>
              <a:cs typeface="Lora"/>
              <a:sym typeface="Lora"/>
            </a:endParaRPr>
          </a:p>
        </p:txBody>
      </p:sp>
      <p:sp>
        <p:nvSpPr>
          <p:cNvPr id="158" name="Google Shape;158;p56"/>
          <p:cNvSpPr txBox="1"/>
          <p:nvPr/>
        </p:nvSpPr>
        <p:spPr>
          <a:xfrm>
            <a:off x="6321286" y="1387901"/>
            <a:ext cx="7315200" cy="74789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The author of this lesson once taught emotional restraint techniques to a mother of three. One day she was taking her daughter along to the car dealership where she was expecting some typically strong pushback from the dealer regarding her warranty (again!). Her seven-year-old daughter, who had accompanied Mom in the past and enjoyed all the </a:t>
            </a:r>
            <a:r>
              <a:rPr b="0" i="0" lang="en-US" sz="2400" u="none" cap="none" strike="noStrike">
                <a:solidFill>
                  <a:srgbClr val="6EB9FC"/>
                </a:solidFill>
                <a:highlight>
                  <a:srgbClr val="FFFF00"/>
                </a:highlight>
                <a:latin typeface="Lora"/>
                <a:ea typeface="Lora"/>
                <a:cs typeface="Lora"/>
                <a:sym typeface="Lora"/>
              </a:rPr>
              <a:t>antics</a:t>
            </a:r>
            <a:r>
              <a:rPr b="0" i="0" lang="en-US" sz="2400" u="none" cap="none" strike="noStrike">
                <a:solidFill>
                  <a:srgbClr val="6EB9FC"/>
                </a:solidFill>
                <a:latin typeface="Lora"/>
                <a:ea typeface="Lora"/>
                <a:cs typeface="Lora"/>
                <a:sym typeface="Lora"/>
              </a:rPr>
              <a:t>, was expecting a </a:t>
            </a:r>
            <a:r>
              <a:rPr b="0" i="0" lang="en-US" sz="2400" u="none" cap="none" strike="noStrike">
                <a:solidFill>
                  <a:srgbClr val="6EB9FC"/>
                </a:solidFill>
                <a:highlight>
                  <a:srgbClr val="FFFF00"/>
                </a:highlight>
                <a:latin typeface="Lora"/>
                <a:ea typeface="Lora"/>
                <a:cs typeface="Lora"/>
                <a:sym typeface="Lora"/>
              </a:rPr>
              <a:t>no-holds-barred</a:t>
            </a:r>
            <a:r>
              <a:rPr b="0" i="0" lang="en-US" sz="2400" u="none" cap="none" strike="noStrike">
                <a:solidFill>
                  <a:srgbClr val="6EB9FC"/>
                </a:solidFill>
                <a:latin typeface="Lora"/>
                <a:ea typeface="Lora"/>
                <a:cs typeface="Lora"/>
                <a:sym typeface="Lora"/>
              </a:rPr>
              <a:t> fight between her Mom and ‘the man in the parking lot.’ To her dismay – and her mother’s quiet pride – there was no  </a:t>
            </a:r>
            <a:r>
              <a:rPr b="0" i="0" lang="en-US" sz="2400" u="none" cap="none" strike="noStrike">
                <a:solidFill>
                  <a:srgbClr val="6EB9FC"/>
                </a:solidFill>
                <a:highlight>
                  <a:srgbClr val="FFFF00"/>
                </a:highlight>
                <a:latin typeface="Lora"/>
                <a:ea typeface="Lora"/>
                <a:cs typeface="Lora"/>
                <a:sym typeface="Lora"/>
              </a:rPr>
              <a:t>shouting match</a:t>
            </a:r>
            <a:r>
              <a:rPr b="0" i="0" lang="en-US" sz="2400" u="none" cap="none" strike="noStrike">
                <a:solidFill>
                  <a:srgbClr val="6EB9FC"/>
                </a:solidFill>
                <a:latin typeface="Lora"/>
                <a:ea typeface="Lora"/>
                <a:cs typeface="Lora"/>
                <a:sym typeface="Lora"/>
              </a:rPr>
              <a:t>, or even an argument! The mother used her ability to recognize rage, restrain her </a:t>
            </a:r>
            <a:r>
              <a:rPr b="0" i="0" lang="en-US" sz="2400" u="none" cap="none" strike="noStrike">
                <a:solidFill>
                  <a:srgbClr val="6EB9FC"/>
                </a:solidFill>
                <a:highlight>
                  <a:srgbClr val="FFFF00"/>
                </a:highlight>
                <a:latin typeface="Lora"/>
                <a:ea typeface="Lora"/>
                <a:cs typeface="Lora"/>
                <a:sym typeface="Lora"/>
              </a:rPr>
              <a:t>knee-jerk reaction</a:t>
            </a:r>
            <a:r>
              <a:rPr b="0" i="0" lang="en-US" sz="2400" u="none" cap="none" strike="noStrike">
                <a:solidFill>
                  <a:srgbClr val="6EB9FC"/>
                </a:solidFill>
                <a:latin typeface="Lora"/>
                <a:ea typeface="Lora"/>
                <a:cs typeface="Lora"/>
                <a:sym typeface="Lora"/>
              </a:rPr>
              <a:t> and reroute to an agreeable reality (getting the service she was due, without payment).  On the way home, her daughter was in turn disappointed, amazed, and then pensive.</a:t>
            </a:r>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descr="Stressed healthcare worker" id="164" name="Google Shape;164;p57"/>
          <p:cNvPicPr preferRelativeResize="0"/>
          <p:nvPr/>
        </p:nvPicPr>
        <p:blipFill rotWithShape="1">
          <a:blip r:embed="rId3">
            <a:alphaModFix/>
          </a:blip>
          <a:srcRect b="0" l="0" r="0" t="0"/>
          <a:stretch/>
        </p:blipFill>
        <p:spPr>
          <a:xfrm>
            <a:off x="0" y="2218833"/>
            <a:ext cx="5682245" cy="3791933"/>
          </a:xfrm>
          <a:prstGeom prst="rect">
            <a:avLst/>
          </a:prstGeom>
          <a:noFill/>
          <a:ln>
            <a:noFill/>
          </a:ln>
        </p:spPr>
      </p:pic>
      <p:sp>
        <p:nvSpPr>
          <p:cNvPr id="165" name="Google Shape;165;p57"/>
          <p:cNvSpPr/>
          <p:nvPr/>
        </p:nvSpPr>
        <p:spPr>
          <a:xfrm>
            <a:off x="2213113" y="426006"/>
            <a:ext cx="11768102"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8AC7"/>
              </a:buClr>
              <a:buSzPts val="4400"/>
              <a:buFont typeface="Lora"/>
              <a:buNone/>
            </a:pPr>
            <a:r>
              <a:rPr b="0" i="0" lang="en-US" sz="4400" u="none" cap="none" strike="noStrike">
                <a:solidFill>
                  <a:srgbClr val="6EB9FC"/>
                </a:solidFill>
                <a:latin typeface="Lora"/>
                <a:ea typeface="Lora"/>
                <a:cs typeface="Lora"/>
                <a:sym typeface="Lora"/>
              </a:rPr>
              <a:t>Shift 1: What Goes on in Your Mind?</a:t>
            </a:r>
            <a:endParaRPr b="0" i="0" sz="4400" u="none" cap="none" strike="noStrike">
              <a:solidFill>
                <a:srgbClr val="6EB9FC"/>
              </a:solidFill>
              <a:latin typeface="Lora"/>
              <a:ea typeface="Lora"/>
              <a:cs typeface="Lora"/>
              <a:sym typeface="Lora"/>
            </a:endParaRPr>
          </a:p>
        </p:txBody>
      </p:sp>
      <p:sp>
        <p:nvSpPr>
          <p:cNvPr id="166" name="Google Shape;166;p57"/>
          <p:cNvSpPr txBox="1"/>
          <p:nvPr/>
        </p:nvSpPr>
        <p:spPr>
          <a:xfrm>
            <a:off x="6374295" y="1652945"/>
            <a:ext cx="7315200" cy="52629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“I’m supposed to be calm, collected and confident. Sometimes I ignore how I’m feeling—but it shows up in my tone or body language.” </a:t>
            </a:r>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Perhaps you’ve seen someone have a ‘meltdown’ at work; maybe one of your stress triggers made you feel anxious or unable to express yourself clearly…</a:t>
            </a:r>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Note the situation and your feelings down.</a:t>
            </a:r>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Go to the next slide to see the emotional data collection process and possible results.</a:t>
            </a:r>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58"/>
          <p:cNvPicPr preferRelativeResize="0"/>
          <p:nvPr/>
        </p:nvPicPr>
        <p:blipFill rotWithShape="1">
          <a:blip r:embed="rId3">
            <a:alphaModFix amt="25000"/>
          </a:blip>
          <a:srcRect b="0" l="0" r="0" t="0"/>
          <a:stretch/>
        </p:blipFill>
        <p:spPr>
          <a:xfrm>
            <a:off x="-159110" y="-567559"/>
            <a:ext cx="14835351" cy="9364717"/>
          </a:xfrm>
          <a:prstGeom prst="rect">
            <a:avLst/>
          </a:prstGeom>
          <a:solidFill>
            <a:schemeClr val="lt1"/>
          </a:solidFill>
          <a:ln>
            <a:noFill/>
          </a:ln>
        </p:spPr>
      </p:pic>
      <p:sp>
        <p:nvSpPr>
          <p:cNvPr id="173" name="Google Shape;173;p58"/>
          <p:cNvSpPr txBox="1"/>
          <p:nvPr/>
        </p:nvSpPr>
        <p:spPr>
          <a:xfrm>
            <a:off x="3314813" y="5738420"/>
            <a:ext cx="3521537" cy="16312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Lora"/>
                <a:ea typeface="Lora"/>
                <a:cs typeface="Lora"/>
                <a:sym typeface="Lora"/>
              </a:rPr>
              <a:t>1. Sensory triggers (e.g., sight, sound, taste, touch or pain) are feed to the </a:t>
            </a:r>
            <a:r>
              <a:rPr b="0" i="0" lang="en-US" sz="2000" u="none" cap="none" strike="noStrike">
                <a:solidFill>
                  <a:srgbClr val="548135"/>
                </a:solidFill>
                <a:latin typeface="Lora"/>
                <a:ea typeface="Lora"/>
                <a:cs typeface="Lora"/>
                <a:sym typeface="Lora"/>
              </a:rPr>
              <a:t>thalamus</a:t>
            </a:r>
            <a:r>
              <a:rPr b="0" i="0" lang="en-US" sz="2000" u="none" cap="none" strike="noStrike">
                <a:solidFill>
                  <a:srgbClr val="000000"/>
                </a:solidFill>
                <a:latin typeface="Lora"/>
                <a:ea typeface="Lora"/>
                <a:cs typeface="Lora"/>
                <a:sym typeface="Lora"/>
              </a:rPr>
              <a:t> in our </a:t>
            </a:r>
            <a:r>
              <a:rPr b="0" i="0" lang="en-US" sz="2000" u="none" cap="none" strike="noStrike">
                <a:solidFill>
                  <a:srgbClr val="548135"/>
                </a:solidFill>
                <a:latin typeface="Lora"/>
                <a:ea typeface="Lora"/>
                <a:cs typeface="Lora"/>
                <a:sym typeface="Lora"/>
              </a:rPr>
              <a:t>limbic</a:t>
            </a:r>
            <a:r>
              <a:rPr b="0" i="0" lang="en-US" sz="2000" u="none" cap="none" strike="noStrike">
                <a:solidFill>
                  <a:srgbClr val="000000"/>
                </a:solidFill>
                <a:latin typeface="Lora"/>
                <a:ea typeface="Lora"/>
                <a:cs typeface="Lora"/>
                <a:sym typeface="Lora"/>
              </a:rPr>
              <a:t> </a:t>
            </a:r>
            <a:r>
              <a:rPr b="0" i="0" lang="en-US" sz="2000" u="none" cap="none" strike="noStrike">
                <a:solidFill>
                  <a:srgbClr val="548135"/>
                </a:solidFill>
                <a:latin typeface="Lora"/>
                <a:ea typeface="Lora"/>
                <a:cs typeface="Lora"/>
                <a:sym typeface="Lora"/>
              </a:rPr>
              <a:t>system</a:t>
            </a:r>
            <a:endParaRPr b="0" i="0" sz="2000" u="none" cap="none" strike="noStrike">
              <a:solidFill>
                <a:srgbClr val="000000"/>
              </a:solidFill>
              <a:latin typeface="Lora"/>
              <a:ea typeface="Lora"/>
              <a:cs typeface="Lora"/>
              <a:sym typeface="Lora"/>
            </a:endParaRPr>
          </a:p>
        </p:txBody>
      </p:sp>
      <p:sp>
        <p:nvSpPr>
          <p:cNvPr id="174" name="Google Shape;174;p58"/>
          <p:cNvSpPr txBox="1"/>
          <p:nvPr/>
        </p:nvSpPr>
        <p:spPr>
          <a:xfrm>
            <a:off x="4695200" y="3259407"/>
            <a:ext cx="3521537"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Lora"/>
                <a:ea typeface="Lora"/>
                <a:cs typeface="Lora"/>
                <a:sym typeface="Lora"/>
              </a:rPr>
              <a:t>2.</a:t>
            </a:r>
            <a:r>
              <a:rPr b="0" i="0" lang="en-US" sz="2000" u="none" cap="none" strike="noStrike">
                <a:solidFill>
                  <a:srgbClr val="000000"/>
                </a:solidFill>
                <a:latin typeface="Arial"/>
                <a:ea typeface="Arial"/>
                <a:cs typeface="Arial"/>
                <a:sym typeface="Arial"/>
              </a:rPr>
              <a:t> </a:t>
            </a:r>
            <a:r>
              <a:rPr b="0" i="0" lang="en-US" sz="2000" u="none" cap="none" strike="noStrike">
                <a:solidFill>
                  <a:srgbClr val="000000"/>
                </a:solidFill>
                <a:latin typeface="Lora"/>
                <a:ea typeface="Lora"/>
                <a:cs typeface="Lora"/>
                <a:sym typeface="Lora"/>
              </a:rPr>
              <a:t>The </a:t>
            </a:r>
            <a:r>
              <a:rPr b="0" i="0" lang="en-US" sz="2000" u="none" cap="none" strike="noStrike">
                <a:solidFill>
                  <a:srgbClr val="548135"/>
                </a:solidFill>
                <a:latin typeface="Lora"/>
                <a:ea typeface="Lora"/>
                <a:cs typeface="Lora"/>
                <a:sym typeface="Lora"/>
              </a:rPr>
              <a:t>thalamus</a:t>
            </a:r>
            <a:r>
              <a:rPr b="0" i="0" lang="en-US" sz="2000" u="none" cap="none" strike="noStrike">
                <a:solidFill>
                  <a:srgbClr val="000000"/>
                </a:solidFill>
                <a:latin typeface="Lora"/>
                <a:ea typeface="Lora"/>
                <a:cs typeface="Lora"/>
                <a:sym typeface="Lora"/>
              </a:rPr>
              <a:t> acts like a hub and instantly sends the information to both the </a:t>
            </a:r>
            <a:r>
              <a:rPr b="0" i="0" lang="en-US" sz="2000" u="none" cap="none" strike="noStrike">
                <a:solidFill>
                  <a:srgbClr val="548135"/>
                </a:solidFill>
                <a:latin typeface="Lora"/>
                <a:ea typeface="Lora"/>
                <a:cs typeface="Lora"/>
                <a:sym typeface="Lora"/>
              </a:rPr>
              <a:t>amygdala</a:t>
            </a:r>
            <a:r>
              <a:rPr b="0" i="0" lang="en-US" sz="2000" u="none" cap="none" strike="noStrike">
                <a:solidFill>
                  <a:srgbClr val="000000"/>
                </a:solidFill>
                <a:latin typeface="Lora"/>
                <a:ea typeface="Lora"/>
                <a:cs typeface="Lora"/>
                <a:sym typeface="Lora"/>
              </a:rPr>
              <a:t> (in the </a:t>
            </a:r>
            <a:r>
              <a:rPr b="0" i="0" lang="en-US" sz="2000" u="none" cap="none" strike="noStrike">
                <a:solidFill>
                  <a:srgbClr val="548135"/>
                </a:solidFill>
                <a:latin typeface="Lora"/>
                <a:ea typeface="Lora"/>
                <a:cs typeface="Lora"/>
                <a:sym typeface="Lora"/>
              </a:rPr>
              <a:t>limbic system</a:t>
            </a:r>
            <a:r>
              <a:rPr b="0" i="0" lang="en-US" sz="2000" u="none" cap="none" strike="noStrike">
                <a:solidFill>
                  <a:srgbClr val="000000"/>
                </a:solidFill>
                <a:latin typeface="Lora"/>
                <a:ea typeface="Lora"/>
                <a:cs typeface="Lora"/>
                <a:sym typeface="Lora"/>
              </a:rPr>
              <a:t>), and the </a:t>
            </a:r>
            <a:r>
              <a:rPr b="0" i="0" lang="en-US" sz="2000" u="none" cap="none" strike="noStrike">
                <a:solidFill>
                  <a:srgbClr val="2F5496"/>
                </a:solidFill>
                <a:latin typeface="Lora"/>
                <a:ea typeface="Lora"/>
                <a:cs typeface="Lora"/>
                <a:sym typeface="Lora"/>
              </a:rPr>
              <a:t>Neo Cortex. </a:t>
            </a:r>
            <a:endParaRPr b="0" i="0" sz="2000" u="none" cap="none" strike="noStrike">
              <a:solidFill>
                <a:srgbClr val="2F5496"/>
              </a:solidFill>
              <a:latin typeface="Lora"/>
              <a:ea typeface="Lora"/>
              <a:cs typeface="Lora"/>
              <a:sym typeface="Lora"/>
            </a:endParaRPr>
          </a:p>
          <a:p>
            <a:pPr indent="0" lvl="0" marL="0" marR="0" rtl="0" algn="l">
              <a:lnSpc>
                <a:spcPct val="100000"/>
              </a:lnSpc>
              <a:spcBef>
                <a:spcPts val="0"/>
              </a:spcBef>
              <a:spcAft>
                <a:spcPts val="0"/>
              </a:spcAft>
              <a:buNone/>
            </a:pPr>
            <a:r>
              <a:rPr b="0" i="0" lang="en-US" sz="2000" u="none" cap="none" strike="noStrike">
                <a:solidFill>
                  <a:srgbClr val="000000"/>
                </a:solidFill>
                <a:latin typeface="Lora"/>
                <a:ea typeface="Lora"/>
                <a:cs typeface="Lora"/>
                <a:sym typeface="Lora"/>
              </a:rPr>
              <a:t> </a:t>
            </a:r>
            <a:endParaRPr/>
          </a:p>
        </p:txBody>
      </p:sp>
      <p:pic>
        <p:nvPicPr>
          <p:cNvPr descr="Stressed healthcare worker" id="175" name="Google Shape;175;p58"/>
          <p:cNvPicPr preferRelativeResize="0"/>
          <p:nvPr/>
        </p:nvPicPr>
        <p:blipFill rotWithShape="1">
          <a:blip r:embed="rId4">
            <a:alphaModFix/>
          </a:blip>
          <a:srcRect b="0" l="0" r="0" t="0"/>
          <a:stretch/>
        </p:blipFill>
        <p:spPr>
          <a:xfrm>
            <a:off x="545986" y="5872481"/>
            <a:ext cx="2198984" cy="1467448"/>
          </a:xfrm>
          <a:prstGeom prst="rect">
            <a:avLst/>
          </a:prstGeom>
          <a:noFill/>
          <a:ln>
            <a:noFill/>
          </a:ln>
        </p:spPr>
      </p:pic>
      <p:sp>
        <p:nvSpPr>
          <p:cNvPr id="176" name="Google Shape;176;p58"/>
          <p:cNvSpPr txBox="1"/>
          <p:nvPr/>
        </p:nvSpPr>
        <p:spPr>
          <a:xfrm>
            <a:off x="5479797" y="5109705"/>
            <a:ext cx="316123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400" u="none" cap="none" strike="noStrike">
                <a:solidFill>
                  <a:srgbClr val="548135"/>
                </a:solidFill>
                <a:latin typeface="Arial"/>
                <a:ea typeface="Arial"/>
                <a:cs typeface="Arial"/>
                <a:sym typeface="Arial"/>
              </a:rPr>
              <a:t>Limbic System</a:t>
            </a:r>
            <a:endParaRPr/>
          </a:p>
        </p:txBody>
      </p:sp>
      <p:sp>
        <p:nvSpPr>
          <p:cNvPr id="177" name="Google Shape;177;p58"/>
          <p:cNvSpPr txBox="1"/>
          <p:nvPr/>
        </p:nvSpPr>
        <p:spPr>
          <a:xfrm>
            <a:off x="7869632" y="13168"/>
            <a:ext cx="5610914"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Lora"/>
                <a:ea typeface="Lora"/>
                <a:cs typeface="Lora"/>
                <a:sym typeface="Lora"/>
              </a:rPr>
              <a:t>3.</a:t>
            </a:r>
            <a:r>
              <a:rPr b="0" i="0" lang="en-US" sz="2000" u="none" cap="none" strike="noStrike">
                <a:solidFill>
                  <a:srgbClr val="000000"/>
                </a:solidFill>
                <a:latin typeface="Arial"/>
                <a:ea typeface="Arial"/>
                <a:cs typeface="Arial"/>
                <a:sym typeface="Arial"/>
              </a:rPr>
              <a:t> </a:t>
            </a:r>
            <a:r>
              <a:rPr b="0" i="0" lang="en-US" sz="2000" u="none" cap="none" strike="noStrike">
                <a:solidFill>
                  <a:srgbClr val="2F5496"/>
                </a:solidFill>
                <a:latin typeface="Lora"/>
                <a:ea typeface="Lora"/>
                <a:cs typeface="Lora"/>
                <a:sym typeface="Lora"/>
              </a:rPr>
              <a:t>The Neo Cortex </a:t>
            </a:r>
            <a:r>
              <a:rPr b="0" i="0" lang="en-US" sz="2000" u="none" cap="none" strike="noStrike">
                <a:solidFill>
                  <a:srgbClr val="000000"/>
                </a:solidFill>
                <a:latin typeface="Lora"/>
                <a:ea typeface="Lora"/>
                <a:cs typeface="Lora"/>
                <a:sym typeface="Lora"/>
              </a:rPr>
              <a:t>is the thinking brain, so it considers the information. This takes 1/100 of a second, which is quick. But the </a:t>
            </a:r>
            <a:r>
              <a:rPr b="0" i="0" lang="en-US" sz="2000" u="none" cap="none" strike="noStrike">
                <a:solidFill>
                  <a:srgbClr val="548135"/>
                </a:solidFill>
                <a:latin typeface="Lora"/>
                <a:ea typeface="Lora"/>
                <a:cs typeface="Lora"/>
                <a:sym typeface="Lora"/>
              </a:rPr>
              <a:t>amygdala</a:t>
            </a:r>
            <a:r>
              <a:rPr b="0" i="0" lang="en-US" sz="2000" u="none" cap="none" strike="noStrike">
                <a:solidFill>
                  <a:srgbClr val="000000"/>
                </a:solidFill>
                <a:latin typeface="Lora"/>
                <a:ea typeface="Lora"/>
                <a:cs typeface="Lora"/>
                <a:sym typeface="Lora"/>
              </a:rPr>
              <a:t> does a </a:t>
            </a:r>
            <a:r>
              <a:rPr b="0" i="1" lang="en-US" sz="2000" u="sng" cap="none" strike="noStrike">
                <a:solidFill>
                  <a:srgbClr val="000000"/>
                </a:solidFill>
                <a:latin typeface="Lora"/>
                <a:ea typeface="Lora"/>
                <a:cs typeface="Lora"/>
                <a:sym typeface="Lora"/>
              </a:rPr>
              <a:t>very fast</a:t>
            </a:r>
            <a:r>
              <a:rPr b="0" i="0" lang="en-US" sz="2000" u="none" cap="none" strike="noStrike">
                <a:solidFill>
                  <a:srgbClr val="000000"/>
                </a:solidFill>
                <a:latin typeface="Lora"/>
                <a:ea typeface="Lora"/>
                <a:cs typeface="Lora"/>
                <a:sym typeface="Lora"/>
              </a:rPr>
              <a:t> threat assessment to determine danger. It only takes 1/1000 of a second!  </a:t>
            </a:r>
            <a:endParaRPr/>
          </a:p>
        </p:txBody>
      </p:sp>
      <p:sp>
        <p:nvSpPr>
          <p:cNvPr id="178" name="Google Shape;178;p58"/>
          <p:cNvSpPr txBox="1"/>
          <p:nvPr/>
        </p:nvSpPr>
        <p:spPr>
          <a:xfrm>
            <a:off x="4833045" y="0"/>
            <a:ext cx="316123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400" u="none" cap="none" strike="noStrike">
                <a:solidFill>
                  <a:srgbClr val="0070C0"/>
                </a:solidFill>
                <a:latin typeface="Arial"/>
                <a:ea typeface="Arial"/>
                <a:cs typeface="Arial"/>
                <a:sym typeface="Arial"/>
              </a:rPr>
              <a:t>Neo Cortex</a:t>
            </a:r>
            <a:endParaRPr/>
          </a:p>
        </p:txBody>
      </p:sp>
      <p:sp>
        <p:nvSpPr>
          <p:cNvPr id="179" name="Google Shape;179;p58"/>
          <p:cNvSpPr txBox="1"/>
          <p:nvPr/>
        </p:nvSpPr>
        <p:spPr>
          <a:xfrm>
            <a:off x="8259085" y="2136022"/>
            <a:ext cx="5610914" cy="25545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Lora"/>
                <a:ea typeface="Lora"/>
                <a:cs typeface="Lora"/>
                <a:sym typeface="Lora"/>
              </a:rPr>
              <a:t>4.</a:t>
            </a:r>
            <a:r>
              <a:rPr b="0" i="0" lang="en-US" sz="2000" u="none" cap="none" strike="noStrike">
                <a:solidFill>
                  <a:srgbClr val="000000"/>
                </a:solidFill>
                <a:latin typeface="Arial"/>
                <a:ea typeface="Arial"/>
                <a:cs typeface="Arial"/>
                <a:sym typeface="Arial"/>
              </a:rPr>
              <a:t> </a:t>
            </a:r>
            <a:r>
              <a:rPr b="0" i="0" lang="en-US" sz="2000" u="none" cap="none" strike="noStrike">
                <a:solidFill>
                  <a:srgbClr val="000000"/>
                </a:solidFill>
                <a:latin typeface="Lora"/>
                <a:ea typeface="Lora"/>
                <a:cs typeface="Lora"/>
                <a:sym typeface="Lora"/>
              </a:rPr>
              <a:t>The </a:t>
            </a:r>
            <a:r>
              <a:rPr b="0" i="0" lang="en-US" sz="2000" u="none" cap="none" strike="noStrike">
                <a:solidFill>
                  <a:srgbClr val="548135"/>
                </a:solidFill>
                <a:latin typeface="Lora"/>
                <a:ea typeface="Lora"/>
                <a:cs typeface="Lora"/>
                <a:sym typeface="Lora"/>
              </a:rPr>
              <a:t>amygdala</a:t>
            </a:r>
            <a:r>
              <a:rPr b="0" i="0" lang="en-US" sz="2000" u="none" cap="none" strike="noStrike">
                <a:solidFill>
                  <a:srgbClr val="000000"/>
                </a:solidFill>
                <a:latin typeface="Lora"/>
                <a:ea typeface="Lora"/>
                <a:cs typeface="Lora"/>
                <a:sym typeface="Lora"/>
              </a:rPr>
              <a:t> blocks slow thinking. If it determines that there is danger, it blocks the </a:t>
            </a:r>
            <a:r>
              <a:rPr b="0" i="0" lang="en-US" sz="2000" u="none" cap="none" strike="noStrike">
                <a:solidFill>
                  <a:srgbClr val="0070C0"/>
                </a:solidFill>
                <a:latin typeface="Lora"/>
                <a:ea typeface="Lora"/>
                <a:cs typeface="Lora"/>
                <a:sym typeface="Lora"/>
              </a:rPr>
              <a:t>Neo Cortex (slower, reasoning brain) </a:t>
            </a:r>
            <a:r>
              <a:rPr b="0" i="0" lang="en-US" sz="2000" u="none" cap="none" strike="noStrike">
                <a:solidFill>
                  <a:srgbClr val="000000"/>
                </a:solidFill>
                <a:latin typeface="Lora"/>
                <a:ea typeface="Lora"/>
                <a:cs typeface="Lora"/>
                <a:sym typeface="Lora"/>
              </a:rPr>
              <a:t>and immediately triggers a danger reaction (‘fight, flight or freeze’ result) as part of the body’s survival programming. It’s a ‘non-thinking’ reaction.</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Lora"/>
              <a:ea typeface="Lora"/>
              <a:cs typeface="Lora"/>
              <a:sym typeface="Lora"/>
            </a:endParaRPr>
          </a:p>
        </p:txBody>
      </p:sp>
      <p:sp>
        <p:nvSpPr>
          <p:cNvPr id="180" name="Google Shape;180;p58"/>
          <p:cNvSpPr txBox="1"/>
          <p:nvPr/>
        </p:nvSpPr>
        <p:spPr>
          <a:xfrm>
            <a:off x="8216737" y="4382791"/>
            <a:ext cx="5610914" cy="40934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Lora"/>
                <a:ea typeface="Lora"/>
                <a:cs typeface="Lora"/>
                <a:sym typeface="Lora"/>
              </a:rPr>
              <a:t>This non-thinking reaction is designed to keep you safe. It triggers a flood of ‘stress hormones’ like </a:t>
            </a:r>
            <a:r>
              <a:rPr b="0" i="0" lang="en-US" sz="2000" u="none" cap="none" strike="noStrike">
                <a:solidFill>
                  <a:srgbClr val="C00000"/>
                </a:solidFill>
                <a:latin typeface="Lora"/>
                <a:ea typeface="Lora"/>
                <a:cs typeface="Lora"/>
                <a:sym typeface="Lora"/>
              </a:rPr>
              <a:t>adrenaline</a:t>
            </a:r>
            <a:r>
              <a:rPr b="0" i="0" lang="en-US" sz="2000" u="none" cap="none" strike="noStrike">
                <a:solidFill>
                  <a:srgbClr val="000000"/>
                </a:solidFill>
                <a:latin typeface="Lora"/>
                <a:ea typeface="Lora"/>
                <a:cs typeface="Lora"/>
                <a:sym typeface="Lora"/>
              </a:rPr>
              <a:t> (increasing your heart rate &amp; blood pressure) and </a:t>
            </a:r>
            <a:r>
              <a:rPr b="0" i="0" lang="en-US" sz="2000" u="none" cap="none" strike="noStrike">
                <a:solidFill>
                  <a:srgbClr val="C00000"/>
                </a:solidFill>
                <a:latin typeface="Lora"/>
                <a:ea typeface="Lora"/>
                <a:cs typeface="Lora"/>
                <a:sym typeface="Lora"/>
              </a:rPr>
              <a:t>cortisol</a:t>
            </a:r>
            <a:r>
              <a:rPr b="0" i="0" lang="en-US" sz="2000" u="none" cap="none" strike="noStrike">
                <a:solidFill>
                  <a:srgbClr val="000000"/>
                </a:solidFill>
                <a:latin typeface="Lora"/>
                <a:ea typeface="Lora"/>
                <a:cs typeface="Lora"/>
                <a:sym typeface="Lora"/>
              </a:rPr>
              <a:t> (increasing your energy). Your entire body is now on ‘high alert.’ Your </a:t>
            </a:r>
            <a:r>
              <a:rPr b="0" i="0" lang="en-US" sz="2000" u="none" cap="none" strike="noStrike">
                <a:solidFill>
                  <a:srgbClr val="0070C0"/>
                </a:solidFill>
                <a:latin typeface="Lora"/>
                <a:ea typeface="Lora"/>
                <a:cs typeface="Lora"/>
                <a:sym typeface="Lora"/>
              </a:rPr>
              <a:t>Neo Cortex </a:t>
            </a:r>
            <a:r>
              <a:rPr b="0" i="0" lang="en-US" sz="2000" u="none" cap="none" strike="noStrike">
                <a:solidFill>
                  <a:srgbClr val="252833"/>
                </a:solidFill>
                <a:latin typeface="Lora"/>
                <a:ea typeface="Lora"/>
                <a:cs typeface="Lora"/>
                <a:sym typeface="Lora"/>
              </a:rPr>
              <a:t>is not necessarily involved.</a:t>
            </a:r>
            <a:endParaRPr b="0" i="0" sz="2000" u="none" cap="none" strike="noStrike">
              <a:solidFill>
                <a:srgbClr val="000000"/>
              </a:solidFill>
              <a:latin typeface="Lora"/>
              <a:ea typeface="Lora"/>
              <a:cs typeface="Lora"/>
              <a:sym typeface="Lora"/>
            </a:endParaRPr>
          </a:p>
          <a:p>
            <a:pPr indent="0" lvl="0" marL="0" marR="0" rtl="0" algn="l">
              <a:lnSpc>
                <a:spcPct val="100000"/>
              </a:lnSpc>
              <a:spcBef>
                <a:spcPts val="0"/>
              </a:spcBef>
              <a:spcAft>
                <a:spcPts val="0"/>
              </a:spcAft>
              <a:buNone/>
            </a:pPr>
            <a:r>
              <a:rPr b="1" i="0" lang="en-US" sz="2000" u="none" cap="none" strike="noStrike">
                <a:solidFill>
                  <a:srgbClr val="000000"/>
                </a:solidFill>
                <a:latin typeface="Lora"/>
                <a:ea typeface="Lora"/>
                <a:cs typeface="Lora"/>
                <a:sym typeface="Lora"/>
              </a:rPr>
              <a:t>What situations at work might trigger this kind of reaction? How could our emotions express themselves if our </a:t>
            </a:r>
            <a:r>
              <a:rPr b="1" i="0" lang="en-US" sz="2000" u="none" cap="none" strike="noStrike">
                <a:solidFill>
                  <a:srgbClr val="548135"/>
                </a:solidFill>
                <a:latin typeface="Lora"/>
                <a:ea typeface="Lora"/>
                <a:cs typeface="Lora"/>
                <a:sym typeface="Lora"/>
              </a:rPr>
              <a:t>amygdala</a:t>
            </a:r>
            <a:r>
              <a:rPr b="1" i="0" lang="en-US" sz="2000" u="none" cap="none" strike="noStrike">
                <a:solidFill>
                  <a:srgbClr val="000000"/>
                </a:solidFill>
                <a:latin typeface="Lora"/>
                <a:ea typeface="Lora"/>
                <a:cs typeface="Lora"/>
                <a:sym typeface="Lora"/>
              </a:rPr>
              <a:t> overestimates the size of a threat? </a:t>
            </a:r>
            <a:r>
              <a:rPr b="1" i="1" lang="en-US" sz="2000" u="none" cap="none" strike="noStrike">
                <a:solidFill>
                  <a:srgbClr val="000000"/>
                </a:solidFill>
                <a:latin typeface="Lora"/>
                <a:ea typeface="Lora"/>
                <a:cs typeface="Lora"/>
                <a:sym typeface="Lora"/>
              </a:rPr>
              <a:t>Note your ideas down.</a:t>
            </a:r>
            <a:endParaRPr/>
          </a:p>
          <a:p>
            <a:pPr indent="0" lvl="0" marL="0" marR="0" rtl="0" algn="l">
              <a:lnSpc>
                <a:spcPct val="100000"/>
              </a:lnSpc>
              <a:spcBef>
                <a:spcPts val="0"/>
              </a:spcBef>
              <a:spcAft>
                <a:spcPts val="0"/>
              </a:spcAft>
              <a:buNone/>
            </a:pPr>
            <a:r>
              <a:t/>
            </a:r>
            <a:endParaRPr b="1" i="0" sz="2000" u="none" cap="none" strike="noStrike">
              <a:solidFill>
                <a:srgbClr val="000000"/>
              </a:solidFill>
              <a:latin typeface="Lora"/>
              <a:ea typeface="Lora"/>
              <a:cs typeface="Lora"/>
              <a:sym typeface="Lora"/>
            </a:endParaRPr>
          </a:p>
        </p:txBody>
      </p:sp>
      <p:sp>
        <p:nvSpPr>
          <p:cNvPr id="181" name="Google Shape;181;p58"/>
          <p:cNvSpPr/>
          <p:nvPr/>
        </p:nvSpPr>
        <p:spPr>
          <a:xfrm>
            <a:off x="952299" y="-52026"/>
            <a:ext cx="11768102"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8AC7"/>
              </a:buClr>
              <a:buSzPts val="4400"/>
              <a:buFont typeface="Lora"/>
              <a:buNone/>
            </a:pPr>
            <a:r>
              <a:rPr b="0" i="0" lang="en-US" sz="4400" u="none" cap="none" strike="noStrike">
                <a:solidFill>
                  <a:srgbClr val="6EB9FC"/>
                </a:solidFill>
                <a:latin typeface="Lora"/>
                <a:ea typeface="Lora"/>
                <a:cs typeface="Lora"/>
                <a:sym typeface="Lora"/>
              </a:rPr>
              <a:t>Shift 1:</a:t>
            </a:r>
            <a:endParaRPr b="0" i="0" sz="4400" u="none" cap="none" strike="noStrike">
              <a:solidFill>
                <a:srgbClr val="6EB9FC"/>
              </a:solidFill>
              <a:latin typeface="Lora"/>
              <a:ea typeface="Lora"/>
              <a:cs typeface="Lora"/>
              <a:sym typeface="Lor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1250"/>
                                  </p:stCondLst>
                                  <p:childTnLst>
                                    <p:set>
                                      <p:cBhvr>
                                        <p:cTn dur="1" fill="hold">
                                          <p:stCondLst>
                                            <p:cond delay="0"/>
                                          </p:stCondLst>
                                        </p:cTn>
                                        <p:tgtEl>
                                          <p:spTgt spid="173"/>
                                        </p:tgtEl>
                                        <p:attrNameLst>
                                          <p:attrName>style.visibility</p:attrName>
                                        </p:attrNameLst>
                                      </p:cBhvr>
                                      <p:to>
                                        <p:strVal val="visible"/>
                                      </p:to>
                                    </p:set>
                                    <p:animEffect filter="fade" transition="in">
                                      <p:cBhvr>
                                        <p:cTn dur="1250"/>
                                        <p:tgtEl>
                                          <p:spTgt spid="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1500"/>
                                  </p:stCondLst>
                                  <p:childTnLst>
                                    <p:set>
                                      <p:cBhvr>
                                        <p:cTn dur="1" fill="hold">
                                          <p:stCondLst>
                                            <p:cond delay="0"/>
                                          </p:stCondLst>
                                        </p:cTn>
                                        <p:tgtEl>
                                          <p:spTgt spid="174"/>
                                        </p:tgtEl>
                                        <p:attrNameLst>
                                          <p:attrName>style.visibility</p:attrName>
                                        </p:attrNameLst>
                                      </p:cBhvr>
                                      <p:to>
                                        <p:strVal val="visible"/>
                                      </p:to>
                                    </p:set>
                                    <p:animEffect filter="fade" transition="in">
                                      <p:cBhvr>
                                        <p:cTn dur="1750"/>
                                        <p:tgtEl>
                                          <p:spTgt spid="1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3000"/>
                                  </p:stCondLst>
                                  <p:childTnLst>
                                    <p:set>
                                      <p:cBhvr>
                                        <p:cTn dur="1" fill="hold">
                                          <p:stCondLst>
                                            <p:cond delay="0"/>
                                          </p:stCondLst>
                                        </p:cTn>
                                        <p:tgtEl>
                                          <p:spTgt spid="177"/>
                                        </p:tgtEl>
                                        <p:attrNameLst>
                                          <p:attrName>style.visibility</p:attrName>
                                        </p:attrNameLst>
                                      </p:cBhvr>
                                      <p:to>
                                        <p:strVal val="visible"/>
                                      </p:to>
                                    </p:set>
                                    <p:animEffect filter="fade" transition="in">
                                      <p:cBhvr>
                                        <p:cTn dur="2000"/>
                                        <p:tgtEl>
                                          <p:spTgt spid="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6500"/>
                                  </p:stCondLst>
                                  <p:childTnLst>
                                    <p:set>
                                      <p:cBhvr>
                                        <p:cTn dur="1" fill="hold">
                                          <p:stCondLst>
                                            <p:cond delay="0"/>
                                          </p:stCondLst>
                                        </p:cTn>
                                        <p:tgtEl>
                                          <p:spTgt spid="179"/>
                                        </p:tgtEl>
                                        <p:attrNameLst>
                                          <p:attrName>style.visibility</p:attrName>
                                        </p:attrNameLst>
                                      </p:cBhvr>
                                      <p:to>
                                        <p:strVal val="visible"/>
                                      </p:to>
                                    </p:set>
                                    <p:animEffect filter="fade" transition="in">
                                      <p:cBhvr>
                                        <p:cTn dur="2000"/>
                                        <p:tgtEl>
                                          <p:spTgt spid="1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8500"/>
                                  </p:stCondLst>
                                  <p:childTnLst>
                                    <p:set>
                                      <p:cBhvr>
                                        <p:cTn dur="1" fill="hold">
                                          <p:stCondLst>
                                            <p:cond delay="0"/>
                                          </p:stCondLst>
                                        </p:cTn>
                                        <p:tgtEl>
                                          <p:spTgt spid="180"/>
                                        </p:tgtEl>
                                        <p:attrNameLst>
                                          <p:attrName>style.visibility</p:attrName>
                                        </p:attrNameLst>
                                      </p:cBhvr>
                                      <p:to>
                                        <p:strVal val="visible"/>
                                      </p:to>
                                    </p:set>
                                    <p:animEffect filter="fade" transition="in">
                                      <p:cBhvr>
                                        <p:cTn dur="2000"/>
                                        <p:tgtEl>
                                          <p:spTgt spid="1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59"/>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88" name="Google Shape;188;p59"/>
          <p:cNvSpPr/>
          <p:nvPr/>
        </p:nvSpPr>
        <p:spPr>
          <a:xfrm>
            <a:off x="5888695" y="426006"/>
            <a:ext cx="8092520"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8AC7"/>
              </a:buClr>
              <a:buSzPts val="4400"/>
              <a:buFont typeface="Lora"/>
              <a:buNone/>
            </a:pPr>
            <a:r>
              <a:t/>
            </a:r>
            <a:endParaRPr b="0" i="0" sz="4400" u="none" cap="none" strike="noStrike">
              <a:solidFill>
                <a:srgbClr val="6EB9FC"/>
              </a:solidFill>
              <a:latin typeface="Lora"/>
              <a:ea typeface="Lora"/>
              <a:cs typeface="Lora"/>
              <a:sym typeface="Lora"/>
            </a:endParaRPr>
          </a:p>
        </p:txBody>
      </p:sp>
      <p:sp>
        <p:nvSpPr>
          <p:cNvPr id="189" name="Google Shape;189;p59"/>
          <p:cNvSpPr/>
          <p:nvPr/>
        </p:nvSpPr>
        <p:spPr>
          <a:xfrm>
            <a:off x="6146726" y="1736035"/>
            <a:ext cx="7576457" cy="5979397"/>
          </a:xfrm>
          <a:prstGeom prst="roundRect">
            <a:avLst>
              <a:gd fmla="val 1433" name="adj"/>
            </a:avLst>
          </a:prstGeom>
          <a:solidFill>
            <a:srgbClr val="444752"/>
          </a:solidFill>
          <a:ln>
            <a:noFill/>
          </a:ln>
        </p:spPr>
        <p:txBody>
          <a:bodyPr anchorCtr="0" anchor="ctr" bIns="91425" lIns="91425" spcFirstLastPara="1" rIns="91425" wrap="square" tIns="91425">
            <a:noAutofit/>
          </a:bodyPr>
          <a:lstStyle/>
          <a:p>
            <a:pPr indent="0" lvl="0" marL="0" marR="0" rtl="0" algn="l">
              <a:lnSpc>
                <a:spcPct val="125000"/>
              </a:lnSpc>
              <a:spcBef>
                <a:spcPts val="0"/>
              </a:spcBef>
              <a:spcAft>
                <a:spcPts val="0"/>
              </a:spcAft>
              <a:buNone/>
            </a:pPr>
            <a:r>
              <a:rPr b="0" i="0" lang="en-US" sz="2000" u="none" cap="none" strike="noStrike">
                <a:solidFill>
                  <a:srgbClr val="6EB9FC"/>
                </a:solidFill>
                <a:latin typeface="Lora"/>
                <a:ea typeface="Lora"/>
                <a:cs typeface="Lora"/>
                <a:sym typeface="Lora"/>
              </a:rPr>
              <a:t>If our brains really are wired to think negatively, we might face more challenges if our ‘thinking brain’ is not involved in our response. </a:t>
            </a:r>
            <a:endParaRPr/>
          </a:p>
          <a:p>
            <a:pPr indent="0" lvl="0" marL="0" marR="0" rtl="0" algn="l">
              <a:lnSpc>
                <a:spcPct val="125000"/>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0" lvl="0" marL="0" marR="0" rtl="0" algn="l">
              <a:lnSpc>
                <a:spcPct val="125000"/>
              </a:lnSpc>
              <a:spcBef>
                <a:spcPts val="0"/>
              </a:spcBef>
              <a:spcAft>
                <a:spcPts val="0"/>
              </a:spcAft>
              <a:buNone/>
            </a:pPr>
            <a:r>
              <a:rPr b="0" i="0" lang="en-US" sz="2000" u="none" cap="none" strike="noStrike">
                <a:solidFill>
                  <a:srgbClr val="6EB9FC"/>
                </a:solidFill>
                <a:latin typeface="Lora"/>
                <a:ea typeface="Lora"/>
                <a:cs typeface="Lora"/>
                <a:sym typeface="Lora"/>
              </a:rPr>
              <a:t>The non-thinking response is great if a stranger begins following you when you’re alone on a dark street, but what if you hear someone gossiping about you? Or if you’re suddenly asked to give a public speech? Or if a colleague dismisses you rudely?</a:t>
            </a:r>
            <a:endParaRPr/>
          </a:p>
          <a:p>
            <a:pPr indent="0" lvl="0" marL="0" marR="0" rtl="0" algn="l">
              <a:lnSpc>
                <a:spcPct val="125000"/>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0" lvl="0" marL="0" marR="0" rtl="0" algn="l">
              <a:lnSpc>
                <a:spcPct val="125000"/>
              </a:lnSpc>
              <a:spcBef>
                <a:spcPts val="0"/>
              </a:spcBef>
              <a:spcAft>
                <a:spcPts val="0"/>
              </a:spcAft>
              <a:buNone/>
            </a:pPr>
            <a:r>
              <a:rPr b="0" i="0" lang="en-US" sz="2000" u="none" cap="none" strike="noStrike">
                <a:solidFill>
                  <a:srgbClr val="6EB9FC"/>
                </a:solidFill>
                <a:latin typeface="Lora"/>
                <a:ea typeface="Lora"/>
                <a:cs typeface="Lora"/>
                <a:sym typeface="Lora"/>
              </a:rPr>
              <a:t>List the implications of a non-thinking reaction you’ve had or witnessed at work.</a:t>
            </a:r>
            <a:endParaRPr b="0" i="0" sz="20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a:ea typeface="Arial"/>
              <a:cs typeface="Arial"/>
              <a:sym typeface="Arial"/>
            </a:endParaRPr>
          </a:p>
        </p:txBody>
      </p:sp>
      <p:sp>
        <p:nvSpPr>
          <p:cNvPr id="190" name="Google Shape;190;p59"/>
          <p:cNvSpPr/>
          <p:nvPr/>
        </p:nvSpPr>
        <p:spPr>
          <a:xfrm>
            <a:off x="6029740" y="284401"/>
            <a:ext cx="8295860"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F98AC7"/>
              </a:buClr>
              <a:buSzPts val="3700"/>
              <a:buFont typeface="Lora"/>
              <a:buNone/>
            </a:pPr>
            <a:r>
              <a:rPr b="0" i="0" lang="en-US" sz="3200" u="none" cap="none" strike="noStrike">
                <a:solidFill>
                  <a:srgbClr val="6EB9FC"/>
                </a:solidFill>
                <a:latin typeface="Lora"/>
                <a:ea typeface="Lora"/>
                <a:cs typeface="Lora"/>
                <a:sym typeface="Lora"/>
              </a:rPr>
              <a:t>Shift 2: Emotional Reaction Implications</a:t>
            </a:r>
            <a:endParaRPr b="0" i="0" sz="3200" u="none" cap="none" strike="noStrike">
              <a:solidFill>
                <a:srgbClr val="6EB9FC"/>
              </a:solidFill>
              <a:latin typeface="Lora"/>
              <a:ea typeface="Lora"/>
              <a:cs typeface="Lora"/>
              <a:sym typeface="Lor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5" name="Shape 195"/>
        <p:cNvGrpSpPr/>
        <p:nvPr/>
      </p:nvGrpSpPr>
      <p:grpSpPr>
        <a:xfrm>
          <a:off x="0" y="0"/>
          <a:ext cx="0" cy="0"/>
          <a:chOff x="0" y="0"/>
          <a:chExt cx="0" cy="0"/>
        </a:xfrm>
      </p:grpSpPr>
      <p:sp>
        <p:nvSpPr>
          <p:cNvPr id="196" name="Google Shape;196;p60"/>
          <p:cNvSpPr/>
          <p:nvPr/>
        </p:nvSpPr>
        <p:spPr>
          <a:xfrm>
            <a:off x="5888695" y="426006"/>
            <a:ext cx="8092520"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8AC7"/>
              </a:buClr>
              <a:buSzPts val="4400"/>
              <a:buFont typeface="Lora"/>
              <a:buNone/>
            </a:pPr>
            <a:r>
              <a:t/>
            </a:r>
            <a:endParaRPr b="0" i="0" sz="4400" u="none" cap="none" strike="noStrike">
              <a:solidFill>
                <a:srgbClr val="6EB9FC"/>
              </a:solidFill>
              <a:latin typeface="Lora"/>
              <a:ea typeface="Lora"/>
              <a:cs typeface="Lora"/>
              <a:sym typeface="Lora"/>
            </a:endParaRPr>
          </a:p>
        </p:txBody>
      </p:sp>
      <p:sp>
        <p:nvSpPr>
          <p:cNvPr id="197" name="Google Shape;197;p60"/>
          <p:cNvSpPr/>
          <p:nvPr/>
        </p:nvSpPr>
        <p:spPr>
          <a:xfrm>
            <a:off x="6146726" y="1130023"/>
            <a:ext cx="7576457" cy="6585409"/>
          </a:xfrm>
          <a:prstGeom prst="roundRect">
            <a:avLst>
              <a:gd fmla="val 1433" name="adj"/>
            </a:avLst>
          </a:prstGeom>
          <a:solidFill>
            <a:srgbClr val="4447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We rarely come across situations in our lives that put us in real physical danger; most of the situations we perceive as ‘dangerous’ are merely related to fears or doubts – and are often about change. </a:t>
            </a:r>
            <a:endParaRPr/>
          </a:p>
          <a:p>
            <a:pPr indent="0" lvl="0" marL="0" marR="0" rtl="0" algn="l">
              <a:lnSpc>
                <a:spcPct val="100000"/>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How can you train yourself to let your neo cortex think through challenges and consider ‘possibilities’ so your survival or emotional (limbic) response doesn’t limit your ‘higher thinking’? </a:t>
            </a:r>
            <a:endParaRPr/>
          </a:p>
          <a:p>
            <a:pPr indent="0" lvl="0" marL="0" marR="0" rtl="0" algn="l">
              <a:lnSpc>
                <a:spcPct val="100000"/>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First, we want to avoid negative mindsets to overcome perceived fears and real anxieties. If we have a negative outlook and often think the ‘worst will happen’, we’re letting our amygdala ‘highjack’ our potential. </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6EB9FC"/>
                </a:solidFill>
                <a:latin typeface="Lora"/>
                <a:ea typeface="Lora"/>
                <a:cs typeface="Lora"/>
                <a:sym typeface="Lora"/>
              </a:rPr>
              <a:t>Reasoning and choosing to respond to a changing world instead of reacting plays a very important part of many skills in Workplace Edge – managing stress, resilience, emotional intelligence, and many more.</a:t>
            </a:r>
            <a:endParaRPr b="0" i="0" sz="2000" u="none" cap="none" strike="noStrike">
              <a:solidFill>
                <a:srgbClr val="6EB9FC"/>
              </a:solidFill>
              <a:latin typeface="Lora"/>
              <a:ea typeface="Lora"/>
              <a:cs typeface="Lora"/>
              <a:sym typeface="Lora"/>
            </a:endParaRPr>
          </a:p>
        </p:txBody>
      </p:sp>
      <p:sp>
        <p:nvSpPr>
          <p:cNvPr id="198" name="Google Shape;198;p60"/>
          <p:cNvSpPr/>
          <p:nvPr/>
        </p:nvSpPr>
        <p:spPr>
          <a:xfrm>
            <a:off x="6029740" y="284401"/>
            <a:ext cx="8295860"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F98AC7"/>
              </a:buClr>
              <a:buSzPts val="3700"/>
              <a:buFont typeface="Lora"/>
              <a:buNone/>
            </a:pPr>
            <a:r>
              <a:rPr b="0" i="0" lang="en-US" sz="3200" u="none" cap="none" strike="noStrike">
                <a:solidFill>
                  <a:srgbClr val="6EB9FC"/>
                </a:solidFill>
                <a:latin typeface="Lora"/>
                <a:ea typeface="Lora"/>
                <a:cs typeface="Lora"/>
                <a:sym typeface="Lora"/>
              </a:rPr>
              <a:t>Shift 2: Emotional Reaction Implications</a:t>
            </a:r>
            <a:endParaRPr b="0" i="0" sz="3200" u="none" cap="none" strike="noStrike">
              <a:solidFill>
                <a:srgbClr val="6EB9FC"/>
              </a:solidFill>
              <a:latin typeface="Lora"/>
              <a:ea typeface="Lora"/>
              <a:cs typeface="Lora"/>
              <a:sym typeface="Lora"/>
            </a:endParaRPr>
          </a:p>
        </p:txBody>
      </p:sp>
      <p:pic>
        <p:nvPicPr>
          <p:cNvPr descr="Stressed healthcare worker" id="199" name="Google Shape;199;p60"/>
          <p:cNvPicPr preferRelativeResize="0"/>
          <p:nvPr/>
        </p:nvPicPr>
        <p:blipFill rotWithShape="1">
          <a:blip r:embed="rId3">
            <a:alphaModFix/>
          </a:blip>
          <a:srcRect b="0" l="0" r="0" t="0"/>
          <a:stretch/>
        </p:blipFill>
        <p:spPr>
          <a:xfrm>
            <a:off x="0" y="2218833"/>
            <a:ext cx="5682245" cy="379193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61"/>
          <p:cNvSpPr/>
          <p:nvPr/>
        </p:nvSpPr>
        <p:spPr>
          <a:xfrm>
            <a:off x="5888695" y="426006"/>
            <a:ext cx="8092520"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8AC7"/>
              </a:buClr>
              <a:buSzPts val="4400"/>
              <a:buFont typeface="Lora"/>
              <a:buNone/>
            </a:pPr>
            <a:r>
              <a:t/>
            </a:r>
            <a:endParaRPr b="0" i="0" sz="4400" u="none" cap="none" strike="noStrike">
              <a:solidFill>
                <a:srgbClr val="6EB9FC"/>
              </a:solidFill>
              <a:latin typeface="Lora"/>
              <a:ea typeface="Lora"/>
              <a:cs typeface="Lora"/>
              <a:sym typeface="Lora"/>
            </a:endParaRPr>
          </a:p>
        </p:txBody>
      </p:sp>
      <p:sp>
        <p:nvSpPr>
          <p:cNvPr id="206" name="Google Shape;206;p61"/>
          <p:cNvSpPr/>
          <p:nvPr/>
        </p:nvSpPr>
        <p:spPr>
          <a:xfrm>
            <a:off x="6146726" y="1218185"/>
            <a:ext cx="7576457" cy="6585409"/>
          </a:xfrm>
          <a:prstGeom prst="roundRect">
            <a:avLst>
              <a:gd fmla="val 1433" name="adj"/>
            </a:avLst>
          </a:prstGeom>
          <a:solidFill>
            <a:srgbClr val="4447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How might using these phrases help defuse some situations?</a:t>
            </a:r>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a:p>
            <a:pPr indent="0" lvl="1"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“I want to check my assumptions before reacting.”</a:t>
            </a:r>
            <a:endParaRPr b="0" i="0" sz="2400" u="none" cap="none" strike="noStrike">
              <a:solidFill>
                <a:srgbClr val="6EB9FC"/>
              </a:solidFill>
              <a:latin typeface="Lora"/>
              <a:ea typeface="Lora"/>
              <a:cs typeface="Lora"/>
              <a:sym typeface="Lora"/>
            </a:endParaRPr>
          </a:p>
          <a:p>
            <a:pPr indent="0" lvl="1"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“Let’s talk again once I’ve had time to reflect.”</a:t>
            </a:r>
            <a:endParaRPr b="0" i="0" sz="2400" u="none" cap="none" strike="noStrike">
              <a:solidFill>
                <a:srgbClr val="6EB9FC"/>
              </a:solidFill>
              <a:latin typeface="Lora"/>
              <a:ea typeface="Lora"/>
              <a:cs typeface="Lora"/>
              <a:sym typeface="Lora"/>
            </a:endParaRPr>
          </a:p>
          <a:p>
            <a:pPr indent="0" lvl="1"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a:p>
            <a:pPr indent="0" lvl="1"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Also, ask yourself:</a:t>
            </a:r>
            <a:endParaRPr/>
          </a:p>
          <a:p>
            <a:pPr indent="0" lvl="1"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a:p>
            <a:pPr indent="0" lvl="1"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Am I catastrophizing? What are the facts?</a:t>
            </a:r>
            <a:endParaRPr b="0" i="0" sz="2400" u="none" cap="none" strike="noStrike">
              <a:solidFill>
                <a:srgbClr val="6EB9FC"/>
              </a:solidFill>
              <a:latin typeface="Lora"/>
              <a:ea typeface="Lora"/>
              <a:cs typeface="Lora"/>
              <a:sym typeface="Lora"/>
            </a:endParaRPr>
          </a:p>
          <a:p>
            <a:pPr indent="0" lvl="1"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Am I catastrophizing? What specific emotions am I feeling now?</a:t>
            </a:r>
            <a:endParaRPr b="0" i="0" sz="2400" u="none" cap="none" strike="noStrike">
              <a:solidFill>
                <a:srgbClr val="6EB9FC"/>
              </a:solidFill>
              <a:latin typeface="Lora"/>
              <a:ea typeface="Lora"/>
              <a:cs typeface="Lora"/>
              <a:sym typeface="Lora"/>
            </a:endParaRPr>
          </a:p>
          <a:p>
            <a:pPr indent="0" lvl="1"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Am I catastrophizing? What can I actually control here?</a:t>
            </a:r>
            <a:endParaRPr b="0" i="0" sz="2400" u="none" cap="none" strike="noStrike">
              <a:solidFill>
                <a:srgbClr val="6EB9FC"/>
              </a:solidFill>
              <a:latin typeface="Lora"/>
              <a:ea typeface="Lora"/>
              <a:cs typeface="Lora"/>
              <a:sym typeface="Lora"/>
            </a:endParaRPr>
          </a:p>
          <a:p>
            <a:pPr indent="0" lvl="1"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Is this an amygdala hijack? Do I need to practice deep breathing?</a:t>
            </a:r>
            <a:endParaRPr b="0" i="0"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p:txBody>
      </p:sp>
      <p:sp>
        <p:nvSpPr>
          <p:cNvPr id="207" name="Google Shape;207;p61"/>
          <p:cNvSpPr/>
          <p:nvPr/>
        </p:nvSpPr>
        <p:spPr>
          <a:xfrm>
            <a:off x="6029740" y="284401"/>
            <a:ext cx="8295860"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F98AC7"/>
              </a:buClr>
              <a:buSzPts val="3700"/>
              <a:buFont typeface="Lora"/>
              <a:buNone/>
            </a:pPr>
            <a:r>
              <a:rPr b="0" i="0" lang="en-US" sz="3200" u="none" cap="none" strike="noStrike">
                <a:solidFill>
                  <a:srgbClr val="6EB9FC"/>
                </a:solidFill>
                <a:latin typeface="Lora"/>
                <a:ea typeface="Lora"/>
                <a:cs typeface="Lora"/>
                <a:sym typeface="Lora"/>
              </a:rPr>
              <a:t>Shift 2: Emotional Reaction Implications</a:t>
            </a:r>
            <a:endParaRPr b="0" i="0" sz="3200" u="none" cap="none" strike="noStrike">
              <a:solidFill>
                <a:srgbClr val="6EB9FC"/>
              </a:solidFill>
              <a:latin typeface="Lora"/>
              <a:ea typeface="Lora"/>
              <a:cs typeface="Lora"/>
              <a:sym typeface="Lora"/>
            </a:endParaRPr>
          </a:p>
        </p:txBody>
      </p:sp>
      <p:pic>
        <p:nvPicPr>
          <p:cNvPr descr="Stressed healthcare worker" id="208" name="Google Shape;208;p61"/>
          <p:cNvPicPr preferRelativeResize="0"/>
          <p:nvPr/>
        </p:nvPicPr>
        <p:blipFill rotWithShape="1">
          <a:blip r:embed="rId3">
            <a:alphaModFix/>
          </a:blip>
          <a:srcRect b="0" l="0" r="0" t="0"/>
          <a:stretch/>
        </p:blipFill>
        <p:spPr>
          <a:xfrm>
            <a:off x="0" y="2218833"/>
            <a:ext cx="5682245" cy="379193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62"/>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215" name="Google Shape;215;p62"/>
          <p:cNvSpPr/>
          <p:nvPr/>
        </p:nvSpPr>
        <p:spPr>
          <a:xfrm>
            <a:off x="6146726" y="1130023"/>
            <a:ext cx="7576457" cy="6585409"/>
          </a:xfrm>
          <a:prstGeom prst="roundRect">
            <a:avLst>
              <a:gd fmla="val 1433" name="adj"/>
            </a:avLst>
          </a:prstGeom>
          <a:solidFill>
            <a:srgbClr val="4447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Choosing to </a:t>
            </a:r>
            <a:r>
              <a:rPr b="0" i="1" lang="en-US" sz="2000" u="none" cap="none" strike="noStrike">
                <a:solidFill>
                  <a:srgbClr val="6EB9FC"/>
                </a:solidFill>
                <a:latin typeface="Lora"/>
                <a:ea typeface="Lora"/>
                <a:cs typeface="Lora"/>
                <a:sym typeface="Lora"/>
              </a:rPr>
              <a:t>respond</a:t>
            </a:r>
            <a:r>
              <a:rPr b="0" i="0" lang="en-US" sz="2000" u="none" cap="none" strike="noStrike">
                <a:solidFill>
                  <a:srgbClr val="6EB9FC"/>
                </a:solidFill>
                <a:latin typeface="Lora"/>
                <a:ea typeface="Lora"/>
                <a:cs typeface="Lora"/>
                <a:sym typeface="Lora"/>
              </a:rPr>
              <a:t> to challenging situations instead of reacting can lead to praise and recognition. On the other hand, emotional outbursts and reactions can limit our opportunities. </a:t>
            </a:r>
            <a:endParaRPr/>
          </a:p>
          <a:p>
            <a:pPr indent="0" lvl="0" marL="0" marR="0" rtl="0" algn="l">
              <a:lnSpc>
                <a:spcPct val="100000"/>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Emotions just ‘happen’ and can be very complex. They can sometimes lead to unintended –and unpleasant- consequences. If we let some emotions drive our actions, we may be held accountable for them. Other emotions furnish great outcomes and, of course, we enjoy taking responsibility for them.  </a:t>
            </a:r>
            <a:endParaRPr/>
          </a:p>
          <a:p>
            <a:pPr indent="0" lvl="0" marL="0" marR="0" rtl="0" algn="l">
              <a:lnSpc>
                <a:spcPct val="100000"/>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So, what’s the difference between responsibility and accountability?</a:t>
            </a:r>
            <a:endParaRPr b="0" i="0" sz="2000" u="none" cap="none" strike="noStrike">
              <a:solidFill>
                <a:srgbClr val="6EB9FC"/>
              </a:solidFill>
              <a:latin typeface="Lora"/>
              <a:ea typeface="Lora"/>
              <a:cs typeface="Lora"/>
              <a:sym typeface="Lora"/>
            </a:endParaRPr>
          </a:p>
        </p:txBody>
      </p:sp>
      <p:sp>
        <p:nvSpPr>
          <p:cNvPr id="216" name="Google Shape;216;p62"/>
          <p:cNvSpPr/>
          <p:nvPr/>
        </p:nvSpPr>
        <p:spPr>
          <a:xfrm>
            <a:off x="6029740" y="284401"/>
            <a:ext cx="8295860"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F98AC7"/>
              </a:buClr>
              <a:buSzPts val="3700"/>
              <a:buFont typeface="Lora"/>
              <a:buNone/>
            </a:pPr>
            <a:r>
              <a:rPr b="0" i="0" lang="en-US" sz="3200" u="none" cap="none" strike="noStrike">
                <a:solidFill>
                  <a:srgbClr val="6EB9FC"/>
                </a:solidFill>
                <a:latin typeface="Lora"/>
                <a:ea typeface="Lora"/>
                <a:cs typeface="Lora"/>
                <a:sym typeface="Lora"/>
              </a:rPr>
              <a:t>Shift 3: Emotions &amp; Personal Accountability</a:t>
            </a:r>
            <a:endParaRPr b="0" i="0" sz="3200" u="none" cap="none" strike="noStrike">
              <a:solidFill>
                <a:srgbClr val="6EB9FC"/>
              </a:solidFill>
              <a:latin typeface="Lora"/>
              <a:ea typeface="Lora"/>
              <a:cs typeface="Lora"/>
              <a:sym typeface="Lor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63"/>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223" name="Google Shape;223;p63"/>
          <p:cNvSpPr/>
          <p:nvPr/>
        </p:nvSpPr>
        <p:spPr>
          <a:xfrm>
            <a:off x="6146726" y="1130023"/>
            <a:ext cx="7576457" cy="6585409"/>
          </a:xfrm>
          <a:prstGeom prst="roundRect">
            <a:avLst>
              <a:gd fmla="val 1433" name="adj"/>
            </a:avLst>
          </a:prstGeom>
          <a:solidFill>
            <a:srgbClr val="4447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Use this sorting activity to match the characteristics under Responsibility or Accountability at work:</a:t>
            </a:r>
            <a:endParaRPr/>
          </a:p>
          <a:p>
            <a:pPr indent="0" lvl="0" marL="0" marR="0" rtl="0" algn="l">
              <a:lnSpc>
                <a:spcPct val="100000"/>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RESPONSIBILITY</a:t>
            </a:r>
            <a:endParaRPr/>
          </a:p>
          <a:p>
            <a:pPr indent="-171450" lvl="0" marL="17145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6EB9FC"/>
                </a:solidFill>
                <a:latin typeface="Lora"/>
                <a:ea typeface="Lora"/>
                <a:cs typeface="Lora"/>
                <a:sym typeface="Lora"/>
              </a:rPr>
              <a:t>Is voluntary</a:t>
            </a:r>
            <a:endParaRPr/>
          </a:p>
          <a:p>
            <a:pPr indent="-171450" lvl="0" marL="17145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6EB9FC"/>
                </a:solidFill>
                <a:latin typeface="Lora"/>
                <a:ea typeface="Lora"/>
                <a:cs typeface="Lora"/>
                <a:sym typeface="Lora"/>
              </a:rPr>
              <a:t>Does not often involve emotions</a:t>
            </a:r>
            <a:endParaRPr/>
          </a:p>
          <a:p>
            <a:pPr indent="-171450" lvl="0" marL="17145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6EB9FC"/>
                </a:solidFill>
                <a:latin typeface="Lora"/>
                <a:ea typeface="Lora"/>
                <a:cs typeface="Lora"/>
                <a:sym typeface="Lora"/>
              </a:rPr>
              <a:t>Can be delegated</a:t>
            </a:r>
            <a:endParaRPr/>
          </a:p>
          <a:p>
            <a:pPr indent="-171450" lvl="0" marL="17145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6EB9FC"/>
                </a:solidFill>
                <a:latin typeface="Lora"/>
                <a:ea typeface="Lora"/>
                <a:cs typeface="Lora"/>
                <a:sym typeface="Lora"/>
              </a:rPr>
              <a:t>Happens before actions or events (usually)</a:t>
            </a:r>
            <a:endParaRPr/>
          </a:p>
          <a:p>
            <a:pPr indent="-171450" lvl="0" marL="17145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6EB9FC"/>
                </a:solidFill>
                <a:latin typeface="Lora"/>
                <a:ea typeface="Lora"/>
                <a:cs typeface="Lora"/>
                <a:sym typeface="Lora"/>
              </a:rPr>
              <a:t>Appears in job descriptions</a:t>
            </a:r>
            <a:endParaRPr/>
          </a:p>
          <a:p>
            <a:pPr indent="-171450" lvl="0" marL="17145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6EB9FC"/>
                </a:solidFill>
                <a:latin typeface="Lora"/>
                <a:ea typeface="Lora"/>
                <a:cs typeface="Lora"/>
                <a:sym typeface="Lora"/>
              </a:rPr>
              <a:t>Is not usually difficult to assume</a:t>
            </a:r>
            <a:endParaRPr/>
          </a:p>
          <a:p>
            <a:pPr indent="-171450" lvl="0" marL="17145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6EB9FC"/>
                </a:solidFill>
                <a:latin typeface="Lora"/>
                <a:ea typeface="Lora"/>
                <a:cs typeface="Lora"/>
                <a:sym typeface="Lora"/>
              </a:rPr>
              <a:t>Is experienced by almost everyone</a:t>
            </a:r>
            <a:endParaRPr/>
          </a:p>
          <a:p>
            <a:pPr indent="-44450" lvl="0" marL="17145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6EB9FC"/>
              </a:solidFill>
              <a:latin typeface="Lora"/>
              <a:ea typeface="Lora"/>
              <a:cs typeface="Lora"/>
              <a:sym typeface="Lora"/>
            </a:endParaRPr>
          </a:p>
          <a:p>
            <a:pPr indent="-44450" lvl="0" marL="17145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ACCOUNTABILITY </a:t>
            </a:r>
            <a:endParaRPr/>
          </a:p>
          <a:p>
            <a:pPr indent="-171450" lvl="0" marL="17145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6EB9FC"/>
                </a:solidFill>
                <a:latin typeface="Lora"/>
                <a:ea typeface="Lora"/>
                <a:cs typeface="Lora"/>
                <a:sym typeface="Lora"/>
              </a:rPr>
              <a:t>Is voluntary</a:t>
            </a:r>
            <a:endParaRPr/>
          </a:p>
          <a:p>
            <a:pPr indent="-171450" lvl="0" marL="17145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6EB9FC"/>
                </a:solidFill>
                <a:latin typeface="Lora"/>
                <a:ea typeface="Lora"/>
                <a:cs typeface="Lora"/>
                <a:sym typeface="Lora"/>
              </a:rPr>
              <a:t>May involve emotions</a:t>
            </a:r>
            <a:endParaRPr b="0" i="0" sz="2000" u="none" cap="none" strike="noStrike">
              <a:solidFill>
                <a:srgbClr val="6EB9FC"/>
              </a:solidFill>
              <a:latin typeface="Lora"/>
              <a:ea typeface="Lora"/>
              <a:cs typeface="Lora"/>
              <a:sym typeface="Lora"/>
            </a:endParaRPr>
          </a:p>
          <a:p>
            <a:pPr indent="-171450" lvl="0" marL="17145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6EB9FC"/>
                </a:solidFill>
                <a:latin typeface="Lora"/>
                <a:ea typeface="Lora"/>
                <a:cs typeface="Lora"/>
                <a:sym typeface="Lora"/>
              </a:rPr>
              <a:t>Cannot be delegated</a:t>
            </a:r>
            <a:endParaRPr/>
          </a:p>
          <a:p>
            <a:pPr indent="-171450" lvl="0" marL="17145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6EB9FC"/>
                </a:solidFill>
                <a:latin typeface="Lora"/>
                <a:ea typeface="Lora"/>
                <a:cs typeface="Lora"/>
                <a:sym typeface="Lora"/>
              </a:rPr>
              <a:t>Happens after actions or events (usually)</a:t>
            </a:r>
            <a:endParaRPr/>
          </a:p>
          <a:p>
            <a:pPr indent="-171450" lvl="0" marL="17145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6EB9FC"/>
                </a:solidFill>
                <a:latin typeface="Lora"/>
                <a:ea typeface="Lora"/>
                <a:cs typeface="Lora"/>
                <a:sym typeface="Lora"/>
              </a:rPr>
              <a:t>Does not appear in job descriptions</a:t>
            </a:r>
            <a:endParaRPr/>
          </a:p>
          <a:p>
            <a:pPr indent="-171450" lvl="0" marL="17145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6EB9FC"/>
                </a:solidFill>
                <a:latin typeface="Lora"/>
                <a:ea typeface="Lora"/>
                <a:cs typeface="Lora"/>
                <a:sym typeface="Lora"/>
              </a:rPr>
              <a:t>Can be difficult to admit</a:t>
            </a:r>
            <a:endParaRPr/>
          </a:p>
          <a:p>
            <a:pPr indent="-171450" lvl="0" marL="171450" marR="0" rtl="0" algn="l">
              <a:lnSpc>
                <a:spcPct val="100000"/>
              </a:lnSpc>
              <a:spcBef>
                <a:spcPts val="0"/>
              </a:spcBef>
              <a:spcAft>
                <a:spcPts val="0"/>
              </a:spcAft>
              <a:buClr>
                <a:srgbClr val="6EB9FC"/>
              </a:buClr>
              <a:buSzPts val="2000"/>
              <a:buFont typeface="Arial"/>
              <a:buChar char="•"/>
            </a:pPr>
            <a:r>
              <a:rPr b="0" i="0" lang="en-US" sz="2000" u="none" cap="none" strike="noStrike">
                <a:solidFill>
                  <a:srgbClr val="6EB9FC"/>
                </a:solidFill>
                <a:latin typeface="Lora"/>
                <a:ea typeface="Lora"/>
                <a:cs typeface="Lora"/>
                <a:sym typeface="Lora"/>
              </a:rPr>
              <a:t>Is not necessarily experienced by everyone</a:t>
            </a:r>
            <a:endParaRPr/>
          </a:p>
        </p:txBody>
      </p:sp>
      <p:sp>
        <p:nvSpPr>
          <p:cNvPr id="224" name="Google Shape;224;p63"/>
          <p:cNvSpPr/>
          <p:nvPr/>
        </p:nvSpPr>
        <p:spPr>
          <a:xfrm>
            <a:off x="6029740" y="284401"/>
            <a:ext cx="8295860"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F98AC7"/>
              </a:buClr>
              <a:buSzPts val="3700"/>
              <a:buFont typeface="Lora"/>
              <a:buNone/>
            </a:pPr>
            <a:r>
              <a:rPr b="0" i="0" lang="en-US" sz="3200" u="none" cap="none" strike="noStrike">
                <a:solidFill>
                  <a:srgbClr val="6EB9FC"/>
                </a:solidFill>
                <a:latin typeface="Lora"/>
                <a:ea typeface="Lora"/>
                <a:cs typeface="Lora"/>
                <a:sym typeface="Lora"/>
              </a:rPr>
              <a:t>Shift 3: Emotions &amp; Personal Accountability</a:t>
            </a:r>
            <a:endParaRPr b="0" i="0" sz="3200" u="none" cap="none" strike="noStrike">
              <a:solidFill>
                <a:srgbClr val="6EB9FC"/>
              </a:solidFill>
              <a:latin typeface="Lora"/>
              <a:ea typeface="Lora"/>
              <a:cs typeface="Lora"/>
              <a:sym typeface="Lor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descr="preencoded.png" id="230" name="Google Shape;230;p64"/>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231" name="Google Shape;231;p64"/>
          <p:cNvSpPr/>
          <p:nvPr/>
        </p:nvSpPr>
        <p:spPr>
          <a:xfrm>
            <a:off x="6523997" y="3522345"/>
            <a:ext cx="7733824"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F98AC7"/>
              </a:buClr>
              <a:buSzPts val="3700"/>
              <a:buFont typeface="Lora"/>
              <a:buNone/>
            </a:pPr>
            <a:r>
              <a:rPr b="0" i="0" lang="en-US" sz="4400" u="none" cap="none" strike="noStrike">
                <a:solidFill>
                  <a:srgbClr val="6EB9FC"/>
                </a:solidFill>
                <a:latin typeface="Lora"/>
                <a:ea typeface="Lora"/>
                <a:cs typeface="Lora"/>
                <a:sym typeface="Lora"/>
              </a:rPr>
              <a:t>Stretch</a:t>
            </a:r>
            <a:endParaRPr b="0" i="0" sz="4400" u="none" cap="none" strike="noStrike">
              <a:solidFill>
                <a:srgbClr val="6EB9FC"/>
              </a:solidFill>
              <a:latin typeface="Lora"/>
              <a:ea typeface="Lora"/>
              <a:cs typeface="Lora"/>
              <a:sym typeface="Lor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descr="preencoded.png" id="237" name="Google Shape;237;p65"/>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238" name="Google Shape;238;p65"/>
          <p:cNvSpPr/>
          <p:nvPr/>
        </p:nvSpPr>
        <p:spPr>
          <a:xfrm>
            <a:off x="6033666" y="235805"/>
            <a:ext cx="7733824"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None/>
            </a:pPr>
            <a:r>
              <a:rPr b="0" i="0" lang="en-US" sz="3200" u="none" cap="none" strike="noStrike">
                <a:solidFill>
                  <a:srgbClr val="6EB9FC"/>
                </a:solidFill>
                <a:latin typeface="Lora"/>
                <a:ea typeface="Lora"/>
                <a:cs typeface="Lora"/>
                <a:sym typeface="Lora"/>
              </a:rPr>
              <a:t>Stretch 1: How is Emotional Expression Handled in your Workplace? </a:t>
            </a:r>
            <a:endParaRPr/>
          </a:p>
          <a:p>
            <a:pPr indent="0" lvl="0" marL="0" marR="0" rtl="0" algn="l">
              <a:lnSpc>
                <a:spcPct val="125675"/>
              </a:lnSpc>
              <a:spcBef>
                <a:spcPts val="0"/>
              </a:spcBef>
              <a:spcAft>
                <a:spcPts val="0"/>
              </a:spcAft>
              <a:buNone/>
            </a:pPr>
            <a:r>
              <a:t/>
            </a:r>
            <a:endParaRPr b="0" i="0" sz="32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2400" u="none" cap="none" strike="noStrike">
                <a:solidFill>
                  <a:srgbClr val="6EB9FC"/>
                </a:solidFill>
                <a:latin typeface="Lora"/>
                <a:ea typeface="Lora"/>
                <a:cs typeface="Lora"/>
                <a:sym typeface="Lora"/>
              </a:rPr>
              <a:t>Do you notice colleagues building personal relationships as well as being task oriented? </a:t>
            </a:r>
            <a:endParaRPr/>
          </a:p>
          <a:p>
            <a:pPr indent="0" lvl="0" marL="0" marR="0" rtl="0" algn="l">
              <a:lnSpc>
                <a:spcPct val="125675"/>
              </a:lnSpc>
              <a:spcBef>
                <a:spcPts val="0"/>
              </a:spcBef>
              <a:spcAft>
                <a:spcPts val="0"/>
              </a:spcAft>
              <a:buNone/>
            </a:pPr>
            <a:r>
              <a:rPr b="0" i="0" lang="en-US" sz="2400" u="none" cap="none" strike="noStrike">
                <a:solidFill>
                  <a:srgbClr val="6EB9FC"/>
                </a:solidFill>
                <a:latin typeface="Lora"/>
                <a:ea typeface="Lora"/>
                <a:cs typeface="Lora"/>
                <a:sym typeface="Lora"/>
              </a:rPr>
              <a:t>Or do people tend to focus on their jobs and leave their personal lives at home?</a:t>
            </a:r>
            <a:endParaRPr/>
          </a:p>
          <a:p>
            <a:pPr indent="0" lvl="0" marL="0" marR="0" rtl="0" algn="l">
              <a:lnSpc>
                <a:spcPct val="125675"/>
              </a:lnSpc>
              <a:spcBef>
                <a:spcPts val="0"/>
              </a:spcBef>
              <a:spcAft>
                <a:spcPts val="0"/>
              </a:spcAft>
              <a:buNone/>
            </a:pPr>
            <a:r>
              <a:t/>
            </a:r>
            <a:endParaRPr b="0" i="0" sz="24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2400" u="none" cap="none" strike="noStrike">
                <a:solidFill>
                  <a:srgbClr val="6EB9FC"/>
                </a:solidFill>
                <a:latin typeface="Lora"/>
                <a:ea typeface="Lora"/>
                <a:cs typeface="Lora"/>
                <a:sym typeface="Lora"/>
              </a:rPr>
              <a:t>Look around during lunch in your workplace. Do people label their food containers in the fridge and tend to eat alone at their desks?</a:t>
            </a:r>
            <a:endParaRPr/>
          </a:p>
          <a:p>
            <a:pPr indent="0" lvl="0" marL="0" marR="0" rtl="0" algn="l">
              <a:lnSpc>
                <a:spcPct val="125675"/>
              </a:lnSpc>
              <a:spcBef>
                <a:spcPts val="0"/>
              </a:spcBef>
              <a:spcAft>
                <a:spcPts val="0"/>
              </a:spcAft>
              <a:buNone/>
            </a:pPr>
            <a:r>
              <a:rPr b="0" i="0" lang="en-US" sz="2400" u="none" cap="none" strike="noStrike">
                <a:solidFill>
                  <a:srgbClr val="6EB9FC"/>
                </a:solidFill>
                <a:latin typeface="Lora"/>
                <a:ea typeface="Lora"/>
                <a:cs typeface="Lora"/>
                <a:sym typeface="Lora"/>
              </a:rPr>
              <a:t>Or do they gather round a table in another room</a:t>
            </a:r>
            <a:endParaRPr/>
          </a:p>
          <a:p>
            <a:pPr indent="0" lvl="0" marL="0" marR="0" rtl="0" algn="l">
              <a:lnSpc>
                <a:spcPct val="125675"/>
              </a:lnSpc>
              <a:spcBef>
                <a:spcPts val="0"/>
              </a:spcBef>
              <a:spcAft>
                <a:spcPts val="0"/>
              </a:spcAft>
              <a:buNone/>
            </a:pPr>
            <a:r>
              <a:rPr b="0" i="0" lang="en-US" sz="2400" u="none" cap="none" strike="noStrike">
                <a:solidFill>
                  <a:srgbClr val="6EB9FC"/>
                </a:solidFill>
                <a:latin typeface="Lora"/>
                <a:ea typeface="Lora"/>
                <a:cs typeface="Lora"/>
                <a:sym typeface="Lora"/>
              </a:rPr>
              <a:t>And happily share their food with colleagues?  </a:t>
            </a:r>
            <a:endParaRPr b="0" i="0" sz="2400" u="none" cap="none" strike="noStrike">
              <a:solidFill>
                <a:srgbClr val="6EB9FC"/>
              </a:solidFill>
              <a:latin typeface="Lora"/>
              <a:ea typeface="Lora"/>
              <a:cs typeface="Lora"/>
              <a:sym typeface="Lor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descr="preencoded.png" id="244" name="Google Shape;244;p66"/>
          <p:cNvPicPr preferRelativeResize="0"/>
          <p:nvPr/>
        </p:nvPicPr>
        <p:blipFill rotWithShape="1">
          <a:blip r:embed="rId3">
            <a:alphaModFix/>
          </a:blip>
          <a:srcRect b="0" l="0" r="0" t="0"/>
          <a:stretch/>
        </p:blipFill>
        <p:spPr>
          <a:xfrm>
            <a:off x="395785" y="-13682"/>
            <a:ext cx="5486400" cy="8229600"/>
          </a:xfrm>
          <a:prstGeom prst="rect">
            <a:avLst/>
          </a:prstGeom>
          <a:noFill/>
          <a:ln>
            <a:noFill/>
          </a:ln>
        </p:spPr>
      </p:pic>
      <p:sp>
        <p:nvSpPr>
          <p:cNvPr id="245" name="Google Shape;245;p66"/>
          <p:cNvSpPr/>
          <p:nvPr/>
        </p:nvSpPr>
        <p:spPr>
          <a:xfrm>
            <a:off x="6033666" y="235805"/>
            <a:ext cx="7733824"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None/>
            </a:pPr>
            <a:r>
              <a:rPr b="0" i="0" lang="en-US" sz="3200" u="none" cap="none" strike="noStrike">
                <a:solidFill>
                  <a:srgbClr val="6EB9FC"/>
                </a:solidFill>
                <a:latin typeface="Lora"/>
                <a:ea typeface="Lora"/>
                <a:cs typeface="Lora"/>
                <a:sym typeface="Lora"/>
              </a:rPr>
              <a:t>Stretch 1: How is Emotional Expression Handled in your Workplace? </a:t>
            </a:r>
            <a:endParaRPr/>
          </a:p>
          <a:p>
            <a:pPr indent="0" lvl="0" marL="0" marR="0" rtl="0" algn="l">
              <a:lnSpc>
                <a:spcPct val="125675"/>
              </a:lnSpc>
              <a:spcBef>
                <a:spcPts val="0"/>
              </a:spcBef>
              <a:spcAft>
                <a:spcPts val="0"/>
              </a:spcAft>
              <a:buNone/>
            </a:pPr>
            <a:r>
              <a:t/>
            </a:r>
            <a:endParaRPr b="0" i="0" sz="32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2400" u="none" cap="none" strike="noStrike">
                <a:solidFill>
                  <a:srgbClr val="6EB9FC"/>
                </a:solidFill>
                <a:latin typeface="Lora"/>
                <a:ea typeface="Lora"/>
                <a:cs typeface="Lora"/>
                <a:sym typeface="Lora"/>
              </a:rPr>
              <a:t> </a:t>
            </a:r>
            <a:endParaRPr b="0" i="0" sz="2400" u="none" cap="none" strike="noStrike">
              <a:solidFill>
                <a:srgbClr val="6EB9FC"/>
              </a:solidFill>
              <a:latin typeface="Lora"/>
              <a:ea typeface="Lora"/>
              <a:cs typeface="Lora"/>
              <a:sym typeface="Lora"/>
            </a:endParaRPr>
          </a:p>
        </p:txBody>
      </p:sp>
      <p:sp>
        <p:nvSpPr>
          <p:cNvPr id="246" name="Google Shape;246;p66"/>
          <p:cNvSpPr/>
          <p:nvPr/>
        </p:nvSpPr>
        <p:spPr>
          <a:xfrm>
            <a:off x="6315748" y="1574603"/>
            <a:ext cx="6741006" cy="6858255"/>
          </a:xfrm>
          <a:prstGeom prst="rect">
            <a:avLst/>
          </a:prstGeom>
          <a:noFill/>
          <a:ln>
            <a:noFill/>
          </a:ln>
        </p:spPr>
        <p:txBody>
          <a:bodyPr anchorCtr="0" anchor="ctr" bIns="101550" lIns="91425" spcFirstLastPara="1" rIns="91425" wrap="square" tIns="45700">
            <a:spAutoFit/>
          </a:bodyPr>
          <a:lstStyle/>
          <a:p>
            <a:pPr indent="0" lvl="0" marL="0" marR="0" rtl="0" algn="l">
              <a:lnSpc>
                <a:spcPct val="100000"/>
              </a:lnSpc>
              <a:spcBef>
                <a:spcPts val="0"/>
              </a:spcBef>
              <a:spcAft>
                <a:spcPts val="0"/>
              </a:spcAft>
              <a:buClr>
                <a:srgbClr val="6EB9FC"/>
              </a:buClr>
              <a:buSzPts val="2000"/>
              <a:buFont typeface="Arial"/>
              <a:buNone/>
            </a:pPr>
            <a:r>
              <a:rPr b="0" i="0" lang="en-US" sz="2000" u="none" cap="none" strike="noStrike">
                <a:solidFill>
                  <a:srgbClr val="6EB9FC"/>
                </a:solidFill>
                <a:latin typeface="Lora"/>
                <a:ea typeface="Lora"/>
                <a:cs typeface="Lora"/>
                <a:sym typeface="Lora"/>
              </a:rPr>
              <a:t>Amin’s stomach rumbled as he opened the lunchroom fridge, eager for the simple veggie sticks, sandwiches and sliced fruit he had packed. His bag was gone. Puzzled, he looked around the room and noticed Isabelle and a few colleagues laughing at a table, happily sharing a platter, part of which looked exactly like his lunch. His stomach sank as he approached the table, a sense of disbelief washing over him.</a:t>
            </a:r>
            <a:endParaRPr/>
          </a:p>
          <a:p>
            <a:pPr indent="0" lvl="0" marL="0" marR="0" rtl="0" algn="l">
              <a:lnSpc>
                <a:spcPct val="100000"/>
              </a:lnSpc>
              <a:spcBef>
                <a:spcPts val="0"/>
              </a:spcBef>
              <a:spcAft>
                <a:spcPts val="0"/>
              </a:spcAft>
              <a:buClr>
                <a:srgbClr val="6EB9FC"/>
              </a:buClr>
              <a:buSzPts val="2000"/>
              <a:buFont typeface="Arial"/>
              <a:buNone/>
            </a:pPr>
            <a:r>
              <a:rPr b="0" i="0" lang="en-US" sz="2000" u="none" cap="none" strike="noStrike">
                <a:solidFill>
                  <a:srgbClr val="6EB9FC"/>
                </a:solidFill>
                <a:latin typeface="Lora"/>
                <a:ea typeface="Lora"/>
                <a:cs typeface="Lora"/>
                <a:sym typeface="Lora"/>
              </a:rPr>
              <a:t>“Isabelle, those look like my sandwiches,” he said politely, gesturing to the spread.</a:t>
            </a:r>
            <a:endParaRPr/>
          </a:p>
          <a:p>
            <a:pPr indent="0" lvl="0" marL="0" marR="0" rtl="0" algn="l">
              <a:lnSpc>
                <a:spcPct val="100000"/>
              </a:lnSpc>
              <a:spcBef>
                <a:spcPts val="0"/>
              </a:spcBef>
              <a:spcAft>
                <a:spcPts val="0"/>
              </a:spcAft>
              <a:buClr>
                <a:srgbClr val="6EB9FC"/>
              </a:buClr>
              <a:buSzPts val="2000"/>
              <a:buFont typeface="Arial"/>
              <a:buNone/>
            </a:pPr>
            <a:r>
              <a:rPr b="0" i="0" lang="en-US" sz="2000" u="none" cap="none" strike="noStrike">
                <a:solidFill>
                  <a:srgbClr val="6EB9FC"/>
                </a:solidFill>
                <a:latin typeface="Lora"/>
                <a:ea typeface="Lora"/>
                <a:cs typeface="Lora"/>
                <a:sym typeface="Lora"/>
              </a:rPr>
              <a:t>Isabelle looked up with a friendly smile. “Oh, Amin! We thought someone brought in extra. Please, sit down and have some.”</a:t>
            </a:r>
            <a:endParaRPr/>
          </a:p>
          <a:p>
            <a:pPr indent="0" lvl="0" marL="0" marR="0" rtl="0" algn="l">
              <a:lnSpc>
                <a:spcPct val="100000"/>
              </a:lnSpc>
              <a:spcBef>
                <a:spcPts val="0"/>
              </a:spcBef>
              <a:spcAft>
                <a:spcPts val="0"/>
              </a:spcAft>
              <a:buClr>
                <a:srgbClr val="6EB9FC"/>
              </a:buClr>
              <a:buSzPts val="2000"/>
              <a:buFont typeface="Arial"/>
              <a:buNone/>
            </a:pPr>
            <a:r>
              <a:rPr b="0" i="0" lang="en-US" sz="2000" u="none" cap="none" strike="noStrike">
                <a:solidFill>
                  <a:srgbClr val="6EB9FC"/>
                </a:solidFill>
                <a:latin typeface="Lora"/>
                <a:ea typeface="Lora"/>
                <a:cs typeface="Lora"/>
                <a:sym typeface="Lora"/>
              </a:rPr>
              <a:t>The invitation felt like a polite dismissal. Amin’s hunger was tinged with a pang of hurt. He begins to walk away, mystified by how his food had become a communal lunch.</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What should Amin do?</a:t>
            </a:r>
            <a:endParaRPr/>
          </a:p>
          <a:p>
            <a:pPr indent="0" lvl="0" marL="0" marR="0" rtl="0" algn="l">
              <a:lnSpc>
                <a:spcPct val="100000"/>
              </a:lnSpc>
              <a:spcBef>
                <a:spcPts val="0"/>
              </a:spcBef>
              <a:spcAft>
                <a:spcPts val="0"/>
              </a:spcAft>
              <a:buClr>
                <a:srgbClr val="6EB9FC"/>
              </a:buClr>
              <a:buSzPts val="2000"/>
              <a:buFont typeface="Arial"/>
              <a:buNone/>
            </a:pPr>
            <a:r>
              <a:rPr b="0" i="0" lang="en-US" sz="2000" u="none" cap="none" strike="noStrike">
                <a:solidFill>
                  <a:srgbClr val="6EB9FC"/>
                </a:solidFill>
                <a:latin typeface="Lora"/>
                <a:ea typeface="Lora"/>
                <a:cs typeface="Lora"/>
                <a:sym typeface="Lora"/>
              </a:rPr>
              <a:t>Choose your response on the next slide and get ready to discuss it with your group </a:t>
            </a:r>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47" name="Google Shape;247;p66"/>
          <p:cNvSpPr/>
          <p:nvPr/>
        </p:nvSpPr>
        <p:spPr>
          <a:xfrm>
            <a:off x="723331" y="3232183"/>
            <a:ext cx="253596" cy="26161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descr="preencoded.png" id="253" name="Google Shape;253;p67"/>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254" name="Google Shape;254;p67"/>
          <p:cNvSpPr/>
          <p:nvPr/>
        </p:nvSpPr>
        <p:spPr>
          <a:xfrm>
            <a:off x="6523997" y="3522345"/>
            <a:ext cx="7733824"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F98AC7"/>
              </a:buClr>
              <a:buSzPts val="3700"/>
              <a:buFont typeface="Lora"/>
              <a:buNone/>
            </a:pPr>
            <a:r>
              <a:t/>
            </a:r>
            <a:endParaRPr b="0" i="0" sz="4400" u="none" cap="none" strike="noStrike">
              <a:solidFill>
                <a:srgbClr val="6EB9FC"/>
              </a:solidFill>
              <a:latin typeface="Lora"/>
              <a:ea typeface="Lora"/>
              <a:cs typeface="Lora"/>
              <a:sym typeface="Lora"/>
            </a:endParaRPr>
          </a:p>
        </p:txBody>
      </p:sp>
      <p:sp>
        <p:nvSpPr>
          <p:cNvPr id="255" name="Google Shape;255;p67"/>
          <p:cNvSpPr txBox="1"/>
          <p:nvPr/>
        </p:nvSpPr>
        <p:spPr>
          <a:xfrm>
            <a:off x="5671930" y="1729531"/>
            <a:ext cx="8759687" cy="60016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EB9FC"/>
              </a:buClr>
              <a:buSzPts val="2400"/>
              <a:buFont typeface="Arial"/>
              <a:buNone/>
            </a:pPr>
            <a:r>
              <a:rPr b="0" i="0" lang="en-US" sz="2400" u="none" cap="none" strike="noStrike">
                <a:solidFill>
                  <a:srgbClr val="6EB9FC"/>
                </a:solidFill>
                <a:latin typeface="Lora"/>
                <a:ea typeface="Lora"/>
                <a:cs typeface="Lora"/>
                <a:sym typeface="Lora"/>
              </a:rPr>
              <a:t>Write two sentences about how Isabelle and her colleagues might have felt about the situation. Then decide what Amin should do:</a:t>
            </a:r>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6EB9FC"/>
              </a:solidFill>
              <a:latin typeface="Lora"/>
              <a:ea typeface="Lora"/>
              <a:cs typeface="Lora"/>
              <a:sym typeface="Lora"/>
            </a:endParaRPr>
          </a:p>
          <a:p>
            <a:pPr indent="-457200" lvl="0" marL="457200" marR="0" rtl="0" algn="l">
              <a:lnSpc>
                <a:spcPct val="100000"/>
              </a:lnSpc>
              <a:spcBef>
                <a:spcPts val="0"/>
              </a:spcBef>
              <a:spcAft>
                <a:spcPts val="0"/>
              </a:spcAft>
              <a:buClr>
                <a:srgbClr val="6EB9FC"/>
              </a:buClr>
              <a:buSzPts val="2400"/>
              <a:buFont typeface="Arial"/>
              <a:buAutoNum type="alphaUcPeriod"/>
            </a:pPr>
            <a:r>
              <a:rPr b="0" i="0" lang="en-US" sz="2400" u="none" cap="none" strike="noStrike">
                <a:solidFill>
                  <a:srgbClr val="6EB9FC"/>
                </a:solidFill>
                <a:latin typeface="Lora"/>
                <a:ea typeface="Lora"/>
                <a:cs typeface="Lora"/>
                <a:sym typeface="Lora"/>
              </a:rPr>
              <a:t>Turn and state how hurt he is but doesn't scold           anyone.</a:t>
            </a:r>
            <a:endParaRPr/>
          </a:p>
          <a:p>
            <a:pPr indent="0" lvl="0" marL="0" marR="0" rtl="0" algn="l">
              <a:lnSpc>
                <a:spcPct val="100000"/>
              </a:lnSpc>
              <a:spcBef>
                <a:spcPts val="0"/>
              </a:spcBef>
              <a:spcAft>
                <a:spcPts val="0"/>
              </a:spcAft>
              <a:buClr>
                <a:srgbClr val="6EB9FC"/>
              </a:buClr>
              <a:buSzPts val="2400"/>
              <a:buFont typeface="Arial"/>
              <a:buNone/>
            </a:pPr>
            <a:r>
              <a:rPr b="0" i="0" lang="en-US" sz="2400" u="none" cap="none" strike="noStrike">
                <a:solidFill>
                  <a:srgbClr val="6EB9FC"/>
                </a:solidFill>
                <a:latin typeface="Lora"/>
                <a:ea typeface="Lora"/>
                <a:cs typeface="Lora"/>
                <a:sym typeface="Lora"/>
              </a:rPr>
              <a:t>B. Turn and admonish the eaters with a gentle warning.</a:t>
            </a:r>
            <a:endParaRPr/>
          </a:p>
          <a:p>
            <a:pPr indent="0" lvl="0" marL="0" marR="0" rtl="0" algn="l">
              <a:lnSpc>
                <a:spcPct val="100000"/>
              </a:lnSpc>
              <a:spcBef>
                <a:spcPts val="0"/>
              </a:spcBef>
              <a:spcAft>
                <a:spcPts val="0"/>
              </a:spcAft>
              <a:buClr>
                <a:srgbClr val="6EB9FC"/>
              </a:buClr>
              <a:buSzPts val="2400"/>
              <a:buFont typeface="Arial"/>
              <a:buNone/>
            </a:pPr>
            <a:r>
              <a:rPr b="0" i="0" lang="en-US" sz="2400" u="none" cap="none" strike="noStrike">
                <a:solidFill>
                  <a:srgbClr val="6EB9FC"/>
                </a:solidFill>
                <a:latin typeface="Lora"/>
                <a:ea typeface="Lora"/>
                <a:cs typeface="Lora"/>
                <a:sym typeface="Lora"/>
              </a:rPr>
              <a:t>C. Sit down to join them and eat a fuller, better lunch </a:t>
            </a:r>
            <a:endParaRPr/>
          </a:p>
          <a:p>
            <a:pPr indent="0" lvl="0" marL="0" marR="0" rtl="0" algn="l">
              <a:lnSpc>
                <a:spcPct val="100000"/>
              </a:lnSpc>
              <a:spcBef>
                <a:spcPts val="0"/>
              </a:spcBef>
              <a:spcAft>
                <a:spcPts val="0"/>
              </a:spcAft>
              <a:buClr>
                <a:srgbClr val="6EB9FC"/>
              </a:buClr>
              <a:buSzPts val="2400"/>
              <a:buFont typeface="Arial"/>
              <a:buNone/>
            </a:pPr>
            <a:r>
              <a:rPr b="0" i="0" lang="en-US" sz="2400" u="none" cap="none" strike="noStrike">
                <a:solidFill>
                  <a:srgbClr val="6EB9FC"/>
                </a:solidFill>
                <a:latin typeface="Lora"/>
                <a:ea typeface="Lora"/>
                <a:cs typeface="Lora"/>
                <a:sym typeface="Lora"/>
              </a:rPr>
              <a:t>     than he had brought that morning.</a:t>
            </a:r>
            <a:endParaRPr/>
          </a:p>
          <a:p>
            <a:pPr indent="0" lvl="0" marL="0" marR="0" rtl="0" algn="l">
              <a:lnSpc>
                <a:spcPct val="100000"/>
              </a:lnSpc>
              <a:spcBef>
                <a:spcPts val="0"/>
              </a:spcBef>
              <a:spcAft>
                <a:spcPts val="0"/>
              </a:spcAft>
              <a:buClr>
                <a:srgbClr val="6EB9FC"/>
              </a:buClr>
              <a:buSzPts val="2400"/>
              <a:buFont typeface="Arial"/>
              <a:buNone/>
            </a:pPr>
            <a:r>
              <a:rPr b="0" i="0" lang="en-US" sz="2400" u="none" cap="none" strike="noStrike">
                <a:solidFill>
                  <a:srgbClr val="6EB9FC"/>
                </a:solidFill>
                <a:latin typeface="Lora"/>
                <a:ea typeface="Lora"/>
                <a:cs typeface="Lora"/>
                <a:sym typeface="Lora"/>
              </a:rPr>
              <a:t>D. Leave silently.</a:t>
            </a:r>
            <a:endParaRPr b="0" i="0" sz="1100" u="none" cap="none" strike="noStrike">
              <a:solidFill>
                <a:schemeClr val="dk1"/>
              </a:solidFill>
              <a:latin typeface="Lora"/>
              <a:ea typeface="Lora"/>
              <a:cs typeface="Lora"/>
              <a:sym typeface="Lora"/>
            </a:endParaRPr>
          </a:p>
          <a:p>
            <a:pPr indent="0" lvl="0" marL="0" marR="0" rtl="0" algn="l">
              <a:lnSpc>
                <a:spcPct val="100000"/>
              </a:lnSpc>
              <a:spcBef>
                <a:spcPts val="0"/>
              </a:spcBef>
              <a:spcAft>
                <a:spcPts val="0"/>
              </a:spcAft>
              <a:buClr>
                <a:srgbClr val="6EB9FC"/>
              </a:buClr>
              <a:buSzPts val="2400"/>
              <a:buFont typeface="Arial"/>
              <a:buNone/>
            </a:pPr>
            <a:r>
              <a:rPr b="0" i="0" lang="en-US" sz="2400" u="none" cap="none" strike="noStrike">
                <a:solidFill>
                  <a:srgbClr val="6EB9FC"/>
                </a:solidFill>
                <a:latin typeface="Lora"/>
                <a:ea typeface="Lora"/>
                <a:cs typeface="Lora"/>
                <a:sym typeface="Lora"/>
              </a:rPr>
              <a:t>E. Your opinion:</a:t>
            </a:r>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Clr>
                <a:srgbClr val="6EB9FC"/>
              </a:buClr>
              <a:buSzPts val="2400"/>
              <a:buFont typeface="Arial"/>
              <a:buNone/>
            </a:pPr>
            <a:r>
              <a:rPr b="0" i="0" lang="en-US" sz="2400" u="none" cap="none" strike="noStrike">
                <a:solidFill>
                  <a:srgbClr val="6EB9FC"/>
                </a:solidFill>
                <a:latin typeface="Lora"/>
                <a:ea typeface="Lora"/>
                <a:cs typeface="Lora"/>
                <a:sym typeface="Lora"/>
              </a:rPr>
              <a:t>After you’ve made your choices, share them with the Workplace Edge community by writing it below.</a:t>
            </a:r>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6EB9FC"/>
              </a:solidFill>
              <a:latin typeface="Lora"/>
              <a:ea typeface="Lora"/>
              <a:cs typeface="Lora"/>
              <a:sym typeface="Lora"/>
            </a:endParaRPr>
          </a:p>
        </p:txBody>
      </p:sp>
      <p:sp>
        <p:nvSpPr>
          <p:cNvPr id="256" name="Google Shape;256;p67"/>
          <p:cNvSpPr/>
          <p:nvPr/>
        </p:nvSpPr>
        <p:spPr>
          <a:xfrm>
            <a:off x="6033666" y="235805"/>
            <a:ext cx="7733824"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None/>
            </a:pPr>
            <a:r>
              <a:rPr b="0" i="0" lang="en-US" sz="3200" u="none" cap="none" strike="noStrike">
                <a:solidFill>
                  <a:srgbClr val="6EB9FC"/>
                </a:solidFill>
                <a:latin typeface="Lora"/>
                <a:ea typeface="Lora"/>
                <a:cs typeface="Lora"/>
                <a:sym typeface="Lora"/>
              </a:rPr>
              <a:t>Stretch 1: How is Emotional Expression Handled in your Workplace? </a:t>
            </a:r>
            <a:endParaRPr/>
          </a:p>
          <a:p>
            <a:pPr indent="0" lvl="0" marL="0" marR="0" rtl="0" algn="l">
              <a:lnSpc>
                <a:spcPct val="125675"/>
              </a:lnSpc>
              <a:spcBef>
                <a:spcPts val="0"/>
              </a:spcBef>
              <a:spcAft>
                <a:spcPts val="0"/>
              </a:spcAft>
              <a:buNone/>
            </a:pPr>
            <a:r>
              <a:t/>
            </a:r>
            <a:endParaRPr b="0" i="0" sz="32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2400" u="none" cap="none" strike="noStrike">
                <a:solidFill>
                  <a:srgbClr val="6EB9FC"/>
                </a:solidFill>
                <a:latin typeface="Lora"/>
                <a:ea typeface="Lora"/>
                <a:cs typeface="Lora"/>
                <a:sym typeface="Lora"/>
              </a:rPr>
              <a:t> </a:t>
            </a:r>
            <a:endParaRPr b="0" i="0" sz="2400" u="none" cap="none" strike="noStrike">
              <a:solidFill>
                <a:srgbClr val="6EB9FC"/>
              </a:solidFill>
              <a:latin typeface="Lora"/>
              <a:ea typeface="Lora"/>
              <a:cs typeface="Lora"/>
              <a:sym typeface="Lor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68"/>
          <p:cNvPicPr preferRelativeResize="0"/>
          <p:nvPr/>
        </p:nvPicPr>
        <p:blipFill rotWithShape="1">
          <a:blip r:embed="rId3">
            <a:alphaModFix/>
          </a:blip>
          <a:srcRect b="0" l="0" r="0" t="0"/>
          <a:stretch/>
        </p:blipFill>
        <p:spPr>
          <a:xfrm>
            <a:off x="2322222" y="1731717"/>
            <a:ext cx="9985955" cy="5617100"/>
          </a:xfrm>
          <a:prstGeom prst="rect">
            <a:avLst/>
          </a:prstGeom>
          <a:noFill/>
          <a:ln>
            <a:noFill/>
          </a:ln>
        </p:spPr>
      </p:pic>
      <p:sp>
        <p:nvSpPr>
          <p:cNvPr id="263" name="Google Shape;263;p68"/>
          <p:cNvSpPr/>
          <p:nvPr/>
        </p:nvSpPr>
        <p:spPr>
          <a:xfrm>
            <a:off x="819436" y="577763"/>
            <a:ext cx="12954952" cy="704017"/>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98AC7"/>
              </a:buClr>
              <a:buSzPts val="4400"/>
              <a:buFont typeface="Lora"/>
              <a:buNone/>
            </a:pPr>
            <a:r>
              <a:rPr b="0" i="0" lang="en-US" sz="4000" u="none" cap="none" strike="noStrike">
                <a:solidFill>
                  <a:srgbClr val="6EB9FC"/>
                </a:solidFill>
                <a:latin typeface="Lora"/>
                <a:ea typeface="Lora"/>
                <a:cs typeface="Lora"/>
                <a:sym typeface="Lora"/>
              </a:rPr>
              <a:t>Stretch 2: Changing Reacting to Responding</a:t>
            </a:r>
            <a:endParaRPr b="0" i="0" sz="4000" u="none" cap="none" strike="noStrike">
              <a:solidFill>
                <a:srgbClr val="6EB9FC"/>
              </a:solidFill>
              <a:latin typeface="Lora"/>
              <a:ea typeface="Lora"/>
              <a:cs typeface="Lora"/>
              <a:sym typeface="Lor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5000"/>
                                        <p:tgtEl>
                                          <p:spTgt spid="2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8" name="Shape 268"/>
        <p:cNvGrpSpPr/>
        <p:nvPr/>
      </p:nvGrpSpPr>
      <p:grpSpPr>
        <a:xfrm>
          <a:off x="0" y="0"/>
          <a:ext cx="0" cy="0"/>
          <a:chOff x="0" y="0"/>
          <a:chExt cx="0" cy="0"/>
        </a:xfrm>
      </p:grpSpPr>
      <p:sp>
        <p:nvSpPr>
          <p:cNvPr id="269" name="Google Shape;269;p69"/>
          <p:cNvSpPr/>
          <p:nvPr/>
        </p:nvSpPr>
        <p:spPr>
          <a:xfrm>
            <a:off x="819436" y="577763"/>
            <a:ext cx="12954952"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8AC7"/>
              </a:buClr>
              <a:buSzPts val="4400"/>
              <a:buFont typeface="Lora"/>
              <a:buNone/>
            </a:pPr>
            <a:r>
              <a:rPr b="0" i="0" lang="en-US" sz="3600" u="none" cap="none" strike="noStrike">
                <a:solidFill>
                  <a:srgbClr val="6EB9FC"/>
                </a:solidFill>
                <a:latin typeface="Lora"/>
                <a:ea typeface="Lora"/>
                <a:cs typeface="Lora"/>
                <a:sym typeface="Lora"/>
              </a:rPr>
              <a:t>Stretch 2: Using Emotional Data to Make Better Choices</a:t>
            </a:r>
            <a:endParaRPr b="0" i="0" sz="3600" u="none" cap="none" strike="noStrike">
              <a:solidFill>
                <a:srgbClr val="6EB9FC"/>
              </a:solidFill>
              <a:latin typeface="Lora"/>
              <a:ea typeface="Lora"/>
              <a:cs typeface="Lora"/>
              <a:sym typeface="Lora"/>
            </a:endParaRPr>
          </a:p>
        </p:txBody>
      </p:sp>
      <p:pic>
        <p:nvPicPr>
          <p:cNvPr id="270" name="Google Shape;270;p69"/>
          <p:cNvPicPr preferRelativeResize="0"/>
          <p:nvPr/>
        </p:nvPicPr>
        <p:blipFill rotWithShape="1">
          <a:blip r:embed="rId3">
            <a:alphaModFix/>
          </a:blip>
          <a:srcRect b="31930" l="0" r="0" t="26794"/>
          <a:stretch/>
        </p:blipFill>
        <p:spPr>
          <a:xfrm>
            <a:off x="9760436" y="1605941"/>
            <a:ext cx="4071591" cy="2520910"/>
          </a:xfrm>
          <a:prstGeom prst="rect">
            <a:avLst/>
          </a:prstGeom>
          <a:noFill/>
          <a:ln>
            <a:noFill/>
          </a:ln>
        </p:spPr>
      </p:pic>
      <p:sp>
        <p:nvSpPr>
          <p:cNvPr id="271" name="Google Shape;271;p69"/>
          <p:cNvSpPr/>
          <p:nvPr/>
        </p:nvSpPr>
        <p:spPr>
          <a:xfrm>
            <a:off x="819436" y="4413551"/>
            <a:ext cx="4071591"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6E5EF"/>
              </a:buClr>
              <a:buSzPts val="2200"/>
              <a:buFont typeface="Lora"/>
              <a:buNone/>
            </a:pPr>
            <a:r>
              <a:rPr b="0" i="0" lang="en-US" sz="2000" u="none" cap="none" strike="noStrike">
                <a:solidFill>
                  <a:srgbClr val="6EB9FC"/>
                </a:solidFill>
                <a:latin typeface="Lora"/>
                <a:ea typeface="Lora"/>
                <a:cs typeface="Lora"/>
                <a:sym typeface="Lora"/>
              </a:rPr>
              <a:t>Think of a recent change that happened at work with results you felt were ‘bad.’</a:t>
            </a:r>
            <a:endParaRPr/>
          </a:p>
          <a:p>
            <a:pPr indent="0" lvl="0" marL="0" marR="0" rtl="0" algn="l">
              <a:lnSpc>
                <a:spcPct val="125000"/>
              </a:lnSpc>
              <a:spcBef>
                <a:spcPts val="0"/>
              </a:spcBef>
              <a:spcAft>
                <a:spcPts val="0"/>
              </a:spcAft>
              <a:buClr>
                <a:srgbClr val="D6E5EF"/>
              </a:buClr>
              <a:buSzPts val="2200"/>
              <a:buFont typeface="Lora"/>
              <a:buNone/>
            </a:pPr>
            <a:r>
              <a:t/>
            </a:r>
            <a:endParaRPr b="0" i="0" sz="2000" u="none" cap="none" strike="noStrike">
              <a:solidFill>
                <a:srgbClr val="6EB9FC"/>
              </a:solidFill>
              <a:latin typeface="Lora"/>
              <a:ea typeface="Lora"/>
              <a:cs typeface="Lora"/>
              <a:sym typeface="Lora"/>
            </a:endParaRPr>
          </a:p>
          <a:p>
            <a:pPr indent="0" lvl="0" marL="0" marR="0" rtl="0" algn="l">
              <a:lnSpc>
                <a:spcPct val="125000"/>
              </a:lnSpc>
              <a:spcBef>
                <a:spcPts val="0"/>
              </a:spcBef>
              <a:spcAft>
                <a:spcPts val="0"/>
              </a:spcAft>
              <a:buClr>
                <a:srgbClr val="D6E5EF"/>
              </a:buClr>
              <a:buSzPts val="2200"/>
              <a:buFont typeface="Lora"/>
              <a:buNone/>
            </a:pPr>
            <a:r>
              <a:rPr b="0" i="0" lang="en-US" sz="2000" u="none" cap="none" strike="noStrike">
                <a:solidFill>
                  <a:srgbClr val="6EB9FC"/>
                </a:solidFill>
                <a:latin typeface="Lora"/>
                <a:ea typeface="Lora"/>
                <a:cs typeface="Lora"/>
                <a:sym typeface="Lora"/>
              </a:rPr>
              <a:t>Note down the event and your emotions.</a:t>
            </a:r>
            <a:endParaRPr/>
          </a:p>
          <a:p>
            <a:pPr indent="0" lvl="0" marL="0" marR="0" rtl="0" algn="l">
              <a:lnSpc>
                <a:spcPct val="125000"/>
              </a:lnSpc>
              <a:spcBef>
                <a:spcPts val="0"/>
              </a:spcBef>
              <a:spcAft>
                <a:spcPts val="0"/>
              </a:spcAft>
              <a:buClr>
                <a:srgbClr val="D6E5EF"/>
              </a:buClr>
              <a:buSzPts val="2200"/>
              <a:buFont typeface="Lora"/>
              <a:buNone/>
            </a:pPr>
            <a:r>
              <a:t/>
            </a:r>
            <a:endParaRPr b="0" i="0" sz="2200" u="none" cap="none" strike="noStrike">
              <a:solidFill>
                <a:srgbClr val="000000"/>
              </a:solidFill>
              <a:latin typeface="Arial"/>
              <a:ea typeface="Arial"/>
              <a:cs typeface="Arial"/>
              <a:sym typeface="Arial"/>
            </a:endParaRPr>
          </a:p>
        </p:txBody>
      </p:sp>
      <p:sp>
        <p:nvSpPr>
          <p:cNvPr id="272" name="Google Shape;272;p69"/>
          <p:cNvSpPr/>
          <p:nvPr/>
        </p:nvSpPr>
        <p:spPr>
          <a:xfrm>
            <a:off x="819436" y="5076301"/>
            <a:ext cx="4078962" cy="1149072"/>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D6E5EF"/>
              </a:buClr>
              <a:buSzPts val="1850"/>
              <a:buFont typeface="Arial"/>
              <a:buNone/>
            </a:pPr>
            <a:r>
              <a:t/>
            </a:r>
            <a:endParaRPr b="0" i="0" sz="1850" u="none" cap="none" strike="noStrike">
              <a:solidFill>
                <a:srgbClr val="000000"/>
              </a:solidFill>
              <a:latin typeface="Arial"/>
              <a:ea typeface="Arial"/>
              <a:cs typeface="Arial"/>
              <a:sym typeface="Arial"/>
            </a:endParaRPr>
          </a:p>
        </p:txBody>
      </p:sp>
      <p:sp>
        <p:nvSpPr>
          <p:cNvPr id="273" name="Google Shape;273;p69"/>
          <p:cNvSpPr/>
          <p:nvPr/>
        </p:nvSpPr>
        <p:spPr>
          <a:xfrm>
            <a:off x="9702799" y="4413551"/>
            <a:ext cx="410002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2000" u="none" cap="none" strike="noStrike">
                <a:solidFill>
                  <a:srgbClr val="6EB9FC"/>
                </a:solidFill>
                <a:latin typeface="Lora"/>
                <a:ea typeface="Lora"/>
                <a:cs typeface="Lora"/>
                <a:sym typeface="Lora"/>
              </a:rPr>
              <a:t>Think of a recent change that happened at work with results you felt were ‘good.’</a:t>
            </a:r>
            <a:endParaRPr/>
          </a:p>
          <a:p>
            <a:pPr indent="0" lvl="0" marL="0" marR="0" rtl="0" algn="l">
              <a:lnSpc>
                <a:spcPct val="125000"/>
              </a:lnSpc>
              <a:spcBef>
                <a:spcPts val="0"/>
              </a:spcBef>
              <a:spcAft>
                <a:spcPts val="0"/>
              </a:spcAft>
              <a:buClr>
                <a:srgbClr val="D6E5EF"/>
              </a:buClr>
              <a:buSzPts val="2200"/>
              <a:buFont typeface="Lora"/>
              <a:buNone/>
            </a:pPr>
            <a:r>
              <a:t/>
            </a:r>
            <a:endParaRPr b="0" i="0" sz="2000" u="none" cap="none" strike="noStrike">
              <a:solidFill>
                <a:srgbClr val="6EB9FC"/>
              </a:solidFill>
              <a:latin typeface="Lora"/>
              <a:ea typeface="Lora"/>
              <a:cs typeface="Lora"/>
              <a:sym typeface="Lora"/>
            </a:endParaRPr>
          </a:p>
          <a:p>
            <a:pPr indent="0" lvl="0" marL="0" marR="0" rtl="0" algn="l">
              <a:lnSpc>
                <a:spcPct val="125000"/>
              </a:lnSpc>
              <a:spcBef>
                <a:spcPts val="0"/>
              </a:spcBef>
              <a:spcAft>
                <a:spcPts val="0"/>
              </a:spcAft>
              <a:buNone/>
            </a:pPr>
            <a:r>
              <a:rPr b="0" i="0" lang="en-US" sz="2000" u="none" cap="none" strike="noStrike">
                <a:solidFill>
                  <a:srgbClr val="6EB9FC"/>
                </a:solidFill>
                <a:latin typeface="Lora"/>
                <a:ea typeface="Lora"/>
                <a:cs typeface="Lora"/>
                <a:sym typeface="Lora"/>
              </a:rPr>
              <a:t>Note down the event and your emotions.</a:t>
            </a:r>
            <a:endParaRPr/>
          </a:p>
          <a:p>
            <a:pPr indent="0" lvl="0" marL="0" marR="0" rtl="0" algn="l">
              <a:lnSpc>
                <a:spcPct val="125000"/>
              </a:lnSpc>
              <a:spcBef>
                <a:spcPts val="0"/>
              </a:spcBef>
              <a:spcAft>
                <a:spcPts val="0"/>
              </a:spcAft>
              <a:buClr>
                <a:srgbClr val="D6E5EF"/>
              </a:buClr>
              <a:buSzPts val="2200"/>
              <a:buFont typeface="Lora"/>
              <a:buNone/>
            </a:pPr>
            <a:r>
              <a:t/>
            </a:r>
            <a:endParaRPr b="0" i="0" sz="2200" u="none" cap="none" strike="noStrike">
              <a:solidFill>
                <a:srgbClr val="000000"/>
              </a:solidFill>
              <a:latin typeface="Arial"/>
              <a:ea typeface="Arial"/>
              <a:cs typeface="Arial"/>
              <a:sym typeface="Arial"/>
            </a:endParaRPr>
          </a:p>
        </p:txBody>
      </p:sp>
      <p:pic>
        <p:nvPicPr>
          <p:cNvPr id="274" name="Google Shape;274;p69"/>
          <p:cNvPicPr preferRelativeResize="0"/>
          <p:nvPr/>
        </p:nvPicPr>
        <p:blipFill rotWithShape="1">
          <a:blip r:embed="rId4">
            <a:alphaModFix/>
          </a:blip>
          <a:srcRect b="32999" l="0" r="0" t="26010"/>
          <a:stretch/>
        </p:blipFill>
        <p:spPr>
          <a:xfrm>
            <a:off x="798373" y="1605940"/>
            <a:ext cx="4100025" cy="252091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70"/>
          <p:cNvSpPr/>
          <p:nvPr/>
        </p:nvSpPr>
        <p:spPr>
          <a:xfrm>
            <a:off x="819436" y="577763"/>
            <a:ext cx="12954952"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8AC7"/>
              </a:buClr>
              <a:buSzPts val="4400"/>
              <a:buFont typeface="Lora"/>
              <a:buNone/>
            </a:pPr>
            <a:r>
              <a:rPr b="0" i="0" lang="en-US" sz="3600" u="none" cap="none" strike="noStrike">
                <a:solidFill>
                  <a:srgbClr val="6EB9FC"/>
                </a:solidFill>
                <a:latin typeface="Lora"/>
                <a:ea typeface="Lora"/>
                <a:cs typeface="Lora"/>
                <a:sym typeface="Lora"/>
              </a:rPr>
              <a:t>Stretch 2: Using Emotional Data to Make Better Choices</a:t>
            </a:r>
            <a:endParaRPr b="0" i="0" sz="3600" u="none" cap="none" strike="noStrike">
              <a:solidFill>
                <a:srgbClr val="6EB9FC"/>
              </a:solidFill>
              <a:latin typeface="Lora"/>
              <a:ea typeface="Lora"/>
              <a:cs typeface="Lora"/>
              <a:sym typeface="Lora"/>
            </a:endParaRPr>
          </a:p>
        </p:txBody>
      </p:sp>
      <p:pic>
        <p:nvPicPr>
          <p:cNvPr id="281" name="Google Shape;281;p70"/>
          <p:cNvPicPr preferRelativeResize="0"/>
          <p:nvPr/>
        </p:nvPicPr>
        <p:blipFill rotWithShape="1">
          <a:blip r:embed="rId3">
            <a:alphaModFix/>
          </a:blip>
          <a:srcRect b="31930" l="0" r="0" t="26794"/>
          <a:stretch/>
        </p:blipFill>
        <p:spPr>
          <a:xfrm>
            <a:off x="9702797" y="1502419"/>
            <a:ext cx="4071591" cy="2520910"/>
          </a:xfrm>
          <a:prstGeom prst="rect">
            <a:avLst/>
          </a:prstGeom>
          <a:noFill/>
          <a:ln>
            <a:noFill/>
          </a:ln>
        </p:spPr>
      </p:pic>
      <p:sp>
        <p:nvSpPr>
          <p:cNvPr id="282" name="Google Shape;282;p70"/>
          <p:cNvSpPr/>
          <p:nvPr/>
        </p:nvSpPr>
        <p:spPr>
          <a:xfrm>
            <a:off x="819436" y="4413551"/>
            <a:ext cx="4071591"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2000" u="none" cap="none" strike="noStrike">
                <a:solidFill>
                  <a:srgbClr val="6EB9FC"/>
                </a:solidFill>
                <a:latin typeface="Lora"/>
                <a:ea typeface="Lora"/>
                <a:cs typeface="Lora"/>
                <a:sym typeface="Lora"/>
              </a:rPr>
              <a:t>Remembering  the ‘bad’ change, describe the results in your notes. Include how you and other affected people </a:t>
            </a:r>
            <a:r>
              <a:rPr b="0" i="0" lang="en-US" sz="2000" u="sng" cap="none" strike="noStrike">
                <a:solidFill>
                  <a:srgbClr val="6EB9FC"/>
                </a:solidFill>
                <a:latin typeface="Lora"/>
                <a:ea typeface="Lora"/>
                <a:cs typeface="Lora"/>
                <a:sym typeface="Lora"/>
              </a:rPr>
              <a:t>reacted</a:t>
            </a:r>
            <a:r>
              <a:rPr b="0" i="0" lang="en-US" sz="2000" u="none" cap="none" strike="noStrike">
                <a:solidFill>
                  <a:srgbClr val="6EB9FC"/>
                </a:solidFill>
                <a:latin typeface="Lora"/>
                <a:ea typeface="Lora"/>
                <a:cs typeface="Lora"/>
                <a:sym typeface="Lora"/>
              </a:rPr>
              <a:t>. How many people involved were accountable for their actions? Were there any traits or exchanges that you’d like to avoid going forward for better outcomes?</a:t>
            </a:r>
            <a:endParaRPr/>
          </a:p>
          <a:p>
            <a:pPr indent="0" lvl="0" marL="0" marR="0" rtl="0" algn="l">
              <a:lnSpc>
                <a:spcPct val="125000"/>
              </a:lnSpc>
              <a:spcBef>
                <a:spcPts val="0"/>
              </a:spcBef>
              <a:spcAft>
                <a:spcPts val="0"/>
              </a:spcAft>
              <a:buClr>
                <a:srgbClr val="D6E5EF"/>
              </a:buClr>
              <a:buSzPts val="2200"/>
              <a:buFont typeface="Lora"/>
              <a:buNone/>
            </a:pPr>
            <a:r>
              <a:t/>
            </a:r>
            <a:endParaRPr b="0" i="0" sz="2200" u="none" cap="none" strike="noStrike">
              <a:solidFill>
                <a:srgbClr val="000000"/>
              </a:solidFill>
              <a:latin typeface="Arial"/>
              <a:ea typeface="Arial"/>
              <a:cs typeface="Arial"/>
              <a:sym typeface="Arial"/>
            </a:endParaRPr>
          </a:p>
        </p:txBody>
      </p:sp>
      <p:sp>
        <p:nvSpPr>
          <p:cNvPr id="283" name="Google Shape;283;p70"/>
          <p:cNvSpPr/>
          <p:nvPr/>
        </p:nvSpPr>
        <p:spPr>
          <a:xfrm>
            <a:off x="819436" y="5076301"/>
            <a:ext cx="4078962" cy="1149072"/>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D6E5EF"/>
              </a:buClr>
              <a:buSzPts val="1850"/>
              <a:buFont typeface="Arial"/>
              <a:buNone/>
            </a:pPr>
            <a:r>
              <a:t/>
            </a:r>
            <a:endParaRPr b="0" i="0" sz="1850" u="none" cap="none" strike="noStrike">
              <a:solidFill>
                <a:srgbClr val="000000"/>
              </a:solidFill>
              <a:latin typeface="Arial"/>
              <a:ea typeface="Arial"/>
              <a:cs typeface="Arial"/>
              <a:sym typeface="Arial"/>
            </a:endParaRPr>
          </a:p>
        </p:txBody>
      </p:sp>
      <p:sp>
        <p:nvSpPr>
          <p:cNvPr id="284" name="Google Shape;284;p70"/>
          <p:cNvSpPr/>
          <p:nvPr/>
        </p:nvSpPr>
        <p:spPr>
          <a:xfrm>
            <a:off x="9702799" y="4413551"/>
            <a:ext cx="410002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2000" u="none" cap="none" strike="noStrike">
                <a:solidFill>
                  <a:srgbClr val="6EB9FC"/>
                </a:solidFill>
                <a:latin typeface="Lora"/>
                <a:ea typeface="Lora"/>
                <a:cs typeface="Lora"/>
                <a:sym typeface="Lora"/>
              </a:rPr>
              <a:t>Now, remembering  the ‘good’ change, describe the results in your notes. Include how you and other affected people </a:t>
            </a:r>
            <a:r>
              <a:rPr b="0" i="0" lang="en-US" sz="2000" u="sng" cap="none" strike="noStrike">
                <a:solidFill>
                  <a:srgbClr val="6EB9FC"/>
                </a:solidFill>
                <a:latin typeface="Lora"/>
                <a:ea typeface="Lora"/>
                <a:cs typeface="Lora"/>
                <a:sym typeface="Lora"/>
              </a:rPr>
              <a:t>responded</a:t>
            </a:r>
            <a:r>
              <a:rPr b="0" i="0" lang="en-US" sz="2000" u="none" cap="none" strike="noStrike">
                <a:solidFill>
                  <a:srgbClr val="6EB9FC"/>
                </a:solidFill>
                <a:latin typeface="Lora"/>
                <a:ea typeface="Lora"/>
                <a:cs typeface="Lora"/>
                <a:sym typeface="Lora"/>
              </a:rPr>
              <a:t>. How many people involved were recognized for their actions? Were there any traits or exchanges that you’d like to reproduce going forward for more beneficial outcomes?</a:t>
            </a:r>
            <a:endParaRPr/>
          </a:p>
        </p:txBody>
      </p:sp>
      <p:pic>
        <p:nvPicPr>
          <p:cNvPr id="285" name="Google Shape;285;p70"/>
          <p:cNvPicPr preferRelativeResize="0"/>
          <p:nvPr/>
        </p:nvPicPr>
        <p:blipFill rotWithShape="1">
          <a:blip r:embed="rId4">
            <a:alphaModFix/>
          </a:blip>
          <a:srcRect b="32999" l="0" r="0" t="26010"/>
          <a:stretch/>
        </p:blipFill>
        <p:spPr>
          <a:xfrm>
            <a:off x="819436" y="1593889"/>
            <a:ext cx="4100025" cy="252091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descr="preencoded.png" id="291" name="Google Shape;291;p71"/>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292" name="Google Shape;292;p71"/>
          <p:cNvSpPr/>
          <p:nvPr/>
        </p:nvSpPr>
        <p:spPr>
          <a:xfrm>
            <a:off x="6117596" y="834009"/>
            <a:ext cx="8140225"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None/>
            </a:pPr>
            <a:r>
              <a:rPr b="0" i="0" lang="en-US" sz="3600" u="none" cap="none" strike="noStrike">
                <a:solidFill>
                  <a:srgbClr val="6EB9FC"/>
                </a:solidFill>
                <a:latin typeface="Lora"/>
                <a:ea typeface="Lora"/>
                <a:cs typeface="Lora"/>
                <a:sym typeface="Lora"/>
              </a:rPr>
              <a:t>Stretch 3: Regroup, Reflect &amp; Respond </a:t>
            </a:r>
            <a:endParaRPr b="0" i="0" sz="3600" u="none" cap="none" strike="noStrike">
              <a:solidFill>
                <a:srgbClr val="6EB9FC"/>
              </a:solidFill>
              <a:latin typeface="Lora"/>
              <a:ea typeface="Lora"/>
              <a:cs typeface="Lora"/>
              <a:sym typeface="Lora"/>
            </a:endParaRPr>
          </a:p>
        </p:txBody>
      </p:sp>
      <p:sp>
        <p:nvSpPr>
          <p:cNvPr id="293" name="Google Shape;293;p71"/>
          <p:cNvSpPr/>
          <p:nvPr/>
        </p:nvSpPr>
        <p:spPr>
          <a:xfrm>
            <a:off x="6117596" y="1968137"/>
            <a:ext cx="7031475" cy="238200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Is it possible that every single emotion has a use? Are stressful emotions necessarily ‘bad’? </a:t>
            </a:r>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All emotions can help us process ‘the World’ or ‘Life.’ For example, sadness can help us process difficult times, and we would have no moral compass if we never felt shame or guilt. And joy can help us practice gratitude.</a:t>
            </a:r>
            <a:r>
              <a:rPr b="0" i="0" lang="en-US" sz="2400" u="none" cap="none" strike="noStrike">
                <a:solidFill>
                  <a:schemeClr val="lt1"/>
                </a:solidFill>
                <a:latin typeface="Lora"/>
                <a:ea typeface="Lora"/>
                <a:cs typeface="Lora"/>
                <a:sym typeface="Lora"/>
              </a:rPr>
              <a:t> </a:t>
            </a:r>
            <a:endParaRPr/>
          </a:p>
          <a:p>
            <a:pPr indent="0" lvl="0" marL="0" marR="0" rtl="0" algn="l">
              <a:lnSpc>
                <a:spcPct val="100000"/>
              </a:lnSpc>
              <a:spcBef>
                <a:spcPts val="0"/>
              </a:spcBef>
              <a:spcAft>
                <a:spcPts val="0"/>
              </a:spcAft>
              <a:buNone/>
            </a:pPr>
            <a:r>
              <a:t/>
            </a:r>
            <a:endParaRPr b="0" i="0" sz="2400" u="none" cap="none" strike="noStrike">
              <a:solidFill>
                <a:schemeClr val="lt1"/>
              </a:solidFill>
              <a:latin typeface="Lora"/>
              <a:ea typeface="Lora"/>
              <a:cs typeface="Lora"/>
              <a:sym typeface="Lora"/>
            </a:endParaRPr>
          </a:p>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Let’s begin to move from ‘fight, fly or freeze’ to ‘regroup, reflect and respond.’ </a:t>
            </a:r>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Here’s an example: </a:t>
            </a:r>
            <a:r>
              <a:rPr b="0" i="1" lang="en-US" sz="2400" u="none" cap="none" strike="noStrike">
                <a:solidFill>
                  <a:srgbClr val="6EB9FC"/>
                </a:solidFill>
                <a:latin typeface="Lora"/>
                <a:ea typeface="Lora"/>
                <a:cs typeface="Lora"/>
                <a:sym typeface="Lora"/>
              </a:rPr>
              <a:t>Before responding to a tense email, take a pause and write one sentence about how you feel. Then choose your response.</a:t>
            </a:r>
            <a:endParaRPr b="0" i="1"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descr="preencoded.png" id="299" name="Google Shape;299;p72"/>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300" name="Google Shape;300;p72"/>
          <p:cNvSpPr/>
          <p:nvPr/>
        </p:nvSpPr>
        <p:spPr>
          <a:xfrm>
            <a:off x="6117596" y="834009"/>
            <a:ext cx="8140225"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None/>
            </a:pPr>
            <a:r>
              <a:rPr b="0" i="0" lang="en-US" sz="3600" u="none" cap="none" strike="noStrike">
                <a:solidFill>
                  <a:srgbClr val="6EB9FC"/>
                </a:solidFill>
                <a:latin typeface="Lora"/>
                <a:ea typeface="Lora"/>
                <a:cs typeface="Lora"/>
                <a:sym typeface="Lora"/>
              </a:rPr>
              <a:t>Stretch 3: Regroup, Reflect &amp; Respond </a:t>
            </a:r>
            <a:endParaRPr b="0" i="0" sz="3600" u="none" cap="none" strike="noStrike">
              <a:solidFill>
                <a:srgbClr val="6EB9FC"/>
              </a:solidFill>
              <a:latin typeface="Lora"/>
              <a:ea typeface="Lora"/>
              <a:cs typeface="Lora"/>
              <a:sym typeface="Lora"/>
            </a:endParaRPr>
          </a:p>
        </p:txBody>
      </p:sp>
      <p:sp>
        <p:nvSpPr>
          <p:cNvPr id="301" name="Google Shape;301;p72"/>
          <p:cNvSpPr/>
          <p:nvPr/>
        </p:nvSpPr>
        <p:spPr>
          <a:xfrm>
            <a:off x="6117596" y="1968137"/>
            <a:ext cx="7031475" cy="238200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1. In which work situations do ‘amygdala hijacks’     	commonly occur for you?</a:t>
            </a:r>
            <a:endParaRPr/>
          </a:p>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 </a:t>
            </a:r>
            <a:endParaRPr/>
          </a:p>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2. How might reminding yourself of the biological 	process that’s happening in your brain 	reduce the likelihood of an emotional 	reaction? </a:t>
            </a:r>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3. What are some of the benefits of recognizing and categorizing your emotional data? </a:t>
            </a:r>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4. How can you capitalize on that awareness? </a:t>
            </a:r>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5. Write two or three of these observations down and revisit them in one week.</a:t>
            </a:r>
            <a:endParaRPr b="0" i="0" sz="2400" u="none" cap="none" strike="noStrike">
              <a:solidFill>
                <a:srgbClr val="6EB9FC"/>
              </a:solidFill>
              <a:latin typeface="Lora"/>
              <a:ea typeface="Lora"/>
              <a:cs typeface="Lora"/>
              <a:sym typeface="Lor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descr="preencoded.png" id="307" name="Google Shape;307;p73"/>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308" name="Google Shape;308;p73"/>
          <p:cNvSpPr/>
          <p:nvPr/>
        </p:nvSpPr>
        <p:spPr>
          <a:xfrm>
            <a:off x="5828595" y="286812"/>
            <a:ext cx="7733824" cy="36008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None/>
            </a:pPr>
            <a:r>
              <a:rPr b="0" i="0" lang="en-US" sz="4000" u="none" cap="none" strike="noStrike">
                <a:solidFill>
                  <a:srgbClr val="6EB9FC"/>
                </a:solidFill>
                <a:latin typeface="Lora"/>
                <a:ea typeface="Lora"/>
                <a:cs typeface="Lora"/>
                <a:sym typeface="Lora"/>
              </a:rPr>
              <a:t>Emotional Data Checklist (Post)</a:t>
            </a:r>
            <a:endParaRPr/>
          </a:p>
          <a:p>
            <a:pPr indent="0" lvl="0" marL="0" marR="0" rtl="0" algn="l">
              <a:lnSpc>
                <a:spcPct val="125675"/>
              </a:lnSpc>
              <a:spcBef>
                <a:spcPts val="0"/>
              </a:spcBef>
              <a:spcAft>
                <a:spcPts val="0"/>
              </a:spcAft>
              <a:buNone/>
            </a:pPr>
            <a:r>
              <a:t/>
            </a:r>
            <a:endParaRPr b="0" i="0" sz="40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2800" u="none" cap="none" strike="noStrike">
                <a:solidFill>
                  <a:srgbClr val="6EB9FC"/>
                </a:solidFill>
                <a:latin typeface="Lora"/>
                <a:ea typeface="Lora"/>
                <a:cs typeface="Lora"/>
                <a:sym typeface="Lora"/>
              </a:rPr>
              <a:t>How much have you improved your ability to read emotional signals? Take this quiz again to gauge your new abilities.</a:t>
            </a:r>
            <a:endParaRPr/>
          </a:p>
          <a:p>
            <a:pPr indent="0" lvl="0" marL="0" marR="0" rtl="0" algn="l">
              <a:lnSpc>
                <a:spcPct val="125675"/>
              </a:lnSpc>
              <a:spcBef>
                <a:spcPts val="0"/>
              </a:spcBef>
              <a:spcAft>
                <a:spcPts val="0"/>
              </a:spcAft>
              <a:buNone/>
            </a:pPr>
            <a:r>
              <a:t/>
            </a:r>
            <a:endParaRPr b="0" i="0" sz="40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4000" u="none" cap="none" strike="noStrike">
                <a:solidFill>
                  <a:srgbClr val="6EB9FC"/>
                </a:solidFill>
                <a:latin typeface="Lora"/>
                <a:ea typeface="Lora"/>
                <a:cs typeface="Lora"/>
                <a:sym typeface="Lora"/>
              </a:rPr>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descr="preencoded.png" id="314" name="Google Shape;314;p74"/>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315" name="Google Shape;315;p74"/>
          <p:cNvSpPr/>
          <p:nvPr/>
        </p:nvSpPr>
        <p:spPr>
          <a:xfrm>
            <a:off x="5828595" y="286812"/>
            <a:ext cx="7733824" cy="36008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None/>
            </a:pPr>
            <a:r>
              <a:rPr b="0" i="0" lang="en-US" sz="4000" u="none" cap="none" strike="noStrike">
                <a:solidFill>
                  <a:srgbClr val="6EB9FC"/>
                </a:solidFill>
                <a:latin typeface="Lora"/>
                <a:ea typeface="Lora"/>
                <a:cs typeface="Lora"/>
                <a:sym typeface="Lora"/>
              </a:rPr>
              <a:t>Emotional Data Checklist (Post) KEY</a:t>
            </a:r>
            <a:endParaRPr/>
          </a:p>
          <a:p>
            <a:pPr indent="0" lvl="0" marL="0" marR="0" rtl="0" algn="l">
              <a:lnSpc>
                <a:spcPct val="125675"/>
              </a:lnSpc>
              <a:spcBef>
                <a:spcPts val="0"/>
              </a:spcBef>
              <a:spcAft>
                <a:spcPts val="0"/>
              </a:spcAft>
              <a:buNone/>
            </a:pPr>
            <a:r>
              <a:t/>
            </a:r>
            <a:endParaRPr b="0" i="0" sz="40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t/>
            </a:r>
            <a:endParaRPr b="0" i="0" sz="4000" u="none" cap="none" strike="noStrike">
              <a:solidFill>
                <a:srgbClr val="6EB9FC"/>
              </a:solidFill>
              <a:latin typeface="Lora"/>
              <a:ea typeface="Lora"/>
              <a:cs typeface="Lora"/>
              <a:sym typeface="Lora"/>
            </a:endParaRPr>
          </a:p>
          <a:p>
            <a:pPr indent="0" lvl="0" marL="0" marR="0" rtl="0" algn="l">
              <a:lnSpc>
                <a:spcPct val="125675"/>
              </a:lnSpc>
              <a:spcBef>
                <a:spcPts val="0"/>
              </a:spcBef>
              <a:spcAft>
                <a:spcPts val="0"/>
              </a:spcAft>
              <a:buNone/>
            </a:pPr>
            <a:r>
              <a:rPr b="0" i="0" lang="en-US" sz="4000" u="none" cap="none" strike="noStrike">
                <a:solidFill>
                  <a:srgbClr val="6EB9FC"/>
                </a:solidFill>
                <a:latin typeface="Lora"/>
                <a:ea typeface="Lora"/>
                <a:cs typeface="Lora"/>
                <a:sym typeface="Lora"/>
              </a:rPr>
              <a:t> </a:t>
            </a:r>
            <a:endParaRPr/>
          </a:p>
        </p:txBody>
      </p:sp>
      <p:graphicFrame>
        <p:nvGraphicFramePr>
          <p:cNvPr id="316" name="Google Shape;316;p74"/>
          <p:cNvGraphicFramePr/>
          <p:nvPr/>
        </p:nvGraphicFramePr>
        <p:xfrm>
          <a:off x="3591339" y="1718270"/>
          <a:ext cx="3000000" cy="3000000"/>
        </p:xfrm>
        <a:graphic>
          <a:graphicData uri="http://schemas.openxmlformats.org/drawingml/2006/table">
            <a:tbl>
              <a:tblPr bandRow="1" firstCol="1" firstRow="1">
                <a:noFill/>
                <a:tableStyleId>{18E5E96C-47DB-4E8C-8881-DDB6A22421CA}</a:tableStyleId>
              </a:tblPr>
              <a:tblGrid>
                <a:gridCol w="2362825"/>
                <a:gridCol w="4406900"/>
                <a:gridCol w="2717800"/>
              </a:tblGrid>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Identity</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Physical Features</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Vocal Features</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Angry Brazilian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Frowning; direct eye contact; tense jaw, hand gestures</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Raised, loud, passionate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Angry Chinese</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Face neutral or slightly tight mouth</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Quiet and firm, cold, clipped cadence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Confused Japanese</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Nods politely, may ask questions later</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Polite and respectful, pausing before speaking</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Confused West African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Subtle gesture or questioning look, hesitant to interrupt</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Quiet, polite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Disappointed Phillipino</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Sad eyes, polite smile</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Quiet and resigned</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Disappointed Western European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Frown and/or downcast eyes</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Serious, somber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Disappointed South Asian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Sad expression, and a solemn look</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Quiet and somber; a sigh</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Loyal Israeli</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Serious</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Strong, maybe aggressive, very direct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Loyal Chinese</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Unchanging expression, serious</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Firm, respectful, and serious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Mentally Fatigued Mexican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Slumped posture, rubbing the eyes or temples</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Sighs, a slow and tired voice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Mentally Fatigued South Korean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Tired smile, slightly slumped posture</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Quiet and tired voice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Menatally Fatigued West African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Yawns, rubbing eyes, or a deep sigh.</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Tired, slow, slightly slurred speech</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Proud Brazillian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Open, beaming smile; posture is upright and confident, may 'high-five' people</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Loud, enthusiastic, and confident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Proud Muslim Middle Easterner or Iranian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Broad smile, confident posture; can be very expressive</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Warm, but not very assertive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Proud North American (East Coast)</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Open, confident smile, upright posture; direct eye contact</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Confident, assertive, enthusiastic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Stressed Colombian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Frowning;  tense posture, quickened pace</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Quick, sometimes shaky or frustrated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Stressed South Korean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Hunched back, hurried pace, serious expression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Hurried, often quiet, serious tone</a:t>
                      </a:r>
                      <a:endParaRPr sz="1100" u="none" cap="none" strike="noStrike">
                        <a:latin typeface="Arial"/>
                        <a:ea typeface="Arial"/>
                        <a:cs typeface="Arial"/>
                        <a:sym typeface="Arial"/>
                      </a:endParaRPr>
                    </a:p>
                  </a:txBody>
                  <a:tcPr marT="0" marB="0" marR="68575" marL="68575"/>
                </a:tc>
              </a:tr>
              <a:tr h="161925">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Stressed Western European</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Fidgeting, sighing, or a tired, strained look</a:t>
                      </a:r>
                      <a:endParaRPr sz="11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Clr>
                          <a:srgbClr val="000000"/>
                        </a:buClr>
                        <a:buSzPts val="1100"/>
                        <a:buFont typeface="Arial"/>
                        <a:buNone/>
                      </a:pPr>
                      <a:r>
                        <a:rPr lang="en-US" sz="1100" u="none" cap="none" strike="noStrike"/>
                        <a:t>Sighing, tense, maybe frustrated tone</a:t>
                      </a:r>
                      <a:endParaRPr sz="1100" u="none" cap="none" strike="noStrike">
                        <a:latin typeface="Arial"/>
                        <a:ea typeface="Arial"/>
                        <a:cs typeface="Arial"/>
                        <a:sym typeface="Arial"/>
                      </a:endParaRPr>
                    </a:p>
                  </a:txBody>
                  <a:tcPr marT="0" marB="0" marR="68575" marL="68575"/>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75"/>
          <p:cNvSpPr/>
          <p:nvPr/>
        </p:nvSpPr>
        <p:spPr>
          <a:xfrm>
            <a:off x="416105" y="611272"/>
            <a:ext cx="10579439" cy="118491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F98AC7"/>
              </a:buClr>
              <a:buSzPts val="3700"/>
              <a:buFont typeface="Lora"/>
              <a:buNone/>
            </a:pPr>
            <a:r>
              <a:rPr b="0" i="0" lang="en-US" sz="4400" u="none" cap="none" strike="noStrike">
                <a:solidFill>
                  <a:srgbClr val="6EB9FC"/>
                </a:solidFill>
                <a:latin typeface="Lora"/>
                <a:ea typeface="Lora"/>
                <a:cs typeface="Lora"/>
                <a:sym typeface="Lora"/>
              </a:rPr>
              <a:t>Revisiting Spark 1: Lived Experience </a:t>
            </a:r>
            <a:endParaRPr b="0" i="0" sz="4400" u="none" cap="none" strike="noStrike">
              <a:solidFill>
                <a:srgbClr val="6EB9FC"/>
              </a:solidFill>
              <a:latin typeface="Lora"/>
              <a:ea typeface="Lora"/>
              <a:cs typeface="Lora"/>
              <a:sym typeface="Lora"/>
            </a:endParaRPr>
          </a:p>
        </p:txBody>
      </p:sp>
      <p:sp>
        <p:nvSpPr>
          <p:cNvPr id="323" name="Google Shape;323;p75"/>
          <p:cNvSpPr/>
          <p:nvPr/>
        </p:nvSpPr>
        <p:spPr>
          <a:xfrm>
            <a:off x="6355694" y="1511154"/>
            <a:ext cx="7045499" cy="53862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Let’s revisit the Japanese oil refinery story…</a:t>
            </a:r>
            <a:endParaRPr/>
          </a:p>
          <a:p>
            <a:pPr indent="0" lvl="0" marL="0" marR="0" rtl="0" algn="l">
              <a:lnSpc>
                <a:spcPct val="100000"/>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A few days later, after he had returned to Japan and  calmed down, the advisor apologized to his counterpart and asked for forgiveness and an explanation of the travel mishap. </a:t>
            </a:r>
            <a:endParaRPr/>
          </a:p>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The Japanese man chuckled, “Well, you asked me for a work permit, not a visa, so I merely did what I was told. If you’d asked me for a visa as well, I could’ve gotten that for you, too.”</a:t>
            </a:r>
            <a:endParaRPr/>
          </a:p>
          <a:p>
            <a:pPr indent="0" lvl="0" marL="0" marR="0" rtl="0" algn="l">
              <a:lnSpc>
                <a:spcPct val="100000"/>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000" u="none" cap="none" strike="noStrike">
                <a:solidFill>
                  <a:srgbClr val="6EB9FC"/>
                </a:solidFill>
                <a:latin typeface="Lora"/>
                <a:ea typeface="Lora"/>
                <a:cs typeface="Lora"/>
                <a:sym typeface="Lora"/>
              </a:rPr>
              <a:t>There was no enduring conflict between the Australian advisor and the Japanese administrator, however the emotional scars remained with the Japanese colleague and the Australian kept most of his antagonistic thoughts to himself for the duration of his mission. </a:t>
            </a:r>
            <a:endParaRPr/>
          </a:p>
          <a:p>
            <a:pPr indent="0" lvl="0" marL="0" marR="0" rtl="0" algn="l">
              <a:lnSpc>
                <a:spcPct val="100000"/>
              </a:lnSpc>
              <a:spcBef>
                <a:spcPts val="0"/>
              </a:spcBef>
              <a:spcAft>
                <a:spcPts val="0"/>
              </a:spcAft>
              <a:buNone/>
            </a:pPr>
            <a:r>
              <a:t/>
            </a:r>
            <a:endParaRPr b="0" i="0" sz="2000" u="none" cap="none" strike="noStrike">
              <a:solidFill>
                <a:srgbClr val="6EB9FC"/>
              </a:solidFill>
              <a:latin typeface="Lora"/>
              <a:ea typeface="Lora"/>
              <a:cs typeface="Lora"/>
              <a:sym typeface="Lora"/>
            </a:endParaRPr>
          </a:p>
          <a:p>
            <a:pPr indent="-342900" lvl="0" marL="342900" marR="0" rtl="0" algn="l">
              <a:lnSpc>
                <a:spcPct val="110000"/>
              </a:lnSpc>
              <a:spcBef>
                <a:spcPts val="0"/>
              </a:spcBef>
              <a:spcAft>
                <a:spcPts val="0"/>
              </a:spcAft>
              <a:buClr>
                <a:srgbClr val="B2BB1E"/>
              </a:buClr>
              <a:buSzPts val="2000"/>
              <a:buFont typeface="Arial"/>
              <a:buChar char="•"/>
            </a:pPr>
            <a:r>
              <a:rPr b="0" i="0" lang="en-US" sz="2000" u="none" cap="none" strike="noStrike">
                <a:solidFill>
                  <a:srgbClr val="6EB9FC"/>
                </a:solidFill>
                <a:latin typeface="Lora"/>
                <a:ea typeface="Lora"/>
                <a:cs typeface="Lora"/>
                <a:sym typeface="Lora"/>
              </a:rPr>
              <a:t>As an observer, your author saw frustration, anger, shock, stoicism and empathy. The Japanese staffer had not let the data of emotions interfere with his logical work processes, and that is also a lesson to be learned. </a:t>
            </a:r>
            <a:endParaRPr/>
          </a:p>
          <a:p>
            <a:pPr indent="0" lvl="0" marL="0" marR="0" rtl="0" algn="l">
              <a:lnSpc>
                <a:spcPct val="125675"/>
              </a:lnSpc>
              <a:spcBef>
                <a:spcPts val="0"/>
              </a:spcBef>
              <a:spcAft>
                <a:spcPts val="0"/>
              </a:spcAft>
              <a:buNone/>
            </a:pPr>
            <a:r>
              <a:t/>
            </a:r>
            <a:endParaRPr b="0" i="0" sz="2000" u="none" cap="none" strike="noStrike">
              <a:solidFill>
                <a:srgbClr val="6EB9FC"/>
              </a:solidFill>
              <a:latin typeface="Lora"/>
              <a:ea typeface="Lora"/>
              <a:cs typeface="Lora"/>
              <a:sym typeface="Lora"/>
            </a:endParaRPr>
          </a:p>
        </p:txBody>
      </p:sp>
      <p:pic>
        <p:nvPicPr>
          <p:cNvPr descr="Water coming out of shower" id="324" name="Google Shape;324;p75"/>
          <p:cNvPicPr preferRelativeResize="0"/>
          <p:nvPr/>
        </p:nvPicPr>
        <p:blipFill rotWithShape="1">
          <a:blip r:embed="rId3">
            <a:alphaModFix/>
          </a:blip>
          <a:srcRect b="0" l="0" r="0" t="0"/>
          <a:stretch/>
        </p:blipFill>
        <p:spPr>
          <a:xfrm>
            <a:off x="416105" y="2380592"/>
            <a:ext cx="5452196" cy="4083270"/>
          </a:xfrm>
          <a:prstGeom prst="rect">
            <a:avLst/>
          </a:prstGeom>
          <a:noFill/>
          <a:ln>
            <a:noFill/>
          </a:ln>
        </p:spPr>
      </p:pic>
      <p:sp>
        <p:nvSpPr>
          <p:cNvPr id="325" name="Google Shape;325;p75"/>
          <p:cNvSpPr/>
          <p:nvPr/>
        </p:nvSpPr>
        <p:spPr>
          <a:xfrm>
            <a:off x="578581" y="6612386"/>
            <a:ext cx="5289720" cy="41348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600" u="none" cap="none" strike="noStrike">
              <a:solidFill>
                <a:srgbClr val="6EB9FC"/>
              </a:solidFill>
              <a:latin typeface="Lora"/>
              <a:ea typeface="Lora"/>
              <a:cs typeface="Lora"/>
              <a:sym typeface="Lor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descr="preencoded.png" id="331" name="Google Shape;331;p76"/>
          <p:cNvPicPr preferRelativeResize="0"/>
          <p:nvPr/>
        </p:nvPicPr>
        <p:blipFill rotWithShape="1">
          <a:blip r:embed="rId3">
            <a:alphaModFix/>
          </a:blip>
          <a:srcRect b="0" l="0" r="0" t="0"/>
          <a:stretch/>
        </p:blipFill>
        <p:spPr>
          <a:xfrm>
            <a:off x="0" y="0"/>
            <a:ext cx="3657600" cy="8230791"/>
          </a:xfrm>
          <a:prstGeom prst="rect">
            <a:avLst/>
          </a:prstGeom>
          <a:noFill/>
          <a:ln>
            <a:noFill/>
          </a:ln>
        </p:spPr>
      </p:pic>
      <p:sp>
        <p:nvSpPr>
          <p:cNvPr id="332" name="Google Shape;332;p76"/>
          <p:cNvSpPr/>
          <p:nvPr/>
        </p:nvSpPr>
        <p:spPr>
          <a:xfrm>
            <a:off x="4392573" y="577453"/>
            <a:ext cx="9502854" cy="708906"/>
          </a:xfrm>
          <a:prstGeom prst="rect">
            <a:avLst/>
          </a:prstGeom>
          <a:noFill/>
          <a:ln>
            <a:noFill/>
          </a:ln>
        </p:spPr>
        <p:txBody>
          <a:bodyPr anchorCtr="0" anchor="t" bIns="0" lIns="0" spcFirstLastPara="1" rIns="0" wrap="square" tIns="0">
            <a:noAutofit/>
          </a:bodyPr>
          <a:lstStyle/>
          <a:p>
            <a:pPr indent="0" lvl="0" marL="0" marR="0" rtl="0" algn="l">
              <a:lnSpc>
                <a:spcPct val="134722"/>
              </a:lnSpc>
              <a:spcBef>
                <a:spcPts val="0"/>
              </a:spcBef>
              <a:spcAft>
                <a:spcPts val="0"/>
              </a:spcAft>
              <a:buNone/>
            </a:pPr>
            <a:r>
              <a:rPr b="0" i="0" lang="en-US" sz="3600" u="none" cap="none" strike="noStrike">
                <a:solidFill>
                  <a:srgbClr val="6EB9FC"/>
                </a:solidFill>
                <a:latin typeface="Lora"/>
                <a:ea typeface="Lora"/>
                <a:cs typeface="Lora"/>
                <a:sym typeface="Lora"/>
              </a:rPr>
              <a:t>Final Reflections…</a:t>
            </a:r>
            <a:endParaRPr/>
          </a:p>
          <a:p>
            <a:pPr indent="0" lvl="0" marL="0" marR="0" rtl="0" algn="l">
              <a:lnSpc>
                <a:spcPct val="100000"/>
              </a:lnSpc>
              <a:spcBef>
                <a:spcPts val="0"/>
              </a:spcBef>
              <a:spcAft>
                <a:spcPts val="0"/>
              </a:spcAft>
              <a:buNone/>
            </a:pPr>
            <a:r>
              <a:t/>
            </a:r>
            <a:endParaRPr b="1" i="0" sz="2400" u="sng"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How can we manifest the learning from  our Stretch experiences in future? Try one (or both) of these follow-through activities:</a:t>
            </a:r>
            <a:endParaRPr b="0" i="0"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t/>
            </a:r>
            <a:endParaRPr b="1" i="0" sz="2400" u="sng"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1" i="0" lang="en-US" sz="2400" u="sng" cap="none" strike="noStrike">
                <a:solidFill>
                  <a:srgbClr val="6EB9FC"/>
                </a:solidFill>
                <a:latin typeface="Lora"/>
                <a:ea typeface="Lora"/>
                <a:cs typeface="Lora"/>
                <a:sym typeface="Lora"/>
              </a:rPr>
              <a:t>Option 1: </a:t>
            </a:r>
            <a:r>
              <a:rPr b="0" i="0" lang="en-US" sz="2400" u="none" cap="none" strike="noStrike">
                <a:solidFill>
                  <a:srgbClr val="6EB9FC"/>
                </a:solidFill>
                <a:latin typeface="Lora"/>
                <a:ea typeface="Lora"/>
                <a:cs typeface="Lora"/>
                <a:sym typeface="Lora"/>
              </a:rPr>
              <a:t>Reflect on a specific, </a:t>
            </a:r>
            <a:r>
              <a:rPr b="1" i="0" lang="en-US" sz="2400" u="none" cap="none" strike="noStrike">
                <a:solidFill>
                  <a:srgbClr val="6EB9FC"/>
                </a:solidFill>
                <a:latin typeface="Lora"/>
                <a:ea typeface="Lora"/>
                <a:cs typeface="Lora"/>
                <a:sym typeface="Lora"/>
              </a:rPr>
              <a:t>challenging</a:t>
            </a:r>
            <a:r>
              <a:rPr b="0" i="0" lang="en-US" sz="2400" u="none" cap="none" strike="noStrike">
                <a:solidFill>
                  <a:srgbClr val="6EB9FC"/>
                </a:solidFill>
                <a:latin typeface="Lora"/>
                <a:ea typeface="Lora"/>
                <a:cs typeface="Lora"/>
                <a:sym typeface="Lora"/>
              </a:rPr>
              <a:t> situation you currently face at work. Perhaps it’s a major change you must implement or a conversation you need to have that requires courage.</a:t>
            </a:r>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Now envision the emotions you might 	experience during the event or process and try to identify them (words aren’t always accurate, don’t worry!). Then write them down to revisit in future. </a:t>
            </a:r>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0" i="0" lang="en-US" sz="2400" u="none" cap="none" strike="noStrike">
                <a:solidFill>
                  <a:srgbClr val="6EB9FC"/>
                </a:solidFill>
                <a:latin typeface="Lora"/>
                <a:ea typeface="Lora"/>
                <a:cs typeface="Lora"/>
                <a:sym typeface="Lora"/>
              </a:rPr>
              <a:t>Afterwards, compare your estimations with the actual outcomes. How accurate were you? </a:t>
            </a:r>
            <a:endParaRPr/>
          </a:p>
          <a:p>
            <a:pPr indent="0" lvl="0" marL="0" marR="0" rtl="0" algn="l">
              <a:lnSpc>
                <a:spcPct val="100000"/>
              </a:lnSpc>
              <a:spcBef>
                <a:spcPts val="0"/>
              </a:spcBef>
              <a:spcAft>
                <a:spcPts val="0"/>
              </a:spcAft>
              <a:buNone/>
            </a:pPr>
            <a:r>
              <a:t/>
            </a:r>
            <a:endParaRPr b="0" i="0" sz="2400" u="none" cap="none" strike="noStrike">
              <a:solidFill>
                <a:srgbClr val="6EB9FC"/>
              </a:solidFill>
              <a:latin typeface="Lora"/>
              <a:ea typeface="Lora"/>
              <a:cs typeface="Lora"/>
              <a:sym typeface="Lora"/>
            </a:endParaRPr>
          </a:p>
          <a:p>
            <a:pPr indent="0" lvl="0" marL="0" marR="0" rtl="0" algn="l">
              <a:lnSpc>
                <a:spcPct val="100000"/>
              </a:lnSpc>
              <a:spcBef>
                <a:spcPts val="0"/>
              </a:spcBef>
              <a:spcAft>
                <a:spcPts val="0"/>
              </a:spcAft>
              <a:buNone/>
            </a:pPr>
            <a:r>
              <a:rPr b="1" i="0" lang="en-US" sz="2400" u="sng" cap="none" strike="noStrike">
                <a:solidFill>
                  <a:srgbClr val="6EB9FC"/>
                </a:solidFill>
                <a:latin typeface="Lora"/>
                <a:ea typeface="Lora"/>
                <a:cs typeface="Lora"/>
                <a:sym typeface="Lora"/>
              </a:rPr>
              <a:t>Option 2: </a:t>
            </a:r>
            <a:r>
              <a:rPr b="0" i="0" lang="en-US" sz="2400" u="none" cap="none" strike="noStrike">
                <a:solidFill>
                  <a:srgbClr val="6EB9FC"/>
                </a:solidFill>
                <a:latin typeface="Lora"/>
                <a:ea typeface="Lora"/>
                <a:cs typeface="Lora"/>
                <a:sym typeface="Lora"/>
              </a:rPr>
              <a:t>Complete the Emotional Regulation Pledge on the next slide, sign and date it and then share it with the Workplace Edge community</a:t>
            </a:r>
            <a:endParaRPr b="0" i="0" sz="2400" u="none" cap="none" strike="noStrike">
              <a:solidFill>
                <a:srgbClr val="6EB9FC"/>
              </a:solidFill>
              <a:latin typeface="Lora"/>
              <a:ea typeface="Lora"/>
              <a:cs typeface="Lora"/>
              <a:sym typeface="Lora"/>
            </a:endParaRPr>
          </a:p>
          <a:p>
            <a:pPr indent="0" lvl="0" marL="0" marR="0" rtl="0" algn="l">
              <a:lnSpc>
                <a:spcPct val="202083"/>
              </a:lnSpc>
              <a:spcBef>
                <a:spcPts val="0"/>
              </a:spcBef>
              <a:spcAft>
                <a:spcPts val="0"/>
              </a:spcAft>
              <a:buNone/>
            </a:pPr>
            <a:r>
              <a:t/>
            </a:r>
            <a:endParaRPr b="0" i="0" sz="2400" u="none" cap="none" strike="noStrike">
              <a:solidFill>
                <a:srgbClr val="6EB9FC"/>
              </a:solidFill>
              <a:latin typeface="Lora"/>
              <a:ea typeface="Lora"/>
              <a:cs typeface="Lora"/>
              <a:sym typeface="Lora"/>
            </a:endParaRPr>
          </a:p>
        </p:txBody>
      </p:sp>
      <p:sp>
        <p:nvSpPr>
          <p:cNvPr id="333" name="Google Shape;333;p76"/>
          <p:cNvSpPr/>
          <p:nvPr/>
        </p:nvSpPr>
        <p:spPr>
          <a:xfrm>
            <a:off x="4168176" y="2363748"/>
            <a:ext cx="9502854" cy="5116344"/>
          </a:xfrm>
          <a:prstGeom prst="rect">
            <a:avLst/>
          </a:prstGeom>
          <a:noFill/>
          <a:ln>
            <a:noFill/>
          </a:ln>
        </p:spPr>
        <p:txBody>
          <a:bodyPr anchorCtr="0" anchor="t" bIns="0" lIns="0" spcFirstLastPara="1" rIns="0" wrap="square" tIns="0">
            <a:noAutofit/>
          </a:bodyPr>
          <a:lstStyle/>
          <a:p>
            <a:pPr indent="-279400" lvl="0" marL="457200" marR="0" rtl="0" algn="l">
              <a:lnSpc>
                <a:spcPct val="115000"/>
              </a:lnSpc>
              <a:spcBef>
                <a:spcPts val="0"/>
              </a:spcBef>
              <a:spcAft>
                <a:spcPts val="0"/>
              </a:spcAft>
              <a:buClr>
                <a:srgbClr val="000000"/>
              </a:buClr>
              <a:buSzPts val="2800"/>
              <a:buFont typeface="Arial"/>
              <a:buNone/>
            </a:pPr>
            <a:r>
              <a:t/>
            </a:r>
            <a:endParaRPr b="0" i="0" sz="2800" u="none" cap="none" strike="noStrike">
              <a:solidFill>
                <a:srgbClr val="F888D2"/>
              </a:solidFill>
              <a:latin typeface="Lora"/>
              <a:ea typeface="Lora"/>
              <a:cs typeface="Lora"/>
              <a:sym typeface="Lor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descr="preencoded.png" id="339" name="Google Shape;339;p77"/>
          <p:cNvPicPr preferRelativeResize="0"/>
          <p:nvPr/>
        </p:nvPicPr>
        <p:blipFill rotWithShape="1">
          <a:blip r:embed="rId3">
            <a:alphaModFix/>
          </a:blip>
          <a:srcRect b="0" l="0" r="0" t="0"/>
          <a:stretch/>
        </p:blipFill>
        <p:spPr>
          <a:xfrm>
            <a:off x="0" y="0"/>
            <a:ext cx="3657600" cy="8230791"/>
          </a:xfrm>
          <a:prstGeom prst="rect">
            <a:avLst/>
          </a:prstGeom>
          <a:noFill/>
          <a:ln>
            <a:noFill/>
          </a:ln>
        </p:spPr>
      </p:pic>
      <p:sp>
        <p:nvSpPr>
          <p:cNvPr id="340" name="Google Shape;340;p77"/>
          <p:cNvSpPr/>
          <p:nvPr/>
        </p:nvSpPr>
        <p:spPr>
          <a:xfrm>
            <a:off x="4392573" y="577453"/>
            <a:ext cx="9502854" cy="1235154"/>
          </a:xfrm>
          <a:prstGeom prst="rect">
            <a:avLst/>
          </a:prstGeom>
          <a:noFill/>
          <a:ln>
            <a:noFill/>
          </a:ln>
        </p:spPr>
        <p:txBody>
          <a:bodyPr anchorCtr="0" anchor="t" bIns="0" lIns="0" spcFirstLastPara="1" rIns="0" wrap="square" tIns="0">
            <a:noAutofit/>
          </a:bodyPr>
          <a:lstStyle/>
          <a:p>
            <a:pPr indent="0" lvl="0" marL="0" marR="0" rtl="0" algn="ctr">
              <a:lnSpc>
                <a:spcPct val="134722"/>
              </a:lnSpc>
              <a:spcBef>
                <a:spcPts val="0"/>
              </a:spcBef>
              <a:spcAft>
                <a:spcPts val="0"/>
              </a:spcAft>
              <a:buNone/>
            </a:pPr>
            <a:r>
              <a:rPr b="1" i="1" lang="en-US" sz="3600" u="none" cap="none" strike="noStrike">
                <a:solidFill>
                  <a:srgbClr val="6EB9FC"/>
                </a:solidFill>
                <a:latin typeface="Lora"/>
                <a:ea typeface="Lora"/>
                <a:cs typeface="Lora"/>
                <a:sym typeface="Lora"/>
              </a:rPr>
              <a:t>My Emotional Regulation Pledge</a:t>
            </a:r>
            <a:endParaRPr/>
          </a:p>
          <a:p>
            <a:pPr indent="0" lvl="0" marL="0" marR="0" rtl="0" algn="l">
              <a:lnSpc>
                <a:spcPct val="134722"/>
              </a:lnSpc>
              <a:spcBef>
                <a:spcPts val="0"/>
              </a:spcBef>
              <a:spcAft>
                <a:spcPts val="0"/>
              </a:spcAft>
              <a:buNone/>
            </a:pPr>
            <a:r>
              <a:t/>
            </a:r>
            <a:endParaRPr b="0" i="0" sz="3600" u="none" cap="none" strike="noStrike">
              <a:solidFill>
                <a:srgbClr val="6EB9FC"/>
              </a:solidFill>
              <a:latin typeface="Lora"/>
              <a:ea typeface="Lora"/>
              <a:cs typeface="Lora"/>
              <a:sym typeface="Lora"/>
            </a:endParaRPr>
          </a:p>
          <a:p>
            <a:pPr indent="0" lvl="0" marL="0" marR="0" rtl="0" algn="l">
              <a:lnSpc>
                <a:spcPct val="303125"/>
              </a:lnSpc>
              <a:spcBef>
                <a:spcPts val="0"/>
              </a:spcBef>
              <a:spcAft>
                <a:spcPts val="0"/>
              </a:spcAft>
              <a:buNone/>
            </a:pPr>
            <a:r>
              <a:rPr b="0" i="1" lang="en-US" sz="1600" u="none" cap="none" strike="noStrike">
                <a:solidFill>
                  <a:srgbClr val="6EB9FC"/>
                </a:solidFill>
                <a:latin typeface="Lora"/>
                <a:ea typeface="Lora"/>
                <a:cs typeface="Lora"/>
                <a:sym typeface="Lora"/>
              </a:rPr>
              <a:t>Today I will try to identify (check one) </a:t>
            </a:r>
            <a:r>
              <a:rPr b="0" i="1" lang="en-US" sz="1600" u="none" cap="none" strike="noStrike">
                <a:solidFill>
                  <a:srgbClr val="6EB9FC"/>
                </a:solidFill>
                <a:latin typeface="Arial"/>
                <a:ea typeface="Arial"/>
                <a:cs typeface="Arial"/>
                <a:sym typeface="Arial"/>
              </a:rPr>
              <a:t>□</a:t>
            </a:r>
            <a:r>
              <a:rPr b="0" i="1" lang="en-US" sz="1600" u="none" cap="none" strike="noStrike">
                <a:solidFill>
                  <a:srgbClr val="6EB9FC"/>
                </a:solidFill>
                <a:latin typeface="Lora"/>
                <a:ea typeface="Lora"/>
                <a:cs typeface="Lora"/>
                <a:sym typeface="Lora"/>
              </a:rPr>
              <a:t>one or </a:t>
            </a:r>
            <a:r>
              <a:rPr b="0" i="1" lang="en-US" sz="1600" u="none" cap="none" strike="noStrike">
                <a:solidFill>
                  <a:srgbClr val="6EB9FC"/>
                </a:solidFill>
                <a:latin typeface="Arial"/>
                <a:ea typeface="Arial"/>
                <a:cs typeface="Arial"/>
                <a:sym typeface="Arial"/>
              </a:rPr>
              <a:t>□ </a:t>
            </a:r>
            <a:r>
              <a:rPr b="0" i="1" lang="en-US" sz="1600" u="none" cap="none" strike="noStrike">
                <a:solidFill>
                  <a:srgbClr val="6EB9FC"/>
                </a:solidFill>
                <a:latin typeface="Lora"/>
                <a:ea typeface="Lora"/>
                <a:cs typeface="Lora"/>
                <a:sym typeface="Lora"/>
              </a:rPr>
              <a:t>two emotions in myself at work and (check one) </a:t>
            </a:r>
            <a:r>
              <a:rPr b="0" i="1" lang="en-US" sz="1600" u="none" cap="none" strike="noStrike">
                <a:solidFill>
                  <a:srgbClr val="6EB9FC"/>
                </a:solidFill>
                <a:latin typeface="Arial"/>
                <a:ea typeface="Arial"/>
                <a:cs typeface="Arial"/>
                <a:sym typeface="Arial"/>
              </a:rPr>
              <a:t>□ </a:t>
            </a:r>
            <a:r>
              <a:rPr b="0" i="1" lang="en-US" sz="1600" u="none" cap="none" strike="noStrike">
                <a:solidFill>
                  <a:srgbClr val="6EB9FC"/>
                </a:solidFill>
                <a:latin typeface="Lora"/>
                <a:ea typeface="Lora"/>
                <a:cs typeface="Lora"/>
                <a:sym typeface="Lora"/>
              </a:rPr>
              <a:t>one or </a:t>
            </a:r>
            <a:r>
              <a:rPr b="0" i="1" lang="en-US" sz="1600" u="none" cap="none" strike="noStrike">
                <a:solidFill>
                  <a:srgbClr val="6EB9FC"/>
                </a:solidFill>
                <a:latin typeface="Arial"/>
                <a:ea typeface="Arial"/>
                <a:cs typeface="Arial"/>
                <a:sym typeface="Arial"/>
              </a:rPr>
              <a:t>□ </a:t>
            </a:r>
            <a:r>
              <a:rPr b="0" i="1" lang="en-US" sz="1600" u="none" cap="none" strike="noStrike">
                <a:solidFill>
                  <a:srgbClr val="6EB9FC"/>
                </a:solidFill>
                <a:latin typeface="Lora"/>
                <a:ea typeface="Lora"/>
                <a:cs typeface="Lora"/>
                <a:sym typeface="Lora"/>
              </a:rPr>
              <a:t>two emotions in others. </a:t>
            </a:r>
            <a:r>
              <a:rPr b="0" i="0" lang="en-US" sz="1600" u="none" cap="none" strike="noStrike">
                <a:solidFill>
                  <a:srgbClr val="6EB9FC"/>
                </a:solidFill>
                <a:latin typeface="Lora"/>
                <a:ea typeface="Lora"/>
                <a:cs typeface="Lora"/>
                <a:sym typeface="Lora"/>
              </a:rPr>
              <a:t>These emotions were: __________ and _________. These emotions were (check one)</a:t>
            </a:r>
            <a:r>
              <a:rPr b="0" i="1" lang="en-US" sz="1600" u="none" cap="none" strike="noStrike">
                <a:solidFill>
                  <a:srgbClr val="6EB9FC"/>
                </a:solidFill>
                <a:latin typeface="Arial"/>
                <a:ea typeface="Arial"/>
                <a:cs typeface="Arial"/>
                <a:sym typeface="Arial"/>
              </a:rPr>
              <a:t> </a:t>
            </a:r>
            <a:r>
              <a:rPr b="0" i="0" lang="en-US" sz="1600" u="none" cap="none" strike="noStrike">
                <a:solidFill>
                  <a:srgbClr val="6EB9FC"/>
                </a:solidFill>
                <a:latin typeface="Lora"/>
                <a:ea typeface="Lora"/>
                <a:cs typeface="Lora"/>
                <a:sym typeface="Lora"/>
              </a:rPr>
              <a:t>:</a:t>
            </a:r>
            <a:endParaRPr/>
          </a:p>
          <a:p>
            <a:pPr indent="0" lvl="0" marL="0" marR="0" rtl="0" algn="l">
              <a:lnSpc>
                <a:spcPct val="303125"/>
              </a:lnSpc>
              <a:spcBef>
                <a:spcPts val="0"/>
              </a:spcBef>
              <a:spcAft>
                <a:spcPts val="0"/>
              </a:spcAft>
              <a:buNone/>
            </a:pPr>
            <a:r>
              <a:rPr b="0" i="1" lang="en-US" sz="1600" u="none" cap="none" strike="noStrike">
                <a:solidFill>
                  <a:srgbClr val="6EB9FC"/>
                </a:solidFill>
                <a:latin typeface="Arial"/>
                <a:ea typeface="Arial"/>
                <a:cs typeface="Arial"/>
                <a:sym typeface="Arial"/>
              </a:rPr>
              <a:t>□</a:t>
            </a:r>
            <a:r>
              <a:rPr b="0" i="0" lang="en-US" sz="1600" u="none" cap="none" strike="noStrike">
                <a:solidFill>
                  <a:srgbClr val="6EB9FC"/>
                </a:solidFill>
                <a:latin typeface="Lora"/>
                <a:ea typeface="Lora"/>
                <a:cs typeface="Lora"/>
                <a:sym typeface="Lora"/>
              </a:rPr>
              <a:t> suppressed and helped the collaborative effort.</a:t>
            </a:r>
            <a:endParaRPr/>
          </a:p>
          <a:p>
            <a:pPr indent="0" lvl="0" marL="0" marR="0" rtl="0" algn="l">
              <a:lnSpc>
                <a:spcPct val="303125"/>
              </a:lnSpc>
              <a:spcBef>
                <a:spcPts val="0"/>
              </a:spcBef>
              <a:spcAft>
                <a:spcPts val="0"/>
              </a:spcAft>
              <a:buNone/>
            </a:pPr>
            <a:r>
              <a:rPr b="0" i="1" lang="en-US" sz="1600" u="none" cap="none" strike="noStrike">
                <a:solidFill>
                  <a:srgbClr val="6EB9FC"/>
                </a:solidFill>
                <a:latin typeface="Arial"/>
                <a:ea typeface="Arial"/>
                <a:cs typeface="Arial"/>
                <a:sym typeface="Arial"/>
              </a:rPr>
              <a:t>□ </a:t>
            </a:r>
            <a:r>
              <a:rPr b="0" i="0" lang="en-US" sz="1600" u="none" cap="none" strike="noStrike">
                <a:solidFill>
                  <a:srgbClr val="6EB9FC"/>
                </a:solidFill>
                <a:highlight>
                  <a:srgbClr val="FFFF00"/>
                </a:highlight>
                <a:latin typeface="Lora"/>
                <a:ea typeface="Lora"/>
                <a:cs typeface="Lora"/>
                <a:sym typeface="Lora"/>
              </a:rPr>
              <a:t>left unchecked </a:t>
            </a:r>
            <a:r>
              <a:rPr b="0" i="0" lang="en-US" sz="1600" u="none" cap="none" strike="noStrike">
                <a:solidFill>
                  <a:srgbClr val="6EB9FC"/>
                </a:solidFill>
                <a:latin typeface="Lora"/>
                <a:ea typeface="Lora"/>
                <a:cs typeface="Lora"/>
                <a:sym typeface="Lora"/>
              </a:rPr>
              <a:t>and harmed the collaborative effort.</a:t>
            </a:r>
            <a:endParaRPr/>
          </a:p>
          <a:p>
            <a:pPr indent="0" lvl="0" marL="0" marR="0" rtl="0" algn="l">
              <a:lnSpc>
                <a:spcPct val="303125"/>
              </a:lnSpc>
              <a:spcBef>
                <a:spcPts val="0"/>
              </a:spcBef>
              <a:spcAft>
                <a:spcPts val="0"/>
              </a:spcAft>
              <a:buNone/>
            </a:pPr>
            <a:r>
              <a:rPr b="0" i="0" lang="en-US" sz="1600" u="none" cap="none" strike="noStrike">
                <a:solidFill>
                  <a:srgbClr val="6EB9FC"/>
                </a:solidFill>
                <a:latin typeface="Lora"/>
                <a:ea typeface="Lora"/>
                <a:cs typeface="Lora"/>
                <a:sym typeface="Lora"/>
              </a:rPr>
              <a:t>Going forward, I will continue to be mindful of my own and others’ emotional states and try to identify this data to avoid knee-jerk reactions and find optimum outcomes as teammates and colleagues.  In addition, I will share these realizations with my colleagues who are open and supportive of my efforts.				Signed_____________</a:t>
            </a:r>
            <a:endParaRPr/>
          </a:p>
          <a:p>
            <a:pPr indent="0" lvl="0" marL="0" marR="0" rtl="0" algn="l">
              <a:lnSpc>
                <a:spcPct val="303125"/>
              </a:lnSpc>
              <a:spcBef>
                <a:spcPts val="0"/>
              </a:spcBef>
              <a:spcAft>
                <a:spcPts val="0"/>
              </a:spcAft>
              <a:buNone/>
            </a:pPr>
            <a:r>
              <a:rPr b="0" i="0" lang="en-US" sz="1600" u="none" cap="none" strike="noStrike">
                <a:solidFill>
                  <a:srgbClr val="6EB9FC"/>
                </a:solidFill>
                <a:latin typeface="Lora"/>
                <a:ea typeface="Lora"/>
                <a:cs typeface="Lora"/>
                <a:sym typeface="Lora"/>
              </a:rPr>
              <a:t>						Date______________</a:t>
            </a:r>
            <a:endParaRPr/>
          </a:p>
          <a:p>
            <a:pPr indent="0" lvl="0" marL="0" marR="0" rtl="0" algn="l">
              <a:lnSpc>
                <a:spcPct val="151562"/>
              </a:lnSpc>
              <a:spcBef>
                <a:spcPts val="0"/>
              </a:spcBef>
              <a:spcAft>
                <a:spcPts val="0"/>
              </a:spcAft>
              <a:buNone/>
            </a:pPr>
            <a:r>
              <a:t/>
            </a:r>
            <a:endParaRPr b="0" i="0" sz="3200" u="none" cap="none" strike="noStrike">
              <a:solidFill>
                <a:srgbClr val="6EB9FC"/>
              </a:solidFill>
              <a:latin typeface="Lora"/>
              <a:ea typeface="Lora"/>
              <a:cs typeface="Lora"/>
              <a:sym typeface="Lora"/>
            </a:endParaRPr>
          </a:p>
          <a:p>
            <a:pPr indent="0" lvl="0" marL="0" marR="0" rtl="0" algn="l">
              <a:lnSpc>
                <a:spcPct val="202083"/>
              </a:lnSpc>
              <a:spcBef>
                <a:spcPts val="0"/>
              </a:spcBef>
              <a:spcAft>
                <a:spcPts val="0"/>
              </a:spcAft>
              <a:buNone/>
            </a:pPr>
            <a:r>
              <a:t/>
            </a:r>
            <a:endParaRPr b="0" i="0" sz="2400" u="none" cap="none" strike="noStrike">
              <a:solidFill>
                <a:srgbClr val="6EB9FC"/>
              </a:solidFill>
              <a:latin typeface="Arial"/>
              <a:ea typeface="Arial"/>
              <a:cs typeface="Arial"/>
              <a:sym typeface="Arial"/>
            </a:endParaRPr>
          </a:p>
        </p:txBody>
      </p:sp>
      <p:sp>
        <p:nvSpPr>
          <p:cNvPr id="341" name="Google Shape;341;p77"/>
          <p:cNvSpPr/>
          <p:nvPr/>
        </p:nvSpPr>
        <p:spPr>
          <a:xfrm>
            <a:off x="4168176" y="2363748"/>
            <a:ext cx="9502854" cy="5116344"/>
          </a:xfrm>
          <a:prstGeom prst="rect">
            <a:avLst/>
          </a:prstGeom>
          <a:noFill/>
          <a:ln>
            <a:noFill/>
          </a:ln>
        </p:spPr>
        <p:txBody>
          <a:bodyPr anchorCtr="0" anchor="t" bIns="0" lIns="0" spcFirstLastPara="1" rIns="0" wrap="square" tIns="0">
            <a:noAutofit/>
          </a:bodyPr>
          <a:lstStyle/>
          <a:p>
            <a:pPr indent="-279400" lvl="0" marL="457200" marR="0" rtl="0" algn="l">
              <a:lnSpc>
                <a:spcPct val="115000"/>
              </a:lnSpc>
              <a:spcBef>
                <a:spcPts val="0"/>
              </a:spcBef>
              <a:spcAft>
                <a:spcPts val="0"/>
              </a:spcAft>
              <a:buClr>
                <a:srgbClr val="000000"/>
              </a:buClr>
              <a:buSzPts val="2800"/>
              <a:buFont typeface="Arial"/>
              <a:buNone/>
            </a:pPr>
            <a:r>
              <a:t/>
            </a:r>
            <a:endParaRPr b="0" i="0" sz="2800" u="none" cap="none" strike="noStrike">
              <a:solidFill>
                <a:srgbClr val="F888D2"/>
              </a:solidFill>
              <a:latin typeface="Lora"/>
              <a:ea typeface="Lora"/>
              <a:cs typeface="Lora"/>
              <a:sym typeface="Lor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
          <p:cNvSpPr/>
          <p:nvPr/>
        </p:nvSpPr>
        <p:spPr>
          <a:xfrm>
            <a:off x="837724" y="910233"/>
            <a:ext cx="5632490"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8AC7"/>
              </a:buClr>
              <a:buSzPts val="4400"/>
              <a:buFont typeface="Lora"/>
              <a:buNone/>
            </a:pPr>
            <a:r>
              <a:rPr b="0" i="0" lang="en-US" sz="4400" u="none" cap="none" strike="noStrike">
                <a:solidFill>
                  <a:srgbClr val="6EB9FC"/>
                </a:solidFill>
                <a:latin typeface="Lora"/>
                <a:ea typeface="Lora"/>
                <a:cs typeface="Lora"/>
                <a:sym typeface="Lora"/>
              </a:rPr>
              <a:t>In this Lesson We:</a:t>
            </a:r>
            <a:endParaRPr b="0" i="0" sz="4400" u="none" cap="none" strike="noStrike">
              <a:solidFill>
                <a:srgbClr val="6EB9FC"/>
              </a:solidFill>
              <a:latin typeface="Lora"/>
              <a:ea typeface="Lora"/>
              <a:cs typeface="Lora"/>
              <a:sym typeface="Lora"/>
            </a:endParaRPr>
          </a:p>
        </p:txBody>
      </p:sp>
      <p:pic>
        <p:nvPicPr>
          <p:cNvPr descr="preencoded.png" id="348" name="Google Shape;348;p4"/>
          <p:cNvPicPr preferRelativeResize="0"/>
          <p:nvPr/>
        </p:nvPicPr>
        <p:blipFill rotWithShape="1">
          <a:blip r:embed="rId3">
            <a:alphaModFix/>
          </a:blip>
          <a:srcRect b="0" l="0" r="0" t="0"/>
          <a:stretch/>
        </p:blipFill>
        <p:spPr>
          <a:xfrm>
            <a:off x="3779534" y="1772366"/>
            <a:ext cx="2137529" cy="1357193"/>
          </a:xfrm>
          <a:prstGeom prst="rect">
            <a:avLst/>
          </a:prstGeom>
          <a:noFill/>
          <a:ln>
            <a:noFill/>
          </a:ln>
        </p:spPr>
      </p:pic>
      <p:sp>
        <p:nvSpPr>
          <p:cNvPr id="349" name="Google Shape;349;p4"/>
          <p:cNvSpPr/>
          <p:nvPr/>
        </p:nvSpPr>
        <p:spPr>
          <a:xfrm>
            <a:off x="6136575" y="2085915"/>
            <a:ext cx="7721315" cy="588809"/>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US" sz="1800" u="none" cap="none" strike="noStrike">
                <a:solidFill>
                  <a:srgbClr val="F888D2"/>
                </a:solidFill>
                <a:latin typeface="Lora"/>
                <a:ea typeface="Lora"/>
                <a:cs typeface="Lora"/>
                <a:sym typeface="Lora"/>
              </a:rPr>
              <a:t>Appraised three of the human brain’s layers</a:t>
            </a:r>
            <a:endParaRPr/>
          </a:p>
          <a:p>
            <a:pPr indent="0" lvl="0" marL="0" marR="0" rtl="0" algn="l">
              <a:lnSpc>
                <a:spcPct val="100000"/>
              </a:lnSpc>
              <a:spcBef>
                <a:spcPts val="0"/>
              </a:spcBef>
              <a:spcAft>
                <a:spcPts val="0"/>
              </a:spcAft>
              <a:buClr>
                <a:srgbClr val="D6E5EF"/>
              </a:buClr>
              <a:buSzPts val="1850"/>
              <a:buFont typeface="Arial"/>
              <a:buNone/>
            </a:pPr>
            <a:r>
              <a:t/>
            </a:r>
            <a:endParaRPr b="0" i="0" sz="1800" u="none" cap="none" strike="noStrike">
              <a:solidFill>
                <a:srgbClr val="D6E5EF"/>
              </a:solidFill>
              <a:latin typeface="Arial"/>
              <a:ea typeface="Arial"/>
              <a:cs typeface="Arial"/>
              <a:sym typeface="Arial"/>
            </a:endParaRPr>
          </a:p>
        </p:txBody>
      </p:sp>
      <p:pic>
        <p:nvPicPr>
          <p:cNvPr descr="preencoded.png" id="350" name="Google Shape;350;p4"/>
          <p:cNvPicPr preferRelativeResize="0"/>
          <p:nvPr/>
        </p:nvPicPr>
        <p:blipFill rotWithShape="1">
          <a:blip r:embed="rId4">
            <a:alphaModFix/>
          </a:blip>
          <a:srcRect b="0" l="0" r="0" t="0"/>
          <a:stretch/>
        </p:blipFill>
        <p:spPr>
          <a:xfrm>
            <a:off x="2710710" y="3213078"/>
            <a:ext cx="4275058" cy="1357193"/>
          </a:xfrm>
          <a:prstGeom prst="rect">
            <a:avLst/>
          </a:prstGeom>
          <a:noFill/>
          <a:ln>
            <a:noFill/>
          </a:ln>
        </p:spPr>
      </p:pic>
      <p:sp>
        <p:nvSpPr>
          <p:cNvPr id="351" name="Google Shape;351;p4"/>
          <p:cNvSpPr/>
          <p:nvPr/>
        </p:nvSpPr>
        <p:spPr>
          <a:xfrm>
            <a:off x="6985768" y="3785952"/>
            <a:ext cx="7240870" cy="383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US" sz="1800" u="none" cap="none" strike="noStrike">
                <a:solidFill>
                  <a:srgbClr val="F888D2"/>
                </a:solidFill>
                <a:latin typeface="Lora"/>
                <a:ea typeface="Lora"/>
                <a:cs typeface="Lora"/>
                <a:sym typeface="Lora"/>
              </a:rPr>
              <a:t>Weighed how emotions affect us in our daily lives</a:t>
            </a:r>
            <a:endParaRPr/>
          </a:p>
        </p:txBody>
      </p:sp>
      <p:sp>
        <p:nvSpPr>
          <p:cNvPr id="352" name="Google Shape;352;p4"/>
          <p:cNvSpPr/>
          <p:nvPr/>
        </p:nvSpPr>
        <p:spPr>
          <a:xfrm flipH="1" rot="10800000">
            <a:off x="8154455" y="6021882"/>
            <a:ext cx="6072183" cy="45719"/>
          </a:xfrm>
          <a:prstGeom prst="roundRect">
            <a:avLst>
              <a:gd fmla="val 235611" name="adj"/>
            </a:avLst>
          </a:prstGeom>
          <a:solidFill>
            <a:srgbClr val="5D606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53" name="Google Shape;353;p4"/>
          <p:cNvPicPr preferRelativeResize="0"/>
          <p:nvPr/>
        </p:nvPicPr>
        <p:blipFill rotWithShape="1">
          <a:blip r:embed="rId5">
            <a:alphaModFix/>
          </a:blip>
          <a:srcRect b="0" l="0" r="0" t="0"/>
          <a:stretch/>
        </p:blipFill>
        <p:spPr>
          <a:xfrm>
            <a:off x="1642005" y="4665666"/>
            <a:ext cx="6412587" cy="1357193"/>
          </a:xfrm>
          <a:prstGeom prst="rect">
            <a:avLst/>
          </a:prstGeom>
          <a:noFill/>
          <a:ln>
            <a:noFill/>
          </a:ln>
        </p:spPr>
      </p:pic>
      <p:sp>
        <p:nvSpPr>
          <p:cNvPr id="354" name="Google Shape;354;p4"/>
          <p:cNvSpPr/>
          <p:nvPr/>
        </p:nvSpPr>
        <p:spPr>
          <a:xfrm>
            <a:off x="9157684" y="6495860"/>
            <a:ext cx="5068954" cy="431056"/>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US" sz="1800" u="none" cap="none" strike="noStrike">
                <a:solidFill>
                  <a:srgbClr val="F888D2"/>
                </a:solidFill>
                <a:latin typeface="Lora"/>
                <a:ea typeface="Lora"/>
                <a:cs typeface="Lora"/>
                <a:sym typeface="Lora"/>
              </a:rPr>
              <a:t>Designed responses rather than allowing  reactions to make personal accountability easier</a:t>
            </a:r>
            <a:endParaRPr/>
          </a:p>
          <a:p>
            <a:pPr indent="0" lvl="0" marL="0" marR="0" rtl="0" algn="l">
              <a:lnSpc>
                <a:spcPct val="115000"/>
              </a:lnSpc>
              <a:spcBef>
                <a:spcPts val="0"/>
              </a:spcBef>
              <a:spcAft>
                <a:spcPts val="1000"/>
              </a:spcAft>
              <a:buNone/>
            </a:pPr>
            <a:r>
              <a:t/>
            </a:r>
            <a:endParaRPr b="0" i="0" sz="1800" u="none" cap="none" strike="noStrike">
              <a:solidFill>
                <a:srgbClr val="000000"/>
              </a:solidFill>
              <a:latin typeface="Arial"/>
              <a:ea typeface="Arial"/>
              <a:cs typeface="Arial"/>
              <a:sym typeface="Arial"/>
            </a:endParaRPr>
          </a:p>
        </p:txBody>
      </p:sp>
      <p:pic>
        <p:nvPicPr>
          <p:cNvPr descr="preencoded.png" id="355" name="Google Shape;355;p4"/>
          <p:cNvPicPr preferRelativeResize="0"/>
          <p:nvPr/>
        </p:nvPicPr>
        <p:blipFill rotWithShape="1">
          <a:blip r:embed="rId5">
            <a:alphaModFix/>
          </a:blip>
          <a:srcRect b="20433" l="0" r="0" t="0"/>
          <a:stretch/>
        </p:blipFill>
        <p:spPr>
          <a:xfrm>
            <a:off x="0" y="6133112"/>
            <a:ext cx="9666514" cy="1412989"/>
          </a:xfrm>
          <a:prstGeom prst="rect">
            <a:avLst/>
          </a:prstGeom>
          <a:noFill/>
          <a:ln>
            <a:noFill/>
          </a:ln>
        </p:spPr>
      </p:pic>
      <p:sp>
        <p:nvSpPr>
          <p:cNvPr id="356" name="Google Shape;356;p4"/>
          <p:cNvSpPr/>
          <p:nvPr/>
        </p:nvSpPr>
        <p:spPr>
          <a:xfrm flipH="1" rot="10800000">
            <a:off x="6136575" y="3119661"/>
            <a:ext cx="6072183" cy="45719"/>
          </a:xfrm>
          <a:prstGeom prst="roundRect">
            <a:avLst>
              <a:gd fmla="val 235611" name="adj"/>
            </a:avLst>
          </a:prstGeom>
          <a:solidFill>
            <a:srgbClr val="5D606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4"/>
          <p:cNvSpPr/>
          <p:nvPr/>
        </p:nvSpPr>
        <p:spPr>
          <a:xfrm flipH="1" rot="10800000">
            <a:off x="7095572" y="4677750"/>
            <a:ext cx="6072183" cy="45719"/>
          </a:xfrm>
          <a:prstGeom prst="roundRect">
            <a:avLst>
              <a:gd fmla="val 235611" name="adj"/>
            </a:avLst>
          </a:prstGeom>
          <a:solidFill>
            <a:srgbClr val="5D606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World" id="358" name="Google Shape;358;p4"/>
          <p:cNvPicPr preferRelativeResize="0"/>
          <p:nvPr/>
        </p:nvPicPr>
        <p:blipFill rotWithShape="1">
          <a:blip r:embed="rId6">
            <a:alphaModFix/>
          </a:blip>
          <a:srcRect b="0" l="0" r="0" t="0"/>
          <a:stretch/>
        </p:blipFill>
        <p:spPr>
          <a:xfrm>
            <a:off x="4297535" y="3442698"/>
            <a:ext cx="914400" cy="914400"/>
          </a:xfrm>
          <a:prstGeom prst="rect">
            <a:avLst/>
          </a:prstGeom>
          <a:noFill/>
          <a:ln>
            <a:noFill/>
          </a:ln>
        </p:spPr>
      </p:pic>
      <p:pic>
        <p:nvPicPr>
          <p:cNvPr descr="Lightbulb" id="359" name="Google Shape;359;p4"/>
          <p:cNvPicPr preferRelativeResize="0"/>
          <p:nvPr/>
        </p:nvPicPr>
        <p:blipFill rotWithShape="1">
          <a:blip r:embed="rId7">
            <a:alphaModFix/>
          </a:blip>
          <a:srcRect b="0" l="0" r="0" t="0"/>
          <a:stretch/>
        </p:blipFill>
        <p:spPr>
          <a:xfrm>
            <a:off x="4391039" y="4887062"/>
            <a:ext cx="914400" cy="914400"/>
          </a:xfrm>
          <a:prstGeom prst="rect">
            <a:avLst/>
          </a:prstGeom>
          <a:noFill/>
          <a:ln>
            <a:noFill/>
          </a:ln>
        </p:spPr>
      </p:pic>
      <p:pic>
        <p:nvPicPr>
          <p:cNvPr descr="Handshake" id="360" name="Google Shape;360;p4"/>
          <p:cNvPicPr preferRelativeResize="0"/>
          <p:nvPr/>
        </p:nvPicPr>
        <p:blipFill rotWithShape="1">
          <a:blip r:embed="rId8">
            <a:alphaModFix/>
          </a:blip>
          <a:srcRect b="0" l="0" r="0" t="0"/>
          <a:stretch/>
        </p:blipFill>
        <p:spPr>
          <a:xfrm>
            <a:off x="4391039" y="6382162"/>
            <a:ext cx="914400" cy="914400"/>
          </a:xfrm>
          <a:prstGeom prst="rect">
            <a:avLst/>
          </a:prstGeom>
          <a:noFill/>
          <a:ln>
            <a:noFill/>
          </a:ln>
        </p:spPr>
      </p:pic>
      <p:pic>
        <p:nvPicPr>
          <p:cNvPr descr="Chat" id="361" name="Google Shape;361;p4"/>
          <p:cNvPicPr preferRelativeResize="0"/>
          <p:nvPr/>
        </p:nvPicPr>
        <p:blipFill rotWithShape="1">
          <a:blip r:embed="rId9">
            <a:alphaModFix/>
          </a:blip>
          <a:srcRect b="0" l="0" r="0" t="0"/>
          <a:stretch/>
        </p:blipFill>
        <p:spPr>
          <a:xfrm>
            <a:off x="4391039" y="2243552"/>
            <a:ext cx="914400" cy="914400"/>
          </a:xfrm>
          <a:prstGeom prst="rect">
            <a:avLst/>
          </a:prstGeom>
          <a:noFill/>
          <a:ln>
            <a:noFill/>
          </a:ln>
        </p:spPr>
      </p:pic>
      <p:sp>
        <p:nvSpPr>
          <p:cNvPr id="362" name="Google Shape;362;p4"/>
          <p:cNvSpPr/>
          <p:nvPr/>
        </p:nvSpPr>
        <p:spPr>
          <a:xfrm>
            <a:off x="8154455" y="5106225"/>
            <a:ext cx="6274800" cy="383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US" sz="1800" u="none" cap="none" strike="noStrike">
                <a:solidFill>
                  <a:srgbClr val="F888D2"/>
                </a:solidFill>
                <a:latin typeface="Lora"/>
                <a:ea typeface="Lora"/>
                <a:cs typeface="Lora"/>
                <a:sym typeface="Lora"/>
              </a:rPr>
              <a:t>Investigated recognizing emotional signals</a:t>
            </a:r>
            <a:endParaRPr/>
          </a:p>
          <a:p>
            <a:pPr indent="0" lvl="0" marL="0" marR="0" rtl="0" algn="l">
              <a:lnSpc>
                <a:spcPct val="100000"/>
              </a:lnSpc>
              <a:spcBef>
                <a:spcPts val="0"/>
              </a:spcBef>
              <a:spcAft>
                <a:spcPts val="0"/>
              </a:spcAft>
              <a:buClr>
                <a:srgbClr val="D6E5EF"/>
              </a:buClr>
              <a:buSzPts val="1850"/>
              <a:buFont typeface="Arial"/>
              <a:buNone/>
            </a:pPr>
            <a:r>
              <a:t/>
            </a:r>
            <a:endParaRPr b="0" i="0" sz="1800" u="none" cap="none" strike="noStrike">
              <a:solidFill>
                <a:srgbClr val="D6E5E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2025-04-11T21:57:16Z</dcterms:created>
  <dc:creator>PptxGenJS</dc:creator>
</cp:coreProperties>
</file>