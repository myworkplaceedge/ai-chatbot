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8229600" cx="14630400"/>
  <p:notesSz cx="8229600" cy="14630400"/>
  <p:embeddedFontLst>
    <p:embeddedFont>
      <p:font typeface="Lora"/>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i4JiHFcdVV74ok7xAnUEn3hXj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Lora-bold.fntdata"/><Relationship Id="rId23" Type="http://schemas.openxmlformats.org/officeDocument/2006/relationships/font" Target="fonts/Lora-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ora-boldItalic.fntdata"/><Relationship Id="rId25" Type="http://schemas.openxmlformats.org/officeDocument/2006/relationships/font" Target="fonts/Lora-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This resource is designed to help your team create shared understanding and clear expectations around communication. Your team is made up of individuals who bring their own cultural norms, communication styles, and preferences. By taking time to explore how each person tends to communicate and what they need to feel heard and respected, you can build a strong foundation of trust and clarity.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Use this deck as a guide for a half-day team building session. Instructions and time estimates are provided in the speaker notes for each section of the deck.</a:t>
            </a:r>
            <a:endParaRPr/>
          </a:p>
        </p:txBody>
      </p:sp>
      <p:sp>
        <p:nvSpPr>
          <p:cNvPr id="26" name="Google Shape;2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Opening: 10 minutes</a:t>
            </a:r>
            <a:endParaRPr/>
          </a:p>
        </p:txBody>
      </p:sp>
      <p:sp>
        <p:nvSpPr>
          <p:cNvPr id="34" name="Google Shape;3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Approach Part 1 as a group discussion. Use the questions on the following slides to better </a:t>
            </a:r>
            <a:r>
              <a:rPr lang="en-US"/>
              <a:t>understand</a:t>
            </a:r>
            <a:r>
              <a:rPr lang="en-US"/>
              <a:t> each team</a:t>
            </a:r>
            <a:r>
              <a:rPr b="0" i="0" lang="en-US" sz="1200" u="none" cap="none" strike="noStrike">
                <a:solidFill>
                  <a:schemeClr val="dk1"/>
                </a:solidFill>
                <a:latin typeface="Calibri"/>
                <a:ea typeface="Calibri"/>
                <a:cs typeface="Calibri"/>
                <a:sym typeface="Calibri"/>
              </a:rPr>
              <a:t> member’s communication preferences and background. Aim to spend about seven minutes on each question. Invite each team member to </a:t>
            </a:r>
            <a:r>
              <a:rPr lang="en-US"/>
              <a:t>participate in sharing for each question, though of course be respectful of boundaries.</a:t>
            </a:r>
            <a:endParaRPr/>
          </a:p>
          <a:p>
            <a:pPr indent="0" lvl="0" marL="0" rtl="0" algn="l">
              <a:lnSpc>
                <a:spcPct val="100000"/>
              </a:lnSpc>
              <a:spcBef>
                <a:spcPts val="0"/>
              </a:spcBef>
              <a:spcAft>
                <a:spcPts val="0"/>
              </a:spcAft>
              <a:buSzPts val="1400"/>
              <a:buNone/>
            </a:pPr>
            <a:r>
              <a:t/>
            </a:r>
            <a:endParaRPr/>
          </a:p>
        </p:txBody>
      </p:sp>
      <p:sp>
        <p:nvSpPr>
          <p:cNvPr id="42" name="Google Shape;42;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1" name="Google Shape;5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9" name="Google Shape;59;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67" name="Google Shape;6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75" name="Google Shape;75;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83" name="Google Shape;83;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91" name="Google Shape;91;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99" name="Google Shape;99;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07" name="Google Shape;107;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15" name="Google Shape;115;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23" name="Google Shape;123;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31" name="Google Shape;131;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In this section, you’ll work with your team to share your Team Communication Agreement.</a:t>
            </a:r>
            <a:endParaRPr/>
          </a:p>
        </p:txBody>
      </p:sp>
      <p:sp>
        <p:nvSpPr>
          <p:cNvPr id="139" name="Google Shape;139;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48" name="Google Shape;148;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Break the team into groups of three. Nominate one person in each team as the note taker.</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Teams should discuss what is important to them to stop, start, and continue when it comes to communication.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After twenty minutes, bring the whole team back together to share their thoughts. Give seven minutes per group to share their suggestions. Write down agreement suggestions. Group similar suggestions as they arise.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Once everyone has shared their ideas, you may need to select from a long list. If your team has more than ten communication agreements, vote on the ten most important.</a:t>
            </a:r>
            <a:endParaRPr/>
          </a:p>
        </p:txBody>
      </p:sp>
      <p:sp>
        <p:nvSpPr>
          <p:cNvPr id="157" name="Google Shape;157;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With your team, fill out and sign collectively the Team Communication Agreement. Nominate a team member who is responsible for the upkeep of the document: including new team members in the agreement, making updates as needed, and so 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Now celebrate! You’ve taken a great step towards effective, understanding, and wholehearted communication with your team mates.</a:t>
            </a:r>
            <a:endParaRPr/>
          </a:p>
        </p:txBody>
      </p:sp>
      <p:sp>
        <p:nvSpPr>
          <p:cNvPr id="166" name="Google Shape;16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2"/>
          <p:cNvSpPr/>
          <p:nvPr/>
        </p:nvSpPr>
        <p:spPr>
          <a:xfrm>
            <a:off x="0" y="0"/>
            <a:ext cx="14630400" cy="8229600"/>
          </a:xfrm>
          <a:prstGeom prst="rect">
            <a:avLst/>
          </a:prstGeom>
          <a:solidFill>
            <a:srgbClr val="181A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2"/>
          <p:cNvSpPr/>
          <p:nvPr/>
        </p:nvSpPr>
        <p:spPr>
          <a:xfrm>
            <a:off x="0" y="0"/>
            <a:ext cx="14630400" cy="8229600"/>
          </a:xfrm>
          <a:prstGeom prst="rect">
            <a:avLst/>
          </a:prstGeom>
          <a:solidFill>
            <a:srgbClr val="2528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spTree>
      <p:nvGrpSpPr>
        <p:cNvPr id="13" name="Shape 13"/>
        <p:cNvGrpSpPr/>
        <p:nvPr/>
      </p:nvGrpSpPr>
      <p:grpSpPr>
        <a:xfrm>
          <a:off x="0" y="0"/>
          <a:ext cx="0" cy="0"/>
          <a:chOff x="0" y="0"/>
          <a:chExt cx="0" cy="0"/>
        </a:xfrm>
      </p:grpSpPr>
      <p:sp>
        <p:nvSpPr>
          <p:cNvPr id="14" name="Google Shape;14;p41"/>
          <p:cNvSpPr/>
          <p:nvPr/>
        </p:nvSpPr>
        <p:spPr>
          <a:xfrm>
            <a:off x="0" y="0"/>
            <a:ext cx="14630400" cy="8229600"/>
          </a:xfrm>
          <a:prstGeom prst="rect">
            <a:avLst/>
          </a:prstGeom>
          <a:solidFill>
            <a:srgbClr val="181A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41"/>
          <p:cNvSpPr/>
          <p:nvPr/>
        </p:nvSpPr>
        <p:spPr>
          <a:xfrm>
            <a:off x="0" y="0"/>
            <a:ext cx="14630400" cy="8229600"/>
          </a:xfrm>
          <a:prstGeom prst="rect">
            <a:avLst/>
          </a:prstGeom>
          <a:solidFill>
            <a:srgbClr val="2528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16" name="Shape 16"/>
        <p:cNvGrpSpPr/>
        <p:nvPr/>
      </p:nvGrpSpPr>
      <p:grpSpPr>
        <a:xfrm>
          <a:off x="0" y="0"/>
          <a:ext cx="0" cy="0"/>
          <a:chOff x="0" y="0"/>
          <a:chExt cx="0" cy="0"/>
        </a:xfrm>
      </p:grpSpPr>
      <p:sp>
        <p:nvSpPr>
          <p:cNvPr id="17" name="Google Shape;17;p38"/>
          <p:cNvSpPr/>
          <p:nvPr/>
        </p:nvSpPr>
        <p:spPr>
          <a:xfrm>
            <a:off x="0" y="0"/>
            <a:ext cx="14630400" cy="8229600"/>
          </a:xfrm>
          <a:prstGeom prst="rect">
            <a:avLst/>
          </a:prstGeom>
          <a:solidFill>
            <a:srgbClr val="181A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8"/>
          <p:cNvSpPr/>
          <p:nvPr/>
        </p:nvSpPr>
        <p:spPr>
          <a:xfrm>
            <a:off x="0" y="0"/>
            <a:ext cx="14630400" cy="8229600"/>
          </a:xfrm>
          <a:prstGeom prst="rect">
            <a:avLst/>
          </a:prstGeom>
          <a:solidFill>
            <a:srgbClr val="2528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25"/>
          <p:cNvSpPr/>
          <p:nvPr/>
        </p:nvSpPr>
        <p:spPr>
          <a:xfrm>
            <a:off x="0" y="0"/>
            <a:ext cx="14630400" cy="8229600"/>
          </a:xfrm>
          <a:prstGeom prst="rect">
            <a:avLst/>
          </a:prstGeom>
          <a:solidFill>
            <a:srgbClr val="181A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5"/>
          <p:cNvSpPr/>
          <p:nvPr/>
        </p:nvSpPr>
        <p:spPr>
          <a:xfrm>
            <a:off x="0" y="0"/>
            <a:ext cx="14630400" cy="8229600"/>
          </a:xfrm>
          <a:prstGeom prst="rect">
            <a:avLst/>
          </a:prstGeom>
          <a:solidFill>
            <a:srgbClr val="2528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2"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pic>
        <p:nvPicPr>
          <p:cNvPr id="28" name="Google Shape;28;p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9" name="Google Shape;29;p1"/>
          <p:cNvSpPr/>
          <p:nvPr/>
        </p:nvSpPr>
        <p:spPr>
          <a:xfrm>
            <a:off x="6324124" y="2121218"/>
            <a:ext cx="7468553" cy="140803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rPr b="0" i="0" lang="en-US" sz="4400" u="none" cap="none" strike="noStrike">
                <a:solidFill>
                  <a:srgbClr val="6EB9FC"/>
                </a:solidFill>
                <a:latin typeface="Lora"/>
                <a:ea typeface="Lora"/>
                <a:cs typeface="Lora"/>
                <a:sym typeface="Lora"/>
              </a:rPr>
              <a:t>Our Team Culture </a:t>
            </a:r>
            <a:endParaRPr b="0" i="0" sz="4400" u="none" cap="none" strike="noStrike">
              <a:solidFill>
                <a:srgbClr val="6EB9FC"/>
              </a:solidFill>
              <a:latin typeface="Arial"/>
              <a:ea typeface="Arial"/>
              <a:cs typeface="Arial"/>
              <a:sym typeface="Arial"/>
            </a:endParaRPr>
          </a:p>
        </p:txBody>
      </p:sp>
      <p:sp>
        <p:nvSpPr>
          <p:cNvPr id="30" name="Google Shape;30;p1"/>
          <p:cNvSpPr/>
          <p:nvPr/>
        </p:nvSpPr>
        <p:spPr>
          <a:xfrm>
            <a:off x="6324123" y="6588995"/>
            <a:ext cx="7468553" cy="140803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rPr b="0" i="0" lang="en-US" sz="2400" u="none" cap="none" strike="noStrike">
                <a:solidFill>
                  <a:srgbClr val="6EB9FC"/>
                </a:solidFill>
                <a:latin typeface="Lora"/>
                <a:ea typeface="Lora"/>
                <a:cs typeface="Lora"/>
                <a:sym typeface="Lora"/>
              </a:rPr>
              <a:t>Liz Hepburn</a:t>
            </a:r>
            <a:endParaRPr/>
          </a:p>
          <a:p>
            <a:pPr indent="0" lvl="0" marL="0" marR="0" rtl="0" algn="l">
              <a:lnSpc>
                <a:spcPct val="125000"/>
              </a:lnSpc>
              <a:spcBef>
                <a:spcPts val="0"/>
              </a:spcBef>
              <a:spcAft>
                <a:spcPts val="0"/>
              </a:spcAft>
              <a:buClr>
                <a:srgbClr val="F98AC7"/>
              </a:buClr>
              <a:buSzPts val="4400"/>
              <a:buFont typeface="Lora"/>
              <a:buNone/>
            </a:pPr>
            <a:r>
              <a:rPr b="0" i="0" lang="en-US" sz="2400" u="none" cap="none" strike="noStrike">
                <a:solidFill>
                  <a:srgbClr val="6EB9FC"/>
                </a:solidFill>
                <a:latin typeface="Lora"/>
                <a:ea typeface="Lora"/>
                <a:cs typeface="Lora"/>
                <a:sym typeface="Lora"/>
              </a:rPr>
              <a:t>6 July 2025</a:t>
            </a:r>
            <a:endParaRPr b="0" i="0" sz="2400" u="none" cap="none" strike="noStrike">
              <a:solidFill>
                <a:srgbClr val="6EB9FC"/>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pic>
        <p:nvPicPr>
          <p:cNvPr descr="preencoded.png" id="36" name="Google Shape;36;p20"/>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7" name="Google Shape;37;p20"/>
          <p:cNvSpPr/>
          <p:nvPr/>
        </p:nvSpPr>
        <p:spPr>
          <a:xfrm>
            <a:off x="6434350" y="868793"/>
            <a:ext cx="7733824"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Welcome to this session!</a:t>
            </a:r>
            <a:endParaRPr b="0" i="0" sz="4400" u="none" cap="none" strike="noStrike">
              <a:solidFill>
                <a:srgbClr val="6EB9FC"/>
              </a:solidFill>
              <a:latin typeface="Lora"/>
              <a:ea typeface="Lora"/>
              <a:cs typeface="Lora"/>
              <a:sym typeface="Lora"/>
            </a:endParaRPr>
          </a:p>
        </p:txBody>
      </p:sp>
      <p:sp>
        <p:nvSpPr>
          <p:cNvPr id="38" name="Google Shape;38;p20"/>
          <p:cNvSpPr txBox="1"/>
          <p:nvPr/>
        </p:nvSpPr>
        <p:spPr>
          <a:xfrm>
            <a:off x="6434350" y="2053703"/>
            <a:ext cx="7317600" cy="452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D6E5EF"/>
                </a:solidFill>
                <a:latin typeface="Lora"/>
                <a:ea typeface="Lora"/>
                <a:cs typeface="Lora"/>
                <a:sym typeface="Lora"/>
              </a:rPr>
              <a:t>Today, you’ll work as a team to create reinforce a team culture that understands and respects the varied backgrounds each of you bring to the room. </a:t>
            </a:r>
            <a:endParaRPr/>
          </a:p>
          <a:p>
            <a:pPr indent="0" lvl="0" marL="0" marR="0" rtl="0" algn="l">
              <a:lnSpc>
                <a:spcPct val="100000"/>
              </a:lnSpc>
              <a:spcBef>
                <a:spcPts val="0"/>
              </a:spcBef>
              <a:spcAft>
                <a:spcPts val="0"/>
              </a:spcAft>
              <a:buNone/>
            </a:pPr>
            <a:r>
              <a:t/>
            </a:r>
            <a:endParaRPr b="0" i="0" sz="2400" u="none" cap="none" strike="noStrike">
              <a:solidFill>
                <a:srgbClr val="D6E5EF"/>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D6E5EF"/>
                </a:solidFill>
                <a:latin typeface="Lora"/>
                <a:ea typeface="Lora"/>
                <a:cs typeface="Lora"/>
                <a:sym typeface="Lora"/>
              </a:rPr>
              <a:t>Working together as a group, you will learn more about your </a:t>
            </a:r>
            <a:r>
              <a:rPr lang="en-US" sz="2400">
                <a:solidFill>
                  <a:srgbClr val="D6E5EF"/>
                </a:solidFill>
                <a:latin typeface="Lora"/>
                <a:ea typeface="Lora"/>
                <a:cs typeface="Lora"/>
                <a:sym typeface="Lora"/>
              </a:rPr>
              <a:t>teammates</a:t>
            </a:r>
            <a:r>
              <a:rPr b="0" i="0" lang="en-US" sz="2400" u="none" cap="none" strike="noStrike">
                <a:solidFill>
                  <a:srgbClr val="D6E5EF"/>
                </a:solidFill>
                <a:latin typeface="Lora"/>
                <a:ea typeface="Lora"/>
                <a:cs typeface="Lora"/>
                <a:sym typeface="Lora"/>
              </a:rPr>
              <a:t>’ communication styles and expectations, decide what communication patterns you agree to as a group, and commit to upholding a communication plan that is respectful to everyone’s expectations.</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pic>
        <p:nvPicPr>
          <p:cNvPr descr="preencoded.png" id="44" name="Google Shape;44;p43"/>
          <p:cNvPicPr preferRelativeResize="0"/>
          <p:nvPr/>
        </p:nvPicPr>
        <p:blipFill rotWithShape="1">
          <a:blip r:embed="rId3">
            <a:alphaModFix/>
          </a:blip>
          <a:srcRect b="0" l="0" r="0" t="0"/>
          <a:stretch/>
        </p:blipFill>
        <p:spPr>
          <a:xfrm>
            <a:off x="0" y="0"/>
            <a:ext cx="14630400" cy="2575798"/>
          </a:xfrm>
          <a:prstGeom prst="rect">
            <a:avLst/>
          </a:prstGeom>
          <a:noFill/>
          <a:ln>
            <a:noFill/>
          </a:ln>
        </p:spPr>
      </p:pic>
      <p:sp>
        <p:nvSpPr>
          <p:cNvPr id="45" name="Google Shape;45;p43"/>
          <p:cNvSpPr/>
          <p:nvPr/>
        </p:nvSpPr>
        <p:spPr>
          <a:xfrm>
            <a:off x="721162" y="3142417"/>
            <a:ext cx="9195625" cy="6060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3800"/>
              <a:buFont typeface="Lora"/>
              <a:buNone/>
            </a:pPr>
            <a:r>
              <a:rPr b="0" i="0" lang="en-US" sz="4400" u="none" cap="none" strike="noStrike">
                <a:solidFill>
                  <a:srgbClr val="6EB9FC"/>
                </a:solidFill>
                <a:latin typeface="Lora"/>
                <a:ea typeface="Lora"/>
                <a:cs typeface="Lora"/>
                <a:sym typeface="Lora"/>
              </a:rPr>
              <a:t>Part 1</a:t>
            </a:r>
            <a:endParaRPr b="0" i="0" sz="4400" u="none" cap="none" strike="noStrike">
              <a:solidFill>
                <a:srgbClr val="6EB9FC"/>
              </a:solidFill>
              <a:latin typeface="Lora"/>
              <a:ea typeface="Lora"/>
              <a:cs typeface="Lora"/>
              <a:sym typeface="Lora"/>
            </a:endParaRPr>
          </a:p>
        </p:txBody>
      </p:sp>
      <p:sp>
        <p:nvSpPr>
          <p:cNvPr id="46" name="Google Shape;46;p43"/>
          <p:cNvSpPr/>
          <p:nvPr/>
        </p:nvSpPr>
        <p:spPr>
          <a:xfrm>
            <a:off x="1111624" y="4264996"/>
            <a:ext cx="6024281" cy="593875"/>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None/>
            </a:pPr>
            <a:r>
              <a:rPr b="0" i="0" lang="en-US" sz="2000" u="none" cap="none" strike="noStrike">
                <a:solidFill>
                  <a:srgbClr val="D6E5EF"/>
                </a:solidFill>
                <a:latin typeface="Lora"/>
                <a:ea typeface="Lora"/>
                <a:cs typeface="Lora"/>
                <a:sym typeface="Lora"/>
              </a:rPr>
              <a:t>Where Are You Coming From?</a:t>
            </a:r>
            <a:endParaRPr b="0" i="0" sz="2000" u="none" cap="none" strike="noStrike">
              <a:solidFill>
                <a:srgbClr val="D6E5EF"/>
              </a:solidFill>
              <a:latin typeface="Lora"/>
              <a:ea typeface="Lora"/>
              <a:cs typeface="Lora"/>
              <a:sym typeface="Lora"/>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
        <p:nvSpPr>
          <p:cNvPr id="47" name="Google Shape;47;p43"/>
          <p:cNvSpPr/>
          <p:nvPr/>
        </p:nvSpPr>
        <p:spPr>
          <a:xfrm>
            <a:off x="8345448" y="5720358"/>
            <a:ext cx="5563791" cy="65936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6E5EF"/>
              </a:buClr>
              <a:buSzPts val="175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44"/>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Our Unique Cultures</a:t>
            </a:r>
            <a:endParaRPr b="0" i="0" sz="4550" u="none" cap="none" strike="noStrike">
              <a:solidFill>
                <a:srgbClr val="6EB9FC"/>
              </a:solidFill>
              <a:latin typeface="Arial"/>
              <a:ea typeface="Arial"/>
              <a:cs typeface="Arial"/>
              <a:sym typeface="Arial"/>
            </a:endParaRPr>
          </a:p>
        </p:txBody>
      </p:sp>
      <p:pic>
        <p:nvPicPr>
          <p:cNvPr id="54" name="Google Shape;54;p44"/>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55" name="Google Shape;55;p44"/>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What are the expectations for a professional tone in your culture?</a:t>
            </a:r>
            <a:endParaRPr b="0" i="0" sz="3200" u="none" cap="none" strike="noStrike">
              <a:solidFill>
                <a:srgbClr val="D6E5EF"/>
              </a:solidFill>
              <a:latin typeface="Lora"/>
              <a:ea typeface="Lora"/>
              <a:cs typeface="Lora"/>
              <a:sym typeface="Lora"/>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45"/>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Our Unique Cultures</a:t>
            </a:r>
            <a:endParaRPr b="0" i="0" sz="4550" u="none" cap="none" strike="noStrike">
              <a:solidFill>
                <a:srgbClr val="6EB9FC"/>
              </a:solidFill>
              <a:latin typeface="Arial"/>
              <a:ea typeface="Arial"/>
              <a:cs typeface="Arial"/>
              <a:sym typeface="Arial"/>
            </a:endParaRPr>
          </a:p>
        </p:txBody>
      </p:sp>
      <p:pic>
        <p:nvPicPr>
          <p:cNvPr id="62" name="Google Shape;62;p45"/>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63" name="Google Shape;63;p45"/>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In your experience or culture, how is disagreement usually expressed respectfully?</a:t>
            </a:r>
            <a:endParaRPr b="0" i="0" sz="3200" u="none" cap="none" strike="noStrike">
              <a:solidFill>
                <a:srgbClr val="D6E5EF"/>
              </a:solidFill>
              <a:latin typeface="Lora"/>
              <a:ea typeface="Lora"/>
              <a:cs typeface="Lora"/>
              <a:sym typeface="Lora"/>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46"/>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Our Unique Cultures</a:t>
            </a:r>
            <a:endParaRPr b="0" i="0" sz="4550" u="none" cap="none" strike="noStrike">
              <a:solidFill>
                <a:srgbClr val="6EB9FC"/>
              </a:solidFill>
              <a:latin typeface="Arial"/>
              <a:ea typeface="Arial"/>
              <a:cs typeface="Arial"/>
              <a:sym typeface="Arial"/>
            </a:endParaRPr>
          </a:p>
        </p:txBody>
      </p:sp>
      <p:pic>
        <p:nvPicPr>
          <p:cNvPr id="70" name="Google Shape;70;p46"/>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71" name="Google Shape;71;p46"/>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How do you usually show or interpret approval, excitement, or frustration?</a:t>
            </a:r>
            <a:endParaRPr b="0" i="0" sz="3200" u="none" cap="none" strike="noStrike">
              <a:solidFill>
                <a:srgbClr val="D6E5EF"/>
              </a:solidFill>
              <a:latin typeface="Lora"/>
              <a:ea typeface="Lora"/>
              <a:cs typeface="Lora"/>
              <a:sym typeface="Lora"/>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7"/>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Our Unique Cultures</a:t>
            </a:r>
            <a:endParaRPr b="0" i="0" sz="4550" u="none" cap="none" strike="noStrike">
              <a:solidFill>
                <a:srgbClr val="6EB9FC"/>
              </a:solidFill>
              <a:latin typeface="Arial"/>
              <a:ea typeface="Arial"/>
              <a:cs typeface="Arial"/>
              <a:sym typeface="Arial"/>
            </a:endParaRPr>
          </a:p>
        </p:txBody>
      </p:sp>
      <p:pic>
        <p:nvPicPr>
          <p:cNvPr id="78" name="Google Shape;78;p47"/>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79" name="Google Shape;79;p47"/>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How do you typically experience hearing a ‘no?’ How do you respond to a ‘no?’</a:t>
            </a:r>
            <a:endParaRPr b="0" i="0" sz="3200" u="none" cap="none" strike="noStrike">
              <a:solidFill>
                <a:srgbClr val="D6E5EF"/>
              </a:solidFill>
              <a:latin typeface="Lora"/>
              <a:ea typeface="Lora"/>
              <a:cs typeface="Lora"/>
              <a:sym typeface="Lora"/>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8"/>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Our Unique Cultures</a:t>
            </a:r>
            <a:endParaRPr b="0" i="0" sz="4550" u="none" cap="none" strike="noStrike">
              <a:solidFill>
                <a:srgbClr val="6EB9FC"/>
              </a:solidFill>
              <a:latin typeface="Arial"/>
              <a:ea typeface="Arial"/>
              <a:cs typeface="Arial"/>
              <a:sym typeface="Arial"/>
            </a:endParaRPr>
          </a:p>
        </p:txBody>
      </p:sp>
      <p:pic>
        <p:nvPicPr>
          <p:cNvPr id="86" name="Google Shape;86;p48"/>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87" name="Google Shape;87;p48"/>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How do you experience being interrupted?</a:t>
            </a:r>
            <a:endParaRPr b="0" i="0" sz="3200" u="none" cap="none" strike="noStrike">
              <a:solidFill>
                <a:srgbClr val="D6E5EF"/>
              </a:solidFill>
              <a:latin typeface="Lora"/>
              <a:ea typeface="Lora"/>
              <a:cs typeface="Lora"/>
              <a:sym typeface="Lora"/>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9"/>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Working as a Team</a:t>
            </a:r>
            <a:endParaRPr b="0" i="0" sz="4550" u="none" cap="none" strike="noStrike">
              <a:solidFill>
                <a:srgbClr val="6EB9FC"/>
              </a:solidFill>
              <a:latin typeface="Arial"/>
              <a:ea typeface="Arial"/>
              <a:cs typeface="Arial"/>
              <a:sym typeface="Arial"/>
            </a:endParaRPr>
          </a:p>
        </p:txBody>
      </p:sp>
      <p:pic>
        <p:nvPicPr>
          <p:cNvPr id="94" name="Google Shape;94;p49"/>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95" name="Google Shape;95;p49"/>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Do you prefer direct or indirect communication when giving or receiving feedback?</a:t>
            </a:r>
            <a:endParaRPr b="0" i="0" sz="3200" u="none" cap="none" strike="noStrike">
              <a:solidFill>
                <a:srgbClr val="D6E5EF"/>
              </a:solidFill>
              <a:latin typeface="Lora"/>
              <a:ea typeface="Lora"/>
              <a:cs typeface="Lora"/>
              <a:sym typeface="Lora"/>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50"/>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Working as a Team</a:t>
            </a:r>
            <a:endParaRPr b="0" i="0" sz="4550" u="none" cap="none" strike="noStrike">
              <a:solidFill>
                <a:srgbClr val="6EB9FC"/>
              </a:solidFill>
              <a:latin typeface="Arial"/>
              <a:ea typeface="Arial"/>
              <a:cs typeface="Arial"/>
              <a:sym typeface="Arial"/>
            </a:endParaRPr>
          </a:p>
        </p:txBody>
      </p:sp>
      <p:pic>
        <p:nvPicPr>
          <p:cNvPr id="102" name="Google Shape;102;p50"/>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103" name="Google Shape;103;p50"/>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When do you prefer to communicate face-to-face? Via email?</a:t>
            </a:r>
            <a:endParaRPr/>
          </a:p>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Via Slack/Teams/Messenger?</a:t>
            </a:r>
            <a:endParaRPr b="0" i="0" sz="3200" u="none" cap="none" strike="noStrike">
              <a:solidFill>
                <a:srgbClr val="D6E5EF"/>
              </a:solidFill>
              <a:latin typeface="Lora"/>
              <a:ea typeface="Lora"/>
              <a:cs typeface="Lora"/>
              <a:sym typeface="Lora"/>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1"/>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Working as a Team</a:t>
            </a:r>
            <a:endParaRPr b="0" i="0" sz="4550" u="none" cap="none" strike="noStrike">
              <a:solidFill>
                <a:srgbClr val="6EB9FC"/>
              </a:solidFill>
              <a:latin typeface="Arial"/>
              <a:ea typeface="Arial"/>
              <a:cs typeface="Arial"/>
              <a:sym typeface="Arial"/>
            </a:endParaRPr>
          </a:p>
        </p:txBody>
      </p:sp>
      <p:pic>
        <p:nvPicPr>
          <p:cNvPr id="110" name="Google Shape;110;p51"/>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111" name="Google Shape;111;p51"/>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How do you like to prepare for meetings or decisions? (I.e. Do you need time to think? Do you need to discuss with others?)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2"/>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Working as a Team</a:t>
            </a:r>
            <a:endParaRPr b="0" i="0" sz="4550" u="none" cap="none" strike="noStrike">
              <a:solidFill>
                <a:srgbClr val="6EB9FC"/>
              </a:solidFill>
              <a:latin typeface="Arial"/>
              <a:ea typeface="Arial"/>
              <a:cs typeface="Arial"/>
              <a:sym typeface="Arial"/>
            </a:endParaRPr>
          </a:p>
        </p:txBody>
      </p:sp>
      <p:pic>
        <p:nvPicPr>
          <p:cNvPr id="118" name="Google Shape;118;p52"/>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119" name="Google Shape;119;p52"/>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What helps you feel comfortable speaking up in a group?</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3"/>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Working as a Team</a:t>
            </a:r>
            <a:endParaRPr b="0" i="0" sz="4550" u="none" cap="none" strike="noStrike">
              <a:solidFill>
                <a:srgbClr val="6EB9FC"/>
              </a:solidFill>
              <a:latin typeface="Arial"/>
              <a:ea typeface="Arial"/>
              <a:cs typeface="Arial"/>
              <a:sym typeface="Arial"/>
            </a:endParaRPr>
          </a:p>
        </p:txBody>
      </p:sp>
      <p:pic>
        <p:nvPicPr>
          <p:cNvPr id="126" name="Google Shape;126;p53"/>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127" name="Google Shape;127;p53"/>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What are some aspects of our current communication culture that are working really well?</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4"/>
          <p:cNvSpPr/>
          <p:nvPr/>
        </p:nvSpPr>
        <p:spPr>
          <a:xfrm>
            <a:off x="968693" y="2548031"/>
            <a:ext cx="6762750" cy="726043"/>
          </a:xfrm>
          <a:prstGeom prst="rect">
            <a:avLst/>
          </a:prstGeom>
          <a:noFill/>
          <a:ln>
            <a:noFill/>
          </a:ln>
        </p:spPr>
        <p:txBody>
          <a:bodyPr anchorCtr="0" anchor="t" bIns="0" lIns="0" spcFirstLastPara="1" rIns="0" wrap="square" tIns="0">
            <a:noAutofit/>
          </a:bodyPr>
          <a:lstStyle/>
          <a:p>
            <a:pPr indent="0" lvl="0" marL="0" marR="0" rtl="0" algn="l">
              <a:lnSpc>
                <a:spcPct val="125274"/>
              </a:lnSpc>
              <a:spcBef>
                <a:spcPts val="0"/>
              </a:spcBef>
              <a:spcAft>
                <a:spcPts val="0"/>
              </a:spcAft>
              <a:buClr>
                <a:srgbClr val="000000"/>
              </a:buClr>
              <a:buSzPts val="4550"/>
              <a:buFont typeface="Arial"/>
              <a:buNone/>
            </a:pPr>
            <a:r>
              <a:rPr b="0" i="0" lang="en-US" sz="4550" u="none" cap="none" strike="noStrike">
                <a:solidFill>
                  <a:srgbClr val="6EB9FC"/>
                </a:solidFill>
                <a:latin typeface="Lora"/>
                <a:ea typeface="Lora"/>
                <a:cs typeface="Lora"/>
                <a:sym typeface="Lora"/>
              </a:rPr>
              <a:t>Working as a Team</a:t>
            </a:r>
            <a:endParaRPr b="0" i="0" sz="4550" u="none" cap="none" strike="noStrike">
              <a:solidFill>
                <a:srgbClr val="6EB9FC"/>
              </a:solidFill>
              <a:latin typeface="Arial"/>
              <a:ea typeface="Arial"/>
              <a:cs typeface="Arial"/>
              <a:sym typeface="Arial"/>
            </a:endParaRPr>
          </a:p>
        </p:txBody>
      </p:sp>
      <p:pic>
        <p:nvPicPr>
          <p:cNvPr id="134" name="Google Shape;134;p54"/>
          <p:cNvPicPr preferRelativeResize="0"/>
          <p:nvPr/>
        </p:nvPicPr>
        <p:blipFill rotWithShape="1">
          <a:blip r:embed="rId3">
            <a:alphaModFix/>
          </a:blip>
          <a:srcRect b="45498" l="0" r="0" t="15135"/>
          <a:stretch/>
        </p:blipFill>
        <p:spPr>
          <a:xfrm>
            <a:off x="1" y="-3740728"/>
            <a:ext cx="14630400" cy="5759533"/>
          </a:xfrm>
          <a:prstGeom prst="rect">
            <a:avLst/>
          </a:prstGeom>
          <a:noFill/>
          <a:ln>
            <a:noFill/>
          </a:ln>
        </p:spPr>
      </p:pic>
      <p:sp>
        <p:nvSpPr>
          <p:cNvPr id="135" name="Google Shape;135;p54"/>
          <p:cNvSpPr/>
          <p:nvPr/>
        </p:nvSpPr>
        <p:spPr>
          <a:xfrm>
            <a:off x="2366683" y="4121562"/>
            <a:ext cx="9897035" cy="593875"/>
          </a:xfrm>
          <a:prstGeom prst="rect">
            <a:avLst/>
          </a:prstGeom>
          <a:noFill/>
          <a:ln>
            <a:noFill/>
          </a:ln>
        </p:spPr>
        <p:txBody>
          <a:bodyPr anchorCtr="0" anchor="t" bIns="0" lIns="0" spcFirstLastPara="1" rIns="0" wrap="square" tIns="0">
            <a:noAutofit/>
          </a:bodyPr>
          <a:lstStyle/>
          <a:p>
            <a:pPr indent="0" lvl="0" marL="0" marR="0" rtl="0" algn="ctr">
              <a:lnSpc>
                <a:spcPct val="126829"/>
              </a:lnSpc>
              <a:spcBef>
                <a:spcPts val="0"/>
              </a:spcBef>
              <a:spcAft>
                <a:spcPts val="0"/>
              </a:spcAft>
              <a:buNone/>
            </a:pPr>
            <a:r>
              <a:rPr b="0" i="0" lang="en-US" sz="3200" u="none" cap="none" strike="noStrike">
                <a:solidFill>
                  <a:srgbClr val="D6E5EF"/>
                </a:solidFill>
                <a:latin typeface="Lora"/>
                <a:ea typeface="Lora"/>
                <a:cs typeface="Lora"/>
                <a:sym typeface="Lora"/>
              </a:rPr>
              <a:t>What are some aspects of our current communication culture that you are struggling with?</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preencoded.png" id="141" name="Google Shape;141;p55"/>
          <p:cNvPicPr preferRelativeResize="0"/>
          <p:nvPr/>
        </p:nvPicPr>
        <p:blipFill rotWithShape="1">
          <a:blip r:embed="rId3">
            <a:alphaModFix/>
          </a:blip>
          <a:srcRect b="0" l="0" r="0" t="0"/>
          <a:stretch/>
        </p:blipFill>
        <p:spPr>
          <a:xfrm>
            <a:off x="0" y="0"/>
            <a:ext cx="14630400" cy="2575798"/>
          </a:xfrm>
          <a:prstGeom prst="rect">
            <a:avLst/>
          </a:prstGeom>
          <a:noFill/>
          <a:ln>
            <a:noFill/>
          </a:ln>
        </p:spPr>
      </p:pic>
      <p:sp>
        <p:nvSpPr>
          <p:cNvPr id="142" name="Google Shape;142;p55"/>
          <p:cNvSpPr/>
          <p:nvPr/>
        </p:nvSpPr>
        <p:spPr>
          <a:xfrm>
            <a:off x="721162" y="3142417"/>
            <a:ext cx="9195625" cy="6060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3800"/>
              <a:buFont typeface="Lora"/>
              <a:buNone/>
            </a:pPr>
            <a:r>
              <a:rPr b="0" i="0" lang="en-US" sz="4400" u="none" cap="none" strike="noStrike">
                <a:solidFill>
                  <a:srgbClr val="6EB9FC"/>
                </a:solidFill>
                <a:latin typeface="Lora"/>
                <a:ea typeface="Lora"/>
                <a:cs typeface="Lora"/>
                <a:sym typeface="Lora"/>
              </a:rPr>
              <a:t>Part 2</a:t>
            </a:r>
            <a:endParaRPr b="0" i="0" sz="4400" u="none" cap="none" strike="noStrike">
              <a:solidFill>
                <a:srgbClr val="6EB9FC"/>
              </a:solidFill>
              <a:latin typeface="Lora"/>
              <a:ea typeface="Lora"/>
              <a:cs typeface="Lora"/>
              <a:sym typeface="Lora"/>
            </a:endParaRPr>
          </a:p>
        </p:txBody>
      </p:sp>
      <p:sp>
        <p:nvSpPr>
          <p:cNvPr id="143" name="Google Shape;143;p55"/>
          <p:cNvSpPr/>
          <p:nvPr/>
        </p:nvSpPr>
        <p:spPr>
          <a:xfrm>
            <a:off x="1111624" y="4264996"/>
            <a:ext cx="6024281" cy="593875"/>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None/>
            </a:pPr>
            <a:r>
              <a:rPr b="0" i="0" lang="en-US" sz="2000" u="none" cap="none" strike="noStrike">
                <a:solidFill>
                  <a:srgbClr val="D6E5EF"/>
                </a:solidFill>
                <a:latin typeface="Lora"/>
                <a:ea typeface="Lora"/>
                <a:cs typeface="Lora"/>
                <a:sym typeface="Lora"/>
              </a:rPr>
              <a:t>Agreeing on a communication culture</a:t>
            </a:r>
            <a:endParaRPr b="0" i="0" sz="2000" u="none" cap="none" strike="noStrike">
              <a:solidFill>
                <a:srgbClr val="D6E5EF"/>
              </a:solidFill>
              <a:latin typeface="Lora"/>
              <a:ea typeface="Lora"/>
              <a:cs typeface="Lora"/>
              <a:sym typeface="Lora"/>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
        <p:nvSpPr>
          <p:cNvPr id="144" name="Google Shape;144;p55"/>
          <p:cNvSpPr/>
          <p:nvPr/>
        </p:nvSpPr>
        <p:spPr>
          <a:xfrm>
            <a:off x="8345448" y="5720358"/>
            <a:ext cx="5563791" cy="65936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6E5EF"/>
              </a:buClr>
              <a:buSzPts val="175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descr="preencoded.png" id="150" name="Google Shape;150;p56"/>
          <p:cNvPicPr preferRelativeResize="0"/>
          <p:nvPr/>
        </p:nvPicPr>
        <p:blipFill rotWithShape="1">
          <a:blip r:embed="rId3">
            <a:alphaModFix/>
          </a:blip>
          <a:srcRect b="0" l="0" r="0" t="0"/>
          <a:stretch/>
        </p:blipFill>
        <p:spPr>
          <a:xfrm>
            <a:off x="0" y="0"/>
            <a:ext cx="14630400" cy="2575798"/>
          </a:xfrm>
          <a:prstGeom prst="rect">
            <a:avLst/>
          </a:prstGeom>
          <a:noFill/>
          <a:ln>
            <a:noFill/>
          </a:ln>
        </p:spPr>
      </p:pic>
      <p:sp>
        <p:nvSpPr>
          <p:cNvPr id="151" name="Google Shape;151;p56"/>
          <p:cNvSpPr/>
          <p:nvPr/>
        </p:nvSpPr>
        <p:spPr>
          <a:xfrm>
            <a:off x="721162" y="3142417"/>
            <a:ext cx="9195625" cy="6060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3800"/>
              <a:buFont typeface="Lora"/>
              <a:buNone/>
            </a:pPr>
            <a:r>
              <a:rPr b="0" i="0" lang="en-US" sz="4400" u="none" cap="none" strike="noStrike">
                <a:solidFill>
                  <a:srgbClr val="6EB9FC"/>
                </a:solidFill>
                <a:latin typeface="Lora"/>
                <a:ea typeface="Lora"/>
                <a:cs typeface="Lora"/>
                <a:sym typeface="Lora"/>
              </a:rPr>
              <a:t>Team Communication Agreement</a:t>
            </a:r>
            <a:endParaRPr b="0" i="0" sz="4400" u="none" cap="none" strike="noStrike">
              <a:solidFill>
                <a:srgbClr val="6EB9FC"/>
              </a:solidFill>
              <a:latin typeface="Lora"/>
              <a:ea typeface="Lora"/>
              <a:cs typeface="Lora"/>
              <a:sym typeface="Lora"/>
            </a:endParaRPr>
          </a:p>
        </p:txBody>
      </p:sp>
      <p:sp>
        <p:nvSpPr>
          <p:cNvPr id="152" name="Google Shape;152;p56"/>
          <p:cNvSpPr/>
          <p:nvPr/>
        </p:nvSpPr>
        <p:spPr>
          <a:xfrm>
            <a:off x="8345448" y="5720358"/>
            <a:ext cx="5563791" cy="65936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6E5EF"/>
              </a:buClr>
              <a:buSzPts val="1750"/>
              <a:buFont typeface="Arial"/>
              <a:buNone/>
            </a:pPr>
            <a:r>
              <a:t/>
            </a:r>
            <a:endParaRPr b="0" i="0" sz="1600" u="none" cap="none" strike="noStrike">
              <a:solidFill>
                <a:srgbClr val="000000"/>
              </a:solidFill>
              <a:latin typeface="Arial"/>
              <a:ea typeface="Arial"/>
              <a:cs typeface="Arial"/>
              <a:sym typeface="Arial"/>
            </a:endParaRPr>
          </a:p>
        </p:txBody>
      </p:sp>
      <p:sp>
        <p:nvSpPr>
          <p:cNvPr id="153" name="Google Shape;153;p56"/>
          <p:cNvSpPr/>
          <p:nvPr/>
        </p:nvSpPr>
        <p:spPr>
          <a:xfrm>
            <a:off x="1111625" y="4264996"/>
            <a:ext cx="7548282" cy="593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rgbClr val="D6E5EF"/>
                </a:solidFill>
                <a:latin typeface="Lora"/>
                <a:ea typeface="Lora"/>
                <a:cs typeface="Lora"/>
                <a:sym typeface="Lora"/>
              </a:rPr>
              <a:t>Based on what you’ve shared as individuals, </a:t>
            </a:r>
            <a:r>
              <a:rPr lang="en-US" sz="2000">
                <a:solidFill>
                  <a:srgbClr val="D6E5EF"/>
                </a:solidFill>
                <a:latin typeface="Lora"/>
                <a:ea typeface="Lora"/>
                <a:cs typeface="Lora"/>
                <a:sym typeface="Lora"/>
              </a:rPr>
              <a:t>your job is to collectively</a:t>
            </a:r>
            <a:r>
              <a:rPr b="0" i="0" lang="en-US" sz="2000" u="none" cap="none" strike="noStrike">
                <a:solidFill>
                  <a:srgbClr val="D6E5EF"/>
                </a:solidFill>
                <a:latin typeface="Lora"/>
                <a:ea typeface="Lora"/>
                <a:cs typeface="Lora"/>
                <a:sym typeface="Lora"/>
              </a:rPr>
              <a:t> shap</a:t>
            </a:r>
            <a:r>
              <a:rPr lang="en-US" sz="2000">
                <a:solidFill>
                  <a:srgbClr val="D6E5EF"/>
                </a:solidFill>
                <a:latin typeface="Lora"/>
                <a:ea typeface="Lora"/>
                <a:cs typeface="Lora"/>
                <a:sym typeface="Lora"/>
              </a:rPr>
              <a:t>e</a:t>
            </a:r>
            <a:r>
              <a:rPr b="0" i="0" lang="en-US" sz="2000" u="none" cap="none" strike="noStrike">
                <a:solidFill>
                  <a:srgbClr val="D6E5EF"/>
                </a:solidFill>
                <a:latin typeface="Lora"/>
                <a:ea typeface="Lora"/>
                <a:cs typeface="Lora"/>
                <a:sym typeface="Lora"/>
              </a:rPr>
              <a:t> a Team Communication Agreement.</a:t>
            </a:r>
            <a:endParaRPr/>
          </a:p>
          <a:p>
            <a:pPr indent="0" lvl="0" marL="0" marR="0" rtl="0" algn="l">
              <a:lnSpc>
                <a:spcPct val="100000"/>
              </a:lnSpc>
              <a:spcBef>
                <a:spcPts val="0"/>
              </a:spcBef>
              <a:spcAft>
                <a:spcPts val="0"/>
              </a:spcAft>
              <a:buNone/>
            </a:pPr>
            <a:r>
              <a:t/>
            </a:r>
            <a:endParaRPr b="0" i="0" sz="2000" u="none" cap="none" strike="noStrike">
              <a:solidFill>
                <a:srgbClr val="D6E5EF"/>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D6E5EF"/>
                </a:solidFill>
                <a:latin typeface="Lora"/>
                <a:ea typeface="Lora"/>
                <a:cs typeface="Lora"/>
                <a:sym typeface="Lora"/>
              </a:rPr>
              <a:t>This is a set of shared practices that reflect your collective values and preferences as a team. It should be realistic, flexible, and inclusive.</a:t>
            </a:r>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preencoded.png" id="159" name="Google Shape;159;p57"/>
          <p:cNvPicPr preferRelativeResize="0"/>
          <p:nvPr/>
        </p:nvPicPr>
        <p:blipFill rotWithShape="1">
          <a:blip r:embed="rId3">
            <a:alphaModFix/>
          </a:blip>
          <a:srcRect b="0" l="0" r="0" t="0"/>
          <a:stretch/>
        </p:blipFill>
        <p:spPr>
          <a:xfrm>
            <a:off x="0" y="0"/>
            <a:ext cx="14630400" cy="2575798"/>
          </a:xfrm>
          <a:prstGeom prst="rect">
            <a:avLst/>
          </a:prstGeom>
          <a:noFill/>
          <a:ln>
            <a:noFill/>
          </a:ln>
        </p:spPr>
      </p:pic>
      <p:sp>
        <p:nvSpPr>
          <p:cNvPr id="160" name="Google Shape;160;p57"/>
          <p:cNvSpPr/>
          <p:nvPr/>
        </p:nvSpPr>
        <p:spPr>
          <a:xfrm>
            <a:off x="721162" y="3142417"/>
            <a:ext cx="9195625" cy="6060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3800"/>
              <a:buFont typeface="Lora"/>
              <a:buNone/>
            </a:pPr>
            <a:r>
              <a:rPr b="0" i="0" lang="en-US" sz="4400" u="none" cap="none" strike="noStrike">
                <a:solidFill>
                  <a:srgbClr val="6EB9FC"/>
                </a:solidFill>
                <a:latin typeface="Lora"/>
                <a:ea typeface="Lora"/>
                <a:cs typeface="Lora"/>
                <a:sym typeface="Lora"/>
              </a:rPr>
              <a:t>Team Communication Agreement</a:t>
            </a:r>
            <a:endParaRPr b="0" i="0" sz="4400" u="none" cap="none" strike="noStrike">
              <a:solidFill>
                <a:srgbClr val="6EB9FC"/>
              </a:solidFill>
              <a:latin typeface="Lora"/>
              <a:ea typeface="Lora"/>
              <a:cs typeface="Lora"/>
              <a:sym typeface="Lora"/>
            </a:endParaRPr>
          </a:p>
        </p:txBody>
      </p:sp>
      <p:sp>
        <p:nvSpPr>
          <p:cNvPr id="161" name="Google Shape;161;p57"/>
          <p:cNvSpPr/>
          <p:nvPr/>
        </p:nvSpPr>
        <p:spPr>
          <a:xfrm>
            <a:off x="8345448" y="5720358"/>
            <a:ext cx="5563791" cy="65936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6E5EF"/>
              </a:buClr>
              <a:buSzPts val="1750"/>
              <a:buFont typeface="Arial"/>
              <a:buNone/>
            </a:pPr>
            <a:r>
              <a:t/>
            </a:r>
            <a:endParaRPr b="0" i="0" sz="1600" u="none" cap="none" strike="noStrike">
              <a:solidFill>
                <a:srgbClr val="000000"/>
              </a:solidFill>
              <a:latin typeface="Arial"/>
              <a:ea typeface="Arial"/>
              <a:cs typeface="Arial"/>
              <a:sym typeface="Arial"/>
            </a:endParaRPr>
          </a:p>
        </p:txBody>
      </p:sp>
      <p:sp>
        <p:nvSpPr>
          <p:cNvPr id="162" name="Google Shape;162;p57"/>
          <p:cNvSpPr/>
          <p:nvPr/>
        </p:nvSpPr>
        <p:spPr>
          <a:xfrm>
            <a:off x="1111624" y="4264996"/>
            <a:ext cx="9448799" cy="593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rgbClr val="D6E5EF"/>
                </a:solidFill>
                <a:latin typeface="Lora"/>
                <a:ea typeface="Lora"/>
                <a:cs typeface="Lora"/>
                <a:sym typeface="Lora"/>
              </a:rPr>
              <a:t>You might choose to include agreements such as:</a:t>
            </a:r>
            <a:endParaRPr/>
          </a:p>
          <a:p>
            <a:pPr indent="0" lvl="0" marL="0" marR="0" rtl="0" algn="l">
              <a:lnSpc>
                <a:spcPct val="100000"/>
              </a:lnSpc>
              <a:spcBef>
                <a:spcPts val="0"/>
              </a:spcBef>
              <a:spcAft>
                <a:spcPts val="0"/>
              </a:spcAft>
              <a:buNone/>
            </a:pPr>
            <a:r>
              <a:t/>
            </a:r>
            <a:endParaRPr b="0" i="0" sz="2000" u="none" cap="none" strike="noStrike">
              <a:solidFill>
                <a:srgbClr val="D6E5EF"/>
              </a:solidFill>
              <a:latin typeface="Lora"/>
              <a:ea typeface="Lora"/>
              <a:cs typeface="Lora"/>
              <a:sym typeface="Lora"/>
            </a:endParaRPr>
          </a:p>
          <a:p>
            <a:pPr indent="-342900" lvl="0" marL="34290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D6E5EF"/>
                </a:solidFill>
                <a:latin typeface="Lora"/>
                <a:ea typeface="Lora"/>
                <a:cs typeface="Lora"/>
                <a:sym typeface="Lora"/>
              </a:rPr>
              <a:t>We’ll give space for each person to finish their thought before responding.</a:t>
            </a:r>
            <a:endParaRPr/>
          </a:p>
          <a:p>
            <a:pPr indent="-342900" lvl="0" marL="34290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D6E5EF"/>
                </a:solidFill>
                <a:latin typeface="Lora"/>
                <a:ea typeface="Lora"/>
                <a:cs typeface="Lora"/>
                <a:sym typeface="Lora"/>
              </a:rPr>
              <a:t>We’ll give constructive feedback privately and in person.</a:t>
            </a:r>
            <a:endParaRPr/>
          </a:p>
          <a:p>
            <a:pPr indent="-342900" lvl="0" marL="34290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D6E5EF"/>
                </a:solidFill>
                <a:latin typeface="Lora"/>
                <a:ea typeface="Lora"/>
                <a:cs typeface="Lora"/>
                <a:sym typeface="Lora"/>
              </a:rPr>
              <a:t>We’ll clarify tone and intent in written messages when needed.</a:t>
            </a:r>
            <a:endParaRPr/>
          </a:p>
          <a:p>
            <a:pPr indent="-342900" lvl="0" marL="34290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D6E5EF"/>
                </a:solidFill>
                <a:latin typeface="Lora"/>
                <a:ea typeface="Lora"/>
                <a:cs typeface="Lora"/>
                <a:sym typeface="Lora"/>
              </a:rPr>
              <a:t>We’ll agree on when email, chat, or meetings are most appropriate.</a:t>
            </a:r>
            <a:endParaRPr/>
          </a:p>
          <a:p>
            <a:pPr indent="-342900" lvl="0" marL="34290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D6E5EF"/>
                </a:solidFill>
                <a:latin typeface="Lora"/>
                <a:ea typeface="Lora"/>
                <a:cs typeface="Lora"/>
                <a:sym typeface="Lora"/>
              </a:rPr>
              <a:t>We’ll ask for clarification on our colleague’s intent when miscommunications arise.</a:t>
            </a:r>
            <a:endParaRPr/>
          </a:p>
          <a:p>
            <a:pPr indent="0" lvl="0" marL="0" marR="0" rtl="0" algn="l">
              <a:lnSpc>
                <a:spcPct val="126829"/>
              </a:lnSpc>
              <a:spcBef>
                <a:spcPts val="0"/>
              </a:spcBef>
              <a:spcAft>
                <a:spcPts val="0"/>
              </a:spcAft>
              <a:buClr>
                <a:srgbClr val="D6E5EF"/>
              </a:buClr>
              <a:buSzPts val="2050"/>
              <a:buFont typeface="Lora"/>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8"/>
          <p:cNvSpPr/>
          <p:nvPr/>
        </p:nvSpPr>
        <p:spPr>
          <a:xfrm>
            <a:off x="7082118" y="2543870"/>
            <a:ext cx="7733824" cy="1184910"/>
          </a:xfrm>
          <a:prstGeom prst="rect">
            <a:avLst/>
          </a:prstGeom>
          <a:noFill/>
          <a:ln>
            <a:noFill/>
          </a:ln>
        </p:spPr>
        <p:txBody>
          <a:bodyPr anchorCtr="0" anchor="t" bIns="0" lIns="0" spcFirstLastPara="1" rIns="0" wrap="square" tIns="0">
            <a:noAutofit/>
          </a:bodyPr>
          <a:lstStyle/>
          <a:p>
            <a:pPr indent="0" lvl="0" marL="0" marR="0" rtl="0" algn="ctr">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Congratulations,</a:t>
            </a:r>
            <a:endParaRPr/>
          </a:p>
          <a:p>
            <a:pPr indent="0" lvl="0" marL="0" marR="0" rtl="0" algn="ctr">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team!</a:t>
            </a:r>
            <a:endParaRPr b="0" i="0" sz="4400" u="none" cap="none" strike="noStrike">
              <a:solidFill>
                <a:srgbClr val="6EB9FC"/>
              </a:solidFill>
              <a:latin typeface="Lora"/>
              <a:ea typeface="Lora"/>
              <a:cs typeface="Lora"/>
              <a:sym typeface="Lora"/>
            </a:endParaRPr>
          </a:p>
        </p:txBody>
      </p:sp>
      <p:sp>
        <p:nvSpPr>
          <p:cNvPr id="169" name="Google Shape;169;p58"/>
          <p:cNvSpPr/>
          <p:nvPr/>
        </p:nvSpPr>
        <p:spPr>
          <a:xfrm>
            <a:off x="-215153" y="161365"/>
            <a:ext cx="7297271" cy="9574306"/>
          </a:xfrm>
          <a:prstGeom prst="roundRect">
            <a:avLst>
              <a:gd fmla="val 16667" name="adj"/>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0" name="Google Shape;170;p58"/>
          <p:cNvSpPr/>
          <p:nvPr/>
        </p:nvSpPr>
        <p:spPr>
          <a:xfrm>
            <a:off x="-457200" y="0"/>
            <a:ext cx="7297271" cy="9574306"/>
          </a:xfrm>
          <a:prstGeom prst="roundRect">
            <a:avLst>
              <a:gd fmla="val 16667" name="adj"/>
            </a:avLst>
          </a:prstGeom>
          <a:solidFill>
            <a:schemeClr val="l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1" name="Google Shape;171;p58"/>
          <p:cNvSpPr txBox="1"/>
          <p:nvPr/>
        </p:nvSpPr>
        <p:spPr>
          <a:xfrm>
            <a:off x="304800" y="842682"/>
            <a:ext cx="172122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Date: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Team:</a:t>
            </a:r>
            <a:endParaRPr/>
          </a:p>
        </p:txBody>
      </p:sp>
      <p:sp>
        <p:nvSpPr>
          <p:cNvPr id="172" name="Google Shape;172;p58"/>
          <p:cNvSpPr txBox="1"/>
          <p:nvPr/>
        </p:nvSpPr>
        <p:spPr>
          <a:xfrm>
            <a:off x="1219200" y="1862553"/>
            <a:ext cx="3926542"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Team Communication Agreement</a:t>
            </a:r>
            <a:endParaRPr/>
          </a:p>
        </p:txBody>
      </p:sp>
      <p:sp>
        <p:nvSpPr>
          <p:cNvPr id="173" name="Google Shape;173;p58"/>
          <p:cNvSpPr txBox="1"/>
          <p:nvPr/>
        </p:nvSpPr>
        <p:spPr>
          <a:xfrm>
            <a:off x="304799" y="2543870"/>
            <a:ext cx="5629835"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We, the members of the [______] team at [</a:t>
            </a:r>
            <a:r>
              <a:rPr b="0" i="0" lang="en-US" sz="1400" u="sng" cap="none" strike="noStrike">
                <a:solidFill>
                  <a:srgbClr val="000000"/>
                </a:solidFill>
                <a:latin typeface="Arial"/>
                <a:ea typeface="Arial"/>
                <a:cs typeface="Arial"/>
                <a:sym typeface="Arial"/>
              </a:rPr>
              <a:t>company</a:t>
            </a:r>
            <a:r>
              <a:rPr b="0" i="0" lang="en-US" sz="1400" u="none" cap="none" strike="noStrike">
                <a:solidFill>
                  <a:srgbClr val="000000"/>
                </a:solidFill>
                <a:latin typeface="Arial"/>
                <a:ea typeface="Arial"/>
                <a:cs typeface="Arial"/>
                <a:sym typeface="Arial"/>
              </a:rPr>
              <a:t>] hereby agree to the following [</a:t>
            </a:r>
            <a:r>
              <a:rPr b="0" i="0" lang="en-US" sz="1400" u="sng" cap="none" strike="noStrike">
                <a:solidFill>
                  <a:srgbClr val="000000"/>
                </a:solidFill>
                <a:latin typeface="Arial"/>
                <a:ea typeface="Arial"/>
                <a:cs typeface="Arial"/>
                <a:sym typeface="Arial"/>
              </a:rPr>
              <a:t>number] </a:t>
            </a:r>
            <a:r>
              <a:rPr b="0" i="0" lang="en-US" sz="1400" u="none" cap="none" strike="noStrike">
                <a:solidFill>
                  <a:srgbClr val="000000"/>
                </a:solidFill>
                <a:latin typeface="Arial"/>
                <a:ea typeface="Arial"/>
                <a:cs typeface="Arial"/>
                <a:sym typeface="Arial"/>
              </a:rPr>
              <a:t>practices to keep our communication clear, accommodating, effective, and kind.</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3.</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By agreeing to these communication practices, we acknowledge that it is our collective responsibility to create understanding and resolve the inevitable miscommunications.</a:t>
            </a:r>
            <a:endParaRPr/>
          </a:p>
        </p:txBody>
      </p:sp>
      <p:sp>
        <p:nvSpPr>
          <p:cNvPr id="174" name="Google Shape;174;p58"/>
          <p:cNvSpPr txBox="1"/>
          <p:nvPr/>
        </p:nvSpPr>
        <p:spPr>
          <a:xfrm>
            <a:off x="304800" y="5542150"/>
            <a:ext cx="17212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Signatures: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2025-04-11T21:57:16Z</dcterms:created>
  <dc:creator>PptxGenJS</dc:creator>
</cp:coreProperties>
</file>